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72" r:id="rId2"/>
    <p:sldId id="275" r:id="rId3"/>
    <p:sldId id="273" r:id="rId4"/>
    <p:sldId id="274" r:id="rId5"/>
    <p:sldId id="310" r:id="rId6"/>
    <p:sldId id="277" r:id="rId7"/>
    <p:sldId id="279" r:id="rId8"/>
    <p:sldId id="282" r:id="rId9"/>
    <p:sldId id="304" r:id="rId10"/>
    <p:sldId id="286" r:id="rId11"/>
    <p:sldId id="287" r:id="rId12"/>
    <p:sldId id="283" r:id="rId13"/>
    <p:sldId id="285" r:id="rId14"/>
    <p:sldId id="305" r:id="rId15"/>
    <p:sldId id="289" r:id="rId16"/>
    <p:sldId id="290" r:id="rId17"/>
    <p:sldId id="307" r:id="rId18"/>
    <p:sldId id="298" r:id="rId19"/>
    <p:sldId id="306" r:id="rId20"/>
    <p:sldId id="292" r:id="rId21"/>
    <p:sldId id="293" r:id="rId22"/>
    <p:sldId id="295" r:id="rId23"/>
    <p:sldId id="296" r:id="rId24"/>
    <p:sldId id="309" r:id="rId25"/>
    <p:sldId id="301" r:id="rId26"/>
    <p:sldId id="302" r:id="rId27"/>
    <p:sldId id="303" r:id="rId28"/>
    <p:sldId id="308" r:id="rId2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530"/>
    <a:srgbClr val="FAF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0445" autoAdjust="0"/>
  </p:normalViewPr>
  <p:slideViewPr>
    <p:cSldViewPr>
      <p:cViewPr varScale="1">
        <p:scale>
          <a:sx n="115" d="100"/>
          <a:sy n="115" d="100"/>
        </p:scale>
        <p:origin x="153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FF152-CFF9-43C9-9D88-2225BF08944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B3E8A-3694-4418-B446-8CF08433E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73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Fuente imagen de arquitectura en </a:t>
            </a:r>
            <a:r>
              <a:rPr lang="es-ES" dirty="0" err="1"/>
              <a:t>medallon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https://www.linkedin.com/pulse/arquitectura-de-medall%C3%B3n-organizaci%C3%B3n-moderna-datos-walter-b151f/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Imagen: </a:t>
            </a:r>
            <a:r>
              <a:rPr lang="es-ES" sz="1200" dirty="0">
                <a:solidFill>
                  <a:srgbClr val="5A5A5A"/>
                </a:solidFill>
                <a:latin typeface="Calibri"/>
              </a:rPr>
              <a:t>Correlación arbolado–temperatura por distrito, 2019-2025, en las dos configuraciones del análisis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 err="1"/>
              <a:t>másdiapositivas</a:t>
            </a:r>
            <a:r>
              <a:rPr lang="es-ES" dirty="0"/>
              <a:t>??? </a:t>
            </a:r>
          </a:p>
          <a:p>
            <a:endParaRPr lang="es-ES" dirty="0"/>
          </a:p>
          <a:p>
            <a:r>
              <a:rPr lang="es-ES" dirty="0" err="1"/>
              <a:t>dendrograma</a:t>
            </a:r>
            <a:r>
              <a:rPr lang="es-ES" dirty="0"/>
              <a:t> de 2021 · diagrama del codo · tabla completa de siluetas por año · las tres capas de gobernanza OECD · los siete principios éticos del RIA · por qué se descartaron Cloud Run Jobs y Cloud </a:t>
            </a:r>
            <a:r>
              <a:rPr lang="es-ES" dirty="0" err="1"/>
              <a:t>Functions</a:t>
            </a:r>
            <a:r>
              <a:rPr lang="es-ES" dirty="0"/>
              <a:t> · tabla de ventanas de contexto de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C239-664E-F5E7-D81D-D0FD270E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5C194-0566-5D62-A2A6-35618B144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E3DC2-15F8-4D50-7E02-01986B018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12F91-13FB-6AA2-D4B0-1511E753D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6590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E:\Trabajo\Vicerrectorado de Planificación\Presentación Reestructuración de Departamentos\Rec\Fondo Azul.jp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-1"/>
            <a:ext cx="9143999" cy="6869843"/>
          </a:xfrm>
          <a:prstGeom prst="rect">
            <a:avLst/>
          </a:prstGeom>
          <a:noFill/>
        </p:spPr>
      </p:pic>
      <p:pic>
        <p:nvPicPr>
          <p:cNvPr id="3" name="Picture 2" descr="E:\Recursos\Logos\Logo UCM 2012\Marca UCM logo Blanco.gif"/>
          <p:cNvPicPr>
            <a:picLocks noChangeAspect="1" noChangeArrowheads="1"/>
          </p:cNvPicPr>
          <p:nvPr userDrawn="1"/>
        </p:nvPicPr>
        <p:blipFill>
          <a:blip r:embed="rId3" cstate="print"/>
          <a:stretch>
            <a:fillRect/>
          </a:stretch>
        </p:blipFill>
        <p:spPr bwMode="auto">
          <a:xfrm>
            <a:off x="3779912" y="332656"/>
            <a:ext cx="1584176" cy="14554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5981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E:\Trabajo\Vicerrectorado de Planificación\Presentación Reestructuración de Departamentos\Rec\Fondo Azul.jpg"/>
          <p:cNvPicPr>
            <a:picLocks noChangeAspect="1" noChangeArrowheads="1"/>
          </p:cNvPicPr>
          <p:nvPr userDrawn="1"/>
        </p:nvPicPr>
        <p:blipFill>
          <a:blip r:embed="rId2" cstate="print"/>
          <a:srcRect t="94985"/>
          <a:stretch>
            <a:fillRect/>
          </a:stretch>
        </p:blipFill>
        <p:spPr bwMode="auto">
          <a:xfrm>
            <a:off x="0" y="6525344"/>
            <a:ext cx="9143999" cy="344500"/>
          </a:xfrm>
          <a:prstGeom prst="rect">
            <a:avLst/>
          </a:prstGeom>
          <a:noFill/>
        </p:spPr>
      </p:pic>
      <p:pic>
        <p:nvPicPr>
          <p:cNvPr id="13" name="Picture 2" descr="E:\Trabajo\Vicerrectorado de Planificación\Presentación Reestructuración de Departamentos\Rec\Fondo Azul.jpg"/>
          <p:cNvPicPr>
            <a:picLocks noChangeAspect="1" noChangeArrowheads="1"/>
          </p:cNvPicPr>
          <p:nvPr userDrawn="1"/>
        </p:nvPicPr>
        <p:blipFill>
          <a:blip r:embed="rId2" cstate="print"/>
          <a:srcRect b="89917"/>
          <a:stretch>
            <a:fillRect/>
          </a:stretch>
        </p:blipFill>
        <p:spPr bwMode="auto">
          <a:xfrm>
            <a:off x="0" y="0"/>
            <a:ext cx="9143999" cy="692696"/>
          </a:xfrm>
          <a:prstGeom prst="rect">
            <a:avLst/>
          </a:prstGeom>
          <a:noFill/>
        </p:spPr>
      </p:pic>
      <p:pic>
        <p:nvPicPr>
          <p:cNvPr id="20481" name="Picture 1" descr="E:\Recursos\Logos\Logo UCM 2012\Marca UCM Alternativa logo blanco.gif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428" y="150540"/>
            <a:ext cx="1800200" cy="4634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218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E:\Trabajo\Vicerrectorado de Planificación\Presentación Reestructuración de Departamentos\Rec\Fondo muy claro.jp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-1"/>
            <a:ext cx="9143999" cy="6869844"/>
          </a:xfrm>
          <a:prstGeom prst="rect">
            <a:avLst/>
          </a:prstGeom>
          <a:noFill/>
        </p:spPr>
      </p:pic>
      <p:pic>
        <p:nvPicPr>
          <p:cNvPr id="14" name="Picture 2" descr="E:\Trabajo\Vicerrectorado de Planificación\Presentación Reestructuración de Departamentos\Rec\Fondo Azul.jpg"/>
          <p:cNvPicPr>
            <a:picLocks noChangeAspect="1" noChangeArrowheads="1"/>
          </p:cNvPicPr>
          <p:nvPr userDrawn="1"/>
        </p:nvPicPr>
        <p:blipFill>
          <a:blip r:embed="rId3" cstate="print"/>
          <a:srcRect t="94985"/>
          <a:stretch>
            <a:fillRect/>
          </a:stretch>
        </p:blipFill>
        <p:spPr bwMode="auto">
          <a:xfrm>
            <a:off x="0" y="6525344"/>
            <a:ext cx="9143999" cy="344500"/>
          </a:xfrm>
          <a:prstGeom prst="rect">
            <a:avLst/>
          </a:prstGeom>
          <a:noFill/>
        </p:spPr>
      </p:pic>
      <p:pic>
        <p:nvPicPr>
          <p:cNvPr id="13" name="Picture 2" descr="E:\Trabajo\Vicerrectorado de Planificación\Presentación Reestructuración de Departamentos\Rec\Fondo Azul.jpg"/>
          <p:cNvPicPr>
            <a:picLocks noChangeAspect="1" noChangeArrowheads="1"/>
          </p:cNvPicPr>
          <p:nvPr userDrawn="1"/>
        </p:nvPicPr>
        <p:blipFill>
          <a:blip r:embed="rId3" cstate="print"/>
          <a:srcRect b="89917"/>
          <a:stretch>
            <a:fillRect/>
          </a:stretch>
        </p:blipFill>
        <p:spPr bwMode="auto">
          <a:xfrm>
            <a:off x="0" y="0"/>
            <a:ext cx="9143999" cy="692696"/>
          </a:xfrm>
          <a:prstGeom prst="rect">
            <a:avLst/>
          </a:prstGeom>
          <a:noFill/>
        </p:spPr>
      </p:pic>
      <p:pic>
        <p:nvPicPr>
          <p:cNvPr id="20481" name="Picture 1" descr="E:\Recursos\Logos\Logo UCM 2012\Marca UCM Alternativa logo blanco.gif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428" y="150540"/>
            <a:ext cx="1800200" cy="4634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218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6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datos.madrid.es/portal/site/ego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rismo04/TFM-cloud-soliutions-to-public-data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rismo04/TFM-cloud-soliutions-to-public-dat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0" y="325067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Implementación</a:t>
            </a:r>
            <a:r>
              <a:rPr lang="en-US" sz="2400" b="1" dirty="0"/>
              <a:t> de </a:t>
            </a:r>
            <a:r>
              <a:rPr lang="en-US" sz="2400" b="1" dirty="0" err="1"/>
              <a:t>soluciones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la </a:t>
            </a:r>
            <a:r>
              <a:rPr lang="en-US" sz="2400" b="1" dirty="0" err="1"/>
              <a:t>nube</a:t>
            </a:r>
            <a:r>
              <a:rPr lang="en-US" sz="2400" b="1" dirty="0"/>
              <a:t> para el </a:t>
            </a:r>
            <a:r>
              <a:rPr lang="en-US" sz="2400" b="1" dirty="0" err="1"/>
              <a:t>análisis</a:t>
            </a:r>
            <a:r>
              <a:rPr lang="en-US" sz="2400" b="1" dirty="0"/>
              <a:t> </a:t>
            </a:r>
          </a:p>
          <a:p>
            <a:pPr algn="ctr"/>
            <a:r>
              <a:rPr lang="en-US" sz="2400" b="1" dirty="0"/>
              <a:t>de </a:t>
            </a:r>
            <a:r>
              <a:rPr lang="en-US" sz="2400" b="1" dirty="0" err="1"/>
              <a:t>datos</a:t>
            </a:r>
            <a:r>
              <a:rPr lang="en-US" sz="2400" b="1" dirty="0"/>
              <a:t> </a:t>
            </a:r>
            <a:r>
              <a:rPr lang="en-US" sz="2400" b="1" dirty="0" err="1"/>
              <a:t>públicos</a:t>
            </a:r>
            <a:r>
              <a:rPr lang="en-US" sz="2400" b="1" dirty="0"/>
              <a:t> a </a:t>
            </a:r>
            <a:r>
              <a:rPr lang="en-US" sz="2400" b="1" dirty="0" err="1"/>
              <a:t>través</a:t>
            </a:r>
            <a:r>
              <a:rPr lang="en-US" sz="2400" b="1" dirty="0"/>
              <a:t> de </a:t>
            </a:r>
            <a:r>
              <a:rPr lang="en-US" sz="2400" b="1" dirty="0" err="1"/>
              <a:t>modelos</a:t>
            </a:r>
            <a:r>
              <a:rPr lang="en-US" sz="2400" b="1" dirty="0"/>
              <a:t> de </a:t>
            </a:r>
            <a:r>
              <a:rPr lang="en-US" sz="2400" b="1" dirty="0" err="1"/>
              <a:t>Inteligencia</a:t>
            </a:r>
            <a:r>
              <a:rPr lang="en-US" sz="2400" b="1" dirty="0"/>
              <a:t> Artificial</a:t>
            </a:r>
            <a:endParaRPr lang="es-ES" sz="2400" b="1" dirty="0"/>
          </a:p>
        </p:txBody>
      </p:sp>
      <p:sp>
        <p:nvSpPr>
          <p:cNvPr id="4" name="3 CuadroTexto"/>
          <p:cNvSpPr txBox="1"/>
          <p:nvPr/>
        </p:nvSpPr>
        <p:spPr>
          <a:xfrm>
            <a:off x="107504" y="6443619"/>
            <a:ext cx="2391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Facultad de Informática</a:t>
            </a:r>
          </a:p>
        </p:txBody>
      </p:sp>
      <p:sp>
        <p:nvSpPr>
          <p:cNvPr id="5" name="2 CuadroTexto">
            <a:extLst>
              <a:ext uri="{FF2B5EF4-FFF2-40B4-BE49-F238E27FC236}">
                <a16:creationId xmlns:a16="http://schemas.microsoft.com/office/drawing/2014/main" id="{B24D89BD-3B6F-0F91-BFDB-BB2E601BE7FE}"/>
              </a:ext>
            </a:extLst>
          </p:cNvPr>
          <p:cNvSpPr txBox="1"/>
          <p:nvPr/>
        </p:nvSpPr>
        <p:spPr>
          <a:xfrm>
            <a:off x="-324544" y="2348880"/>
            <a:ext cx="3959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Trabajo de Fin de Máster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8002452-BFDC-9762-AB00-6B24C9CE64CF}"/>
              </a:ext>
            </a:extLst>
          </p:cNvPr>
          <p:cNvSpPr txBox="1"/>
          <p:nvPr/>
        </p:nvSpPr>
        <p:spPr>
          <a:xfrm>
            <a:off x="6444208" y="4653136"/>
            <a:ext cx="2880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Autor:</a:t>
            </a:r>
            <a:r>
              <a:rPr lang="en-US" dirty="0"/>
              <a:t> </a:t>
            </a:r>
          </a:p>
          <a:p>
            <a:r>
              <a:rPr lang="en-US" dirty="0"/>
              <a:t>Cristian Molina Muñoz </a:t>
            </a:r>
          </a:p>
          <a:p>
            <a:r>
              <a:rPr lang="en-US" b="1" dirty="0" err="1"/>
              <a:t>Directores</a:t>
            </a:r>
            <a:r>
              <a:rPr lang="en-US" b="1" dirty="0"/>
              <a:t>: </a:t>
            </a:r>
          </a:p>
          <a:p>
            <a:r>
              <a:rPr lang="en-US" dirty="0"/>
              <a:t>José Luis Vázquez-Poletti </a:t>
            </a:r>
          </a:p>
          <a:p>
            <a:r>
              <a:rPr lang="en-US" dirty="0"/>
              <a:t>Rubén Fuentes-Fernández</a:t>
            </a:r>
          </a:p>
        </p:txBody>
      </p:sp>
      <p:pic>
        <p:nvPicPr>
          <p:cNvPr id="8" name="Picture 7" descr="178940846269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26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8010144" cy="30931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000" dirty="0">
                <a:solidFill>
                  <a:srgbClr val="1F1F1F"/>
                </a:solidFill>
              </a:rPr>
              <a:t>• </a:t>
            </a:r>
            <a:r>
              <a:rPr lang="en-US" sz="2000" b="1" dirty="0" err="1">
                <a:solidFill>
                  <a:srgbClr val="1F1F1F"/>
                </a:solidFill>
              </a:rPr>
              <a:t>Introducción</a:t>
            </a:r>
            <a:r>
              <a:rPr lang="en-US" sz="2000" b="1" dirty="0">
                <a:solidFill>
                  <a:srgbClr val="1F1F1F"/>
                </a:solidFill>
              </a:rPr>
              <a:t> (</a:t>
            </a:r>
            <a:r>
              <a:rPr lang="en-US" sz="2000" b="1" dirty="0" err="1">
                <a:solidFill>
                  <a:srgbClr val="1F1F1F"/>
                </a:solidFill>
              </a:rPr>
              <a:t>inglés</a:t>
            </a:r>
            <a:r>
              <a:rPr lang="en-US" sz="2000" b="1" dirty="0">
                <a:solidFill>
                  <a:srgbClr val="1F1F1F"/>
                </a:solidFill>
              </a:rPr>
              <a:t>)</a:t>
            </a:r>
          </a:p>
          <a:p>
            <a:pPr>
              <a:spcAft>
                <a:spcPts val="1800"/>
              </a:spcAft>
            </a:pPr>
            <a:r>
              <a:rPr sz="20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2000" b="1" dirty="0">
                <a:solidFill>
                  <a:srgbClr val="1F1F1F"/>
                </a:solidFill>
                <a:latin typeface="Calibri"/>
              </a:rPr>
              <a:t>Estado de la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cuestión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datos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nube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 e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inteligencia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 artificial</a:t>
            </a:r>
          </a:p>
          <a:p>
            <a:pPr>
              <a:spcAft>
                <a:spcPts val="1800"/>
              </a:spcAft>
            </a:pPr>
            <a:r>
              <a:rPr sz="20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lang="en-US" sz="2000" b="1" dirty="0" err="1">
                <a:solidFill>
                  <a:srgbClr val="1F1F1F"/>
                </a:solidFill>
                <a:latin typeface="Calibri"/>
              </a:rPr>
              <a:t>Metodología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principios</a:t>
            </a:r>
            <a:r>
              <a:rPr lang="es-ES" sz="2000" b="0" dirty="0">
                <a:solidFill>
                  <a:srgbClr val="1F1F1F"/>
                </a:solidFill>
                <a:latin typeface="Calibri"/>
              </a:rPr>
              <a:t>, arquitectura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 y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solución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implementada</a:t>
            </a:r>
            <a:endParaRPr sz="20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1800"/>
              </a:spcAft>
            </a:pPr>
            <a:r>
              <a:rPr sz="20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Resultados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datos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, </a:t>
            </a:r>
            <a:r>
              <a:rPr lang="en-US" sz="2000" dirty="0" err="1">
                <a:solidFill>
                  <a:srgbClr val="1F1F1F"/>
                </a:solidFill>
              </a:rPr>
              <a:t>nube</a:t>
            </a:r>
            <a:r>
              <a:rPr lang="en-US" sz="2000" dirty="0">
                <a:solidFill>
                  <a:srgbClr val="1F1F1F"/>
                </a:solidFill>
              </a:rPr>
              <a:t> y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aprendizaje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automático</a:t>
            </a:r>
            <a:endParaRPr sz="20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1800"/>
              </a:spcAft>
            </a:pPr>
            <a:r>
              <a:rPr sz="20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Conclusiones</a:t>
            </a:r>
            <a:r>
              <a:rPr sz="2000" b="1" dirty="0">
                <a:solidFill>
                  <a:srgbClr val="1F1F1F"/>
                </a:solidFill>
                <a:latin typeface="Calibri"/>
              </a:rPr>
              <a:t> y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trabajo</a:t>
            </a:r>
            <a:r>
              <a:rPr sz="20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futuro</a:t>
            </a:r>
            <a:r>
              <a:rPr lang="es-ES" sz="20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lang="en-US" sz="2000" b="1" dirty="0">
                <a:solidFill>
                  <a:srgbClr val="1F1F1F"/>
                </a:solidFill>
              </a:rPr>
              <a:t>(</a:t>
            </a:r>
            <a:r>
              <a:rPr lang="en-US" sz="2000" b="1" dirty="0" err="1">
                <a:solidFill>
                  <a:srgbClr val="1F1F1F"/>
                </a:solidFill>
              </a:rPr>
              <a:t>inglés</a:t>
            </a:r>
            <a:r>
              <a:rPr lang="en-US" sz="2000" b="1" dirty="0">
                <a:solidFill>
                  <a:srgbClr val="1F1F1F"/>
                </a:solidFill>
              </a:rPr>
              <a:t>)</a:t>
            </a:r>
          </a:p>
          <a:p>
            <a:pPr>
              <a:spcAft>
                <a:spcPts val="1800"/>
              </a:spcAft>
            </a:pPr>
            <a:endParaRPr sz="2000" b="1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2500" b="1" dirty="0">
                <a:solidFill>
                  <a:srgbClr val="C00530"/>
                </a:solidFill>
                <a:latin typeface="Calibri"/>
              </a:rPr>
              <a:t>The Context: Data, Cloud, and AI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5756" y="1392955"/>
            <a:ext cx="6372708" cy="128240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C00530"/>
                </a:solidFill>
                <a:latin typeface="Calibri"/>
              </a:rPr>
              <a:t>PUBLIC DATA: 181 ZB </a:t>
            </a:r>
            <a:r>
              <a:rPr lang="en-US" sz="1600" dirty="0">
                <a:solidFill>
                  <a:srgbClr val="C00530"/>
                </a:solidFill>
                <a:latin typeface="Calibri"/>
              </a:rPr>
              <a:t>created worldwide each year (2025)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C00530"/>
                </a:solidFill>
                <a:latin typeface="Calibri"/>
              </a:rPr>
              <a:t>CLOUD COMPUTING: 44.3% </a:t>
            </a:r>
            <a:r>
              <a:rPr lang="en-US" sz="1600" dirty="0">
                <a:solidFill>
                  <a:srgbClr val="C00530"/>
                </a:solidFill>
                <a:latin typeface="Calibri"/>
              </a:rPr>
              <a:t>of Spanish firms pay for cloud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C00530"/>
                </a:solidFill>
                <a:latin typeface="Calibri"/>
              </a:rPr>
              <a:t>ARTIFICIAL INTELLIGENCE: 21.1% </a:t>
            </a:r>
            <a:r>
              <a:rPr lang="en-US" sz="1600" dirty="0">
                <a:solidFill>
                  <a:srgbClr val="C00530"/>
                </a:solidFill>
                <a:latin typeface="Calibri"/>
              </a:rPr>
              <a:t>of Spanish firms use AI (2025) 			        (</a:t>
            </a:r>
            <a:r>
              <a:rPr lang="en-US" sz="1600" b="1" dirty="0">
                <a:solidFill>
                  <a:srgbClr val="C00530"/>
                </a:solidFill>
                <a:latin typeface="Calibri"/>
              </a:rPr>
              <a:t>61%</a:t>
            </a:r>
            <a:r>
              <a:rPr lang="en-US" sz="1600" dirty="0">
                <a:solidFill>
                  <a:srgbClr val="C00530"/>
                </a:solidFill>
                <a:latin typeface="Calibri"/>
              </a:rPr>
              <a:t> in 2026 - reported at the AWS Summit)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540" y="3658025"/>
            <a:ext cx="3888432" cy="232884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lang="en-US" b="1" dirty="0"/>
              <a:t>And yet: only 48% of high-value datasets are actually available as open data (OECD).</a:t>
            </a:r>
          </a:p>
          <a:p>
            <a:pPr lvl="1">
              <a:spcAft>
                <a:spcPts val="1400"/>
              </a:spcAft>
            </a:pPr>
            <a:r>
              <a:rPr lang="es-ES" sz="1600" dirty="0">
                <a:solidFill>
                  <a:srgbClr val="1F1F1F"/>
                </a:solidFill>
                <a:latin typeface="Calibri"/>
              </a:rPr>
              <a:t>- 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Published is not the same as machine-readable</a:t>
            </a:r>
          </a:p>
          <a:p>
            <a:pPr>
              <a:spcAft>
                <a:spcPts val="1400"/>
              </a:spcAft>
            </a:pPr>
            <a:r>
              <a:rPr b="1" dirty="0">
                <a:solidFill>
                  <a:srgbClr val="1F1F1F"/>
                </a:solidFill>
                <a:latin typeface="Calibri"/>
              </a:rPr>
              <a:t>Can an automated process </a:t>
            </a:r>
            <a:r>
              <a:rPr lang="es-ES" b="1" dirty="0">
                <a:solidFill>
                  <a:srgbClr val="1F1F1F"/>
                </a:solidFill>
                <a:latin typeface="Calibri"/>
              </a:rPr>
              <a:t>use </a:t>
            </a:r>
            <a:r>
              <a:rPr lang="es-ES" b="1" dirty="0" err="1">
                <a:solidFill>
                  <a:srgbClr val="1F1F1F"/>
                </a:solidFill>
                <a:latin typeface="Calibri"/>
              </a:rPr>
              <a:t>public</a:t>
            </a:r>
            <a:r>
              <a:rPr b="1" dirty="0">
                <a:solidFill>
                  <a:srgbClr val="1F1F1F"/>
                </a:solidFill>
                <a:latin typeface="Calibri"/>
              </a:rPr>
              <a:t> </a:t>
            </a:r>
            <a:r>
              <a:rPr lang="es-ES" b="1" dirty="0">
                <a:solidFill>
                  <a:srgbClr val="1F1F1F"/>
                </a:solidFill>
                <a:latin typeface="Calibri"/>
              </a:rPr>
              <a:t>data</a:t>
            </a:r>
            <a:r>
              <a:rPr b="1" dirty="0">
                <a:solidFill>
                  <a:srgbClr val="1F1F1F"/>
                </a:solidFill>
                <a:latin typeface="Calibri"/>
              </a:rPr>
              <a:t> with</a:t>
            </a:r>
            <a:r>
              <a:rPr lang="es-ES" b="1" dirty="0">
                <a:solidFill>
                  <a:srgbClr val="1F1F1F"/>
                </a:solidFill>
                <a:latin typeface="Calibri"/>
              </a:rPr>
              <a:t> </a:t>
            </a:r>
            <a:r>
              <a:rPr lang="es-ES" b="1" dirty="0" err="1">
                <a:solidFill>
                  <a:srgbClr val="1F1F1F"/>
                </a:solidFill>
                <a:latin typeface="Calibri"/>
              </a:rPr>
              <a:t>minimal</a:t>
            </a:r>
            <a:r>
              <a:rPr b="1" dirty="0">
                <a:solidFill>
                  <a:srgbClr val="1F1F1F"/>
                </a:solidFill>
                <a:latin typeface="Calibri"/>
              </a:rPr>
              <a:t> human intervention?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A1A2087E-E471-EDC0-8AB1-E25C57878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759699"/>
              </p:ext>
            </p:extLst>
          </p:nvPr>
        </p:nvGraphicFramePr>
        <p:xfrm>
          <a:off x="4572000" y="3414239"/>
          <a:ext cx="4536504" cy="17388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88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807">
                <a:tc>
                  <a:txBody>
                    <a:bodyPr/>
                    <a:lstStyle/>
                    <a:p>
                      <a:pPr algn="l"/>
                      <a:r>
                        <a:rPr lang="es-ES"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Items</a:t>
                      </a:r>
                      <a:r>
                        <a:rPr lang="es-ES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es-ES"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included</a:t>
                      </a:r>
                      <a:r>
                        <a:rPr lang="es-ES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 in </a:t>
                      </a:r>
                      <a:r>
                        <a:rPr lang="es-ES"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this</a:t>
                      </a:r>
                      <a:r>
                        <a:rPr lang="es-ES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es-ES"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07"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Bibliographic references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807"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   Web resources and technical documentation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807"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  </a:t>
                      </a:r>
                      <a:r>
                        <a:rPr lang="en-U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Articles and theses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807"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  </a:t>
                      </a:r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Books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807"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Technical definitions (Appendix A)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FF8BEB1D-69DD-6CD3-256F-BE0E4BAE457B}"/>
              </a:ext>
            </a:extLst>
          </p:cNvPr>
          <p:cNvSpPr txBox="1"/>
          <p:nvPr/>
        </p:nvSpPr>
        <p:spPr>
          <a:xfrm>
            <a:off x="4788024" y="291670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C00530"/>
                </a:solidFill>
                <a:latin typeface="Calibri"/>
              </a:rPr>
              <a:t>M</a:t>
            </a:r>
            <a:r>
              <a:rPr lang="en-US" sz="2000" b="1" dirty="0" err="1">
                <a:solidFill>
                  <a:srgbClr val="C00530"/>
                </a:solidFill>
                <a:latin typeface="Calibri"/>
              </a:rPr>
              <a:t>illions</a:t>
            </a:r>
            <a:r>
              <a:rPr lang="en-US" sz="2000" b="1" dirty="0">
                <a:solidFill>
                  <a:srgbClr val="C00530"/>
                </a:solidFill>
                <a:latin typeface="Calibri"/>
              </a:rPr>
              <a:t> of articles:</a:t>
            </a:r>
            <a:endParaRPr lang="en-US" dirty="0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931BC58A-5B37-B527-42B8-40EDB33BD478}"/>
              </a:ext>
            </a:extLst>
          </p:cNvPr>
          <p:cNvSpPr txBox="1"/>
          <p:nvPr/>
        </p:nvSpPr>
        <p:spPr>
          <a:xfrm>
            <a:off x="755576" y="1731208"/>
            <a:ext cx="8280920" cy="4001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lang="es-ES" sz="2000" dirty="0">
                <a:solidFill>
                  <a:srgbClr val="C00530"/>
                </a:solidFill>
                <a:latin typeface="Calibri"/>
              </a:rPr>
              <a:t>The </a:t>
            </a:r>
            <a:r>
              <a:rPr lang="es-ES" sz="2000" dirty="0" err="1">
                <a:solidFill>
                  <a:srgbClr val="C00530"/>
                </a:solidFill>
                <a:latin typeface="Calibri"/>
              </a:rPr>
              <a:t>size</a:t>
            </a:r>
            <a:r>
              <a:rPr lang="es-ES" sz="2000" dirty="0">
                <a:solidFill>
                  <a:srgbClr val="C00530"/>
                </a:solidFill>
                <a:latin typeface="Calibri"/>
              </a:rPr>
              <a:t>:</a:t>
            </a:r>
            <a:endParaRPr lang="en-US" sz="2000" dirty="0">
              <a:solidFill>
                <a:srgbClr val="C0053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Objectives and scope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257594"/>
              </p:ext>
            </p:extLst>
          </p:nvPr>
        </p:nvGraphicFramePr>
        <p:xfrm>
          <a:off x="566928" y="1645920"/>
          <a:ext cx="8010144" cy="1927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1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774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Chapter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77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Analyse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the landscape of cloud, AI and public data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77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Develop a replicable methodology, source to value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77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Apply it to real </a:t>
                      </a:r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open 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data and evaluate configurations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4 and 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169239"/>
            <a:ext cx="8010144" cy="126957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Scope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 in </a:t>
            </a:r>
            <a:r>
              <a:rPr lang="es-ES" sz="1700" b="1" dirty="0" err="1">
                <a:solidFill>
                  <a:srgbClr val="1F1F1F"/>
                </a:solidFill>
                <a:latin typeface="Calibri"/>
              </a:rPr>
              <a:t>the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lang="es-ES" sz="1700" b="1" dirty="0" err="1">
                <a:solidFill>
                  <a:srgbClr val="1F1F1F"/>
                </a:solidFill>
                <a:latin typeface="Calibri"/>
              </a:rPr>
              <a:t>evaluation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:</a:t>
            </a:r>
            <a:endParaRPr sz="17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Madrid City Council open data, 2019–2025</a:t>
            </a: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Two cloud providers: AWS and Google Cloud</a:t>
            </a: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Unsupervised learning: clustering and correlation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C5DE3-8F8E-8977-9101-3583FDCF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>
            <a:extLst>
              <a:ext uri="{FF2B5EF4-FFF2-40B4-BE49-F238E27FC236}">
                <a16:creationId xmlns:a16="http://schemas.microsoft.com/office/drawing/2014/main" id="{209ACDDC-820B-9C2D-CC3D-0F4ACDE4AB83}"/>
              </a:ext>
            </a:extLst>
          </p:cNvPr>
          <p:cNvSpPr txBox="1"/>
          <p:nvPr/>
        </p:nvSpPr>
        <p:spPr>
          <a:xfrm>
            <a:off x="0" y="3458938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Estado de la cuestión</a:t>
            </a:r>
          </a:p>
        </p:txBody>
      </p:sp>
      <p:pic>
        <p:nvPicPr>
          <p:cNvPr id="8" name="Picture 7" descr="1789408462696_image.png">
            <a:extLst>
              <a:ext uri="{FF2B5EF4-FFF2-40B4-BE49-F238E27FC236}">
                <a16:creationId xmlns:a16="http://schemas.microsoft.com/office/drawing/2014/main" id="{6D1731F6-D7DE-465C-1A88-7C3DC84FA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61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Datos ·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Qué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es un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dato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abierto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480075"/>
            <a:ext cx="8270878" cy="236218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</a:t>
            </a:r>
            <a:r>
              <a:rPr lang="en-US" sz="1700" b="1" dirty="0">
                <a:solidFill>
                  <a:srgbClr val="1F1F1F"/>
                </a:solidFill>
                <a:latin typeface="Calibri"/>
              </a:rPr>
              <a:t>Portal Europeo de Datos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: 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que cualquier persona o entidad pueda </a:t>
            </a:r>
            <a:r>
              <a:rPr lang="es-E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acceder, usar, modificar, combinar y redistribuir 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la información libremente para cualquier finalidad.</a:t>
            </a:r>
          </a:p>
          <a:p>
            <a:pPr>
              <a:spcAft>
                <a:spcPts val="900"/>
              </a:spcAft>
            </a:pPr>
            <a:r>
              <a:rPr lang="es-ES" b="1" dirty="0">
                <a:solidFill>
                  <a:srgbClr val="1F1F1F"/>
                </a:solidFill>
              </a:rPr>
              <a:t>• Datos de alto valor: </a:t>
            </a:r>
            <a:r>
              <a:rPr lang="es-ES" sz="1400" dirty="0">
                <a:solidFill>
                  <a:srgbClr val="5A5A5A"/>
                </a:solidFill>
              </a:rPr>
              <a:t>Beneficios sociales, medioambientales o económicos significativos e innovadores.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Marco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normativo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europeo</a:t>
            </a:r>
            <a:endParaRPr sz="17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RGPD (2016) 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protección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datos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personales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Ley de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Gobernanza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Datos (2022) 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reutilización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y 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intercambio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datos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Reglamento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IA (2024) 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qué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modelos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son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admisibles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y bajo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qué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garantías</a:t>
            </a:r>
            <a:endParaRPr sz="1400" b="0" dirty="0">
              <a:solidFill>
                <a:srgbClr val="5A5A5A"/>
              </a:solidFill>
              <a:latin typeface="Calibri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9047402-CDA0-030C-C1B3-ABE4258F1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200907"/>
              </p:ext>
            </p:extLst>
          </p:nvPr>
        </p:nvGraphicFramePr>
        <p:xfrm>
          <a:off x="899592" y="4408491"/>
          <a:ext cx="6768752" cy="1496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64574714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624906023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1113711532"/>
                    </a:ext>
                  </a:extLst>
                </a:gridCol>
              </a:tblGrid>
              <a:tr h="303473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Trabajo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 de 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referencia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</a:rPr>
                        <a:t>Aportación al trabajo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014198"/>
                  </a:ext>
                </a:extLst>
              </a:tr>
              <a:tr h="516816">
                <a:tc>
                  <a:txBody>
                    <a:bodyPr/>
                    <a:lstStyle/>
                    <a:p>
                      <a:pPr algn="l"/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Meneses y García
«Madrid, isla de calor»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>
                          <a:solidFill>
                            <a:srgbClr val="1F1F1F"/>
                          </a:solidFill>
                          <a:latin typeface="Calibri"/>
                        </a:rPr>
                        <a:t>2022- 2023</a:t>
                      </a:r>
                      <a:endParaRPr lang="es-ES"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Cinco aproximaciones de agrupamiento</a:t>
                      </a:r>
                    </a:p>
                    <a:p>
                      <a:pPr algn="ctr"/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(replicado y extendido)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073256"/>
                  </a:ext>
                </a:extLst>
              </a:tr>
              <a:tr h="648492">
                <a:tc>
                  <a:txBody>
                    <a:bodyPr/>
                    <a:lstStyle/>
                    <a:p>
                      <a:pPr algn="l"/>
                      <a:r>
                        <a:rPr lang="es-ES" sz="1400" b="0">
                          <a:solidFill>
                            <a:srgbClr val="1F1F1F"/>
                          </a:solidFill>
                          <a:latin typeface="Calibri"/>
                        </a:rPr>
                        <a:t>Saiz Santos
«</a:t>
                      </a:r>
                      <a:r>
                        <a:rPr lang="es-ES" sz="1400" b="0">
                          <a:solidFill>
                            <a:srgbClr val="1F1F1F"/>
                          </a:solidFill>
                          <a:latin typeface="+mn-lt"/>
                        </a:rPr>
                        <a:t>Análisis de datos de la ciudad de Madrid</a:t>
                      </a:r>
                      <a:r>
                        <a:rPr lang="es-ES" sz="1400" b="0">
                          <a:solidFill>
                            <a:srgbClr val="1F1F1F"/>
                          </a:solidFill>
                          <a:latin typeface="Calibri"/>
                        </a:rPr>
                        <a:t>»</a:t>
                      </a:r>
                      <a:endParaRPr lang="es-ES"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>
                          <a:solidFill>
                            <a:srgbClr val="1F1F1F"/>
                          </a:solidFill>
                          <a:latin typeface="Calibri"/>
                        </a:rPr>
                        <a:t>2022-2023</a:t>
                      </a:r>
                      <a:endParaRPr lang="es-ES"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Datos de movilidad
(procesados, no analizados)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259171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9AFFC2BC-3D55-85F6-4F93-AEF4D5430140}"/>
              </a:ext>
            </a:extLst>
          </p:cNvPr>
          <p:cNvSpPr txBox="1"/>
          <p:nvPr/>
        </p:nvSpPr>
        <p:spPr>
          <a:xfrm>
            <a:off x="885943" y="4039159"/>
            <a:ext cx="3816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C00530"/>
                </a:solidFill>
                <a:latin typeface="Calibri"/>
              </a:rPr>
              <a:t>Los </a:t>
            </a:r>
            <a:r>
              <a:rPr lang="en-US" sz="1600" b="1" dirty="0" err="1">
                <a:solidFill>
                  <a:srgbClr val="C00530"/>
                </a:solidFill>
                <a:latin typeface="Calibri"/>
              </a:rPr>
              <a:t>trabajos</a:t>
            </a:r>
            <a:r>
              <a:rPr lang="en-US" sz="16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lang="en-US" sz="1600" b="1" dirty="0" err="1">
                <a:solidFill>
                  <a:srgbClr val="C00530"/>
                </a:solidFill>
                <a:latin typeface="Calibri"/>
              </a:rPr>
              <a:t>replicados</a:t>
            </a:r>
            <a:endParaRPr lang="en-US" sz="1600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58B007C-0C11-6BD1-9802-220A5C317B7D}"/>
              </a:ext>
            </a:extLst>
          </p:cNvPr>
          <p:cNvCxnSpPr>
            <a:cxnSpLocks/>
          </p:cNvCxnSpPr>
          <p:nvPr/>
        </p:nvCxnSpPr>
        <p:spPr>
          <a:xfrm>
            <a:off x="899592" y="3949190"/>
            <a:ext cx="7586039" cy="0"/>
          </a:xfrm>
          <a:prstGeom prst="line">
            <a:avLst/>
          </a:prstGeom>
          <a:ln>
            <a:solidFill>
              <a:srgbClr val="C0053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Nube ·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Capas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gratuitas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evaluadas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850136"/>
              </p:ext>
            </p:extLst>
          </p:nvPr>
        </p:nvGraphicFramePr>
        <p:xfrm>
          <a:off x="566928" y="1526746"/>
          <a:ext cx="8010145" cy="2478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0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8849">
                  <a:extLst>
                    <a:ext uri="{9D8B030D-6E8A-4147-A177-3AD203B41FA5}">
                      <a16:colId xmlns:a16="http://schemas.microsoft.com/office/drawing/2014/main" val="2118817019"/>
                    </a:ext>
                  </a:extLst>
                </a:gridCol>
              </a:tblGrid>
              <a:tr h="301361">
                <a:tc>
                  <a:txBody>
                    <a:bodyPr/>
                    <a:lstStyle/>
                    <a:p>
                      <a:pPr algn="l"/>
                      <a:r>
                        <a:rPr sz="150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Proveedor</a:t>
                      </a:r>
                      <a:endParaRPr sz="15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Oferta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gratuita</a:t>
                      </a:r>
                      <a:endParaRPr sz="15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¿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Usado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?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Base</a:t>
                      </a:r>
                      <a:endParaRPr sz="15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61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F1F1F"/>
                          </a:solidFill>
                          <a:latin typeface="+mn-lt"/>
                        </a:rPr>
                        <a:t>Amazon Web Services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F1F1F"/>
                          </a:solidFill>
                          <a:latin typeface="+mn-lt"/>
                        </a:rPr>
                        <a:t>200 $ </a:t>
                      </a:r>
                      <a:r>
                        <a:rPr sz="1500" b="1" dirty="0" err="1">
                          <a:solidFill>
                            <a:srgbClr val="1F1F1F"/>
                          </a:solidFill>
                          <a:latin typeface="+mn-lt"/>
                        </a:rPr>
                        <a:t>en</a:t>
                      </a:r>
                      <a:r>
                        <a:rPr sz="1500" b="1" dirty="0">
                          <a:solidFill>
                            <a:srgbClr val="1F1F1F"/>
                          </a:solidFill>
                          <a:latin typeface="+mn-lt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1F1F1F"/>
                          </a:solidFill>
                          <a:latin typeface="+mn-lt"/>
                        </a:rPr>
                        <a:t>créditos</a:t>
                      </a:r>
                      <a:r>
                        <a:rPr sz="1500" b="1" dirty="0">
                          <a:solidFill>
                            <a:srgbClr val="1F1F1F"/>
                          </a:solidFill>
                          <a:latin typeface="+mn-lt"/>
                        </a:rPr>
                        <a:t> · 6 meses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1F1F"/>
                          </a:solidFill>
                          <a:latin typeface="+mn-lt"/>
                        </a:rPr>
                        <a:t>Sí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1" dirty="0">
                          <a:solidFill>
                            <a:srgbClr val="1F1F1F"/>
                          </a:solidFill>
                          <a:latin typeface="+mn-lt"/>
                        </a:rPr>
                        <a:t>EE. UU.</a:t>
                      </a:r>
                      <a:endParaRPr sz="1500" b="1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92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F1F1F"/>
                          </a:solidFill>
                          <a:latin typeface="+mn-lt"/>
                        </a:rPr>
                        <a:t>Google Cloud Platform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F1F1F"/>
                          </a:solidFill>
                          <a:latin typeface="+mn-lt"/>
                        </a:rPr>
                        <a:t>300 $ </a:t>
                      </a:r>
                      <a:r>
                        <a:rPr sz="1500" b="1" dirty="0" err="1">
                          <a:solidFill>
                            <a:srgbClr val="1F1F1F"/>
                          </a:solidFill>
                          <a:latin typeface="+mn-lt"/>
                        </a:rPr>
                        <a:t>en</a:t>
                      </a:r>
                      <a:r>
                        <a:rPr sz="1500" b="1" dirty="0">
                          <a:solidFill>
                            <a:srgbClr val="1F1F1F"/>
                          </a:solidFill>
                          <a:latin typeface="+mn-lt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1F1F1F"/>
                          </a:solidFill>
                          <a:latin typeface="+mn-lt"/>
                        </a:rPr>
                        <a:t>créditos</a:t>
                      </a:r>
                      <a:r>
                        <a:rPr sz="1500" b="1" dirty="0">
                          <a:solidFill>
                            <a:srgbClr val="1F1F1F"/>
                          </a:solidFill>
                          <a:latin typeface="+mn-lt"/>
                        </a:rPr>
                        <a:t> · 90 días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1F1F1F"/>
                          </a:solidFill>
                          <a:latin typeface="+mn-lt"/>
                        </a:rPr>
                        <a:t>Sí</a:t>
                      </a:r>
                      <a:endParaRPr sz="1500" b="1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00" b="1" dirty="0">
                          <a:solidFill>
                            <a:srgbClr val="1F1F1F"/>
                          </a:solidFill>
                          <a:latin typeface="+mn-lt"/>
                        </a:rPr>
                        <a:t>EE. UU.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9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+mn-lt"/>
                        </a:rPr>
                        <a:t>Microsoft Azure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+mn-lt"/>
                        </a:rPr>
                        <a:t>12 meses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Descartado</a:t>
                      </a:r>
                      <a:endParaRPr sz="15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EE. UU.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61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OVHcloud</a:t>
                      </a:r>
                      <a:endParaRPr sz="15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200 €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en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créditos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 · 1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mes</a:t>
                      </a:r>
                      <a:endParaRPr sz="15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Evaluado</a:t>
                      </a:r>
                      <a:endParaRPr sz="15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Europa (Francia)</a:t>
                      </a:r>
                      <a:endParaRPr sz="15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92"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Kaggle /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Colab</a:t>
                      </a:r>
                      <a:endParaRPr sz="15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+mn-lt"/>
                        </a:rPr>
                        <a:t>GPU con cuota semanal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Evaluado</a:t>
                      </a:r>
                      <a:endParaRPr sz="15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EE. UU.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61"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Canonical MicroCloud</a:t>
                      </a:r>
                      <a:endParaRPr sz="15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On</a:t>
                      </a:r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 premise</a:t>
                      </a:r>
                      <a:endParaRPr sz="15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Evaluado</a:t>
                      </a:r>
                      <a:endParaRPr sz="15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Open</a:t>
                      </a:r>
                      <a:endParaRPr sz="15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387459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7664F1D9-CDEB-19D8-5171-C75B0D5B9498}"/>
              </a:ext>
            </a:extLst>
          </p:cNvPr>
          <p:cNvSpPr txBox="1"/>
          <p:nvPr/>
        </p:nvSpPr>
        <p:spPr>
          <a:xfrm>
            <a:off x="584604" y="4170276"/>
            <a:ext cx="801014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1600" b="1" dirty="0">
                <a:solidFill>
                  <a:srgbClr val="1F1F1F"/>
                </a:solidFill>
              </a:rPr>
              <a:t>• </a:t>
            </a:r>
            <a:r>
              <a:rPr lang="es-ES" sz="1600" b="1" dirty="0">
                <a:solidFill>
                  <a:srgbClr val="1F1F1F"/>
                </a:solidFill>
                <a:latin typeface="Calibri"/>
              </a:rPr>
              <a:t>Se evaluaron alternativas europeas antes de recurrir a las nubes americanas</a:t>
            </a:r>
          </a:p>
          <a:p>
            <a:pPr marL="742950" lvl="1" indent="-285750">
              <a:spcAft>
                <a:spcPts val="900"/>
              </a:spcAft>
              <a:buFontTx/>
              <a:buChar char="-"/>
            </a:pPr>
            <a:r>
              <a:rPr lang="es-ES" sz="1400" b="0" dirty="0" err="1">
                <a:solidFill>
                  <a:srgbClr val="5A5A5A"/>
                </a:solidFill>
                <a:latin typeface="Calibri"/>
              </a:rPr>
              <a:t>OVHcloud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, </a:t>
            </a:r>
            <a:r>
              <a:rPr lang="es-ES" sz="1400" b="0" dirty="0" err="1">
                <a:solidFill>
                  <a:srgbClr val="5A5A5A"/>
                </a:solidFill>
                <a:latin typeface="Calibri"/>
              </a:rPr>
              <a:t>OpenNebula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 (plataforma IaaS de código abierto</a:t>
            </a:r>
            <a:r>
              <a:rPr lang="es-ES" sz="1400" dirty="0">
                <a:solidFill>
                  <a:srgbClr val="5A5A5A"/>
                </a:solidFill>
                <a:latin typeface="Calibri"/>
              </a:rPr>
              <a:t>), </a:t>
            </a:r>
            <a:r>
              <a:rPr lang="es-ES" sz="1400" b="0" dirty="0" err="1">
                <a:solidFill>
                  <a:srgbClr val="5A5A5A"/>
                </a:solidFill>
                <a:latin typeface="Calibri"/>
              </a:rPr>
              <a:t>NubeSARA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  y BDTI (Comisión Europea, descontinuada en 2025)</a:t>
            </a:r>
          </a:p>
          <a:p>
            <a:pPr>
              <a:spcAft>
                <a:spcPts val="900"/>
              </a:spcAft>
            </a:pPr>
            <a:r>
              <a:rPr lang="es-ES" sz="1600" b="1" dirty="0">
                <a:solidFill>
                  <a:srgbClr val="1F1F1F"/>
                </a:solidFill>
              </a:rPr>
              <a:t>• Las capas gratuitas bastan para investigación de tamaño moderado</a:t>
            </a:r>
            <a:endParaRPr lang="es-ES" sz="1400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r>
              <a:rPr lang="es-ES" sz="1600" b="1" dirty="0">
                <a:solidFill>
                  <a:srgbClr val="1F1F1F"/>
                </a:solidFill>
              </a:rPr>
              <a:t>• Decisión adoptada: AWS y GCP, configurados para operar en regiones de la UE (eu-west-1 y europe-west1)</a:t>
            </a:r>
          </a:p>
          <a:p>
            <a:pPr>
              <a:spcAft>
                <a:spcPts val="900"/>
              </a:spcAft>
            </a:pPr>
            <a:endParaRPr lang="es-ES" sz="1400" b="0" dirty="0">
              <a:solidFill>
                <a:srgbClr val="5A5A5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IA · Selección de algoritmos y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tecnologías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lang="es-ES" sz="2500" b="1" dirty="0">
                <a:solidFill>
                  <a:srgbClr val="C00530"/>
                </a:solidFill>
                <a:latin typeface="Calibri"/>
              </a:rPr>
              <a:t>ML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evaluadas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2281" y="1913719"/>
            <a:ext cx="3096344" cy="31598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 b="1" dirty="0">
                <a:solidFill>
                  <a:srgbClr val="1F1F1F"/>
                </a:solidFill>
                <a:latin typeface="Calibri"/>
              </a:rPr>
              <a:t>- 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AutoML (Vertex AI AutoML, SageMaker Autopilot)</a:t>
            </a:r>
          </a:p>
          <a:p>
            <a:pPr marL="742950" lvl="1" indent="-285750">
              <a:spcAft>
                <a:spcPts val="800"/>
              </a:spcAft>
              <a:buFontTx/>
              <a:buChar char="-"/>
            </a:pPr>
            <a:r>
              <a:rPr lang="es-ES" sz="1400" dirty="0">
                <a:solidFill>
                  <a:srgbClr val="5A5A5A"/>
                </a:solidFill>
              </a:rPr>
              <a:t>Automatizan selección de modelo e </a:t>
            </a:r>
            <a:r>
              <a:rPr lang="es-ES" sz="1400" dirty="0" err="1">
                <a:solidFill>
                  <a:srgbClr val="5A5A5A"/>
                </a:solidFill>
              </a:rPr>
              <a:t>hiperparámetros</a:t>
            </a:r>
            <a:r>
              <a:rPr lang="es-ES" sz="1400" dirty="0">
                <a:solidFill>
                  <a:srgbClr val="5A5A5A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s-ES" sz="1700" b="1" dirty="0">
                <a:solidFill>
                  <a:srgbClr val="1F1F1F"/>
                </a:solidFill>
              </a:rPr>
              <a:t>- </a:t>
            </a:r>
            <a:r>
              <a:rPr lang="es-ES" sz="1700" b="1" dirty="0" err="1">
                <a:solidFill>
                  <a:srgbClr val="1F1F1F"/>
                </a:solidFill>
              </a:rPr>
              <a:t>MLOps</a:t>
            </a:r>
            <a:endParaRPr lang="es-ES" sz="1700" b="1" dirty="0">
              <a:solidFill>
                <a:srgbClr val="1F1F1F"/>
              </a:solidFill>
            </a:endParaRPr>
          </a:p>
          <a:p>
            <a:pPr marL="742950" lvl="1" indent="-285750">
              <a:spcAft>
                <a:spcPts val="800"/>
              </a:spcAft>
              <a:buFontTx/>
              <a:buChar char="-"/>
            </a:pPr>
            <a:r>
              <a:rPr lang="es-ES" sz="1400" dirty="0">
                <a:solidFill>
                  <a:srgbClr val="5A5A5A"/>
                </a:solidFill>
              </a:rPr>
              <a:t>versionado de código y datos, registro de ejecuciones, </a:t>
            </a:r>
            <a:r>
              <a:rPr lang="es-ES" sz="1400" dirty="0" err="1">
                <a:solidFill>
                  <a:srgbClr val="5A5A5A"/>
                </a:solidFill>
              </a:rPr>
              <a:t>IaC</a:t>
            </a:r>
            <a:r>
              <a:rPr lang="es-ES" sz="1400" dirty="0">
                <a:solidFill>
                  <a:srgbClr val="5A5A5A"/>
                </a:solidFill>
              </a:rPr>
              <a:t>…</a:t>
            </a:r>
            <a:endParaRPr lang="es-ES" sz="1700" b="1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s-ES" sz="1700" b="1" dirty="0">
                <a:solidFill>
                  <a:srgbClr val="1F1F1F"/>
                </a:solidFill>
                <a:latin typeface="Calibri"/>
              </a:rPr>
              <a:t>- 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LLM</a:t>
            </a: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Las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ventanas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actuales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admiten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miles de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filas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pero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siempre pueden cometer alucinaciones.</a:t>
            </a:r>
            <a:endParaRPr sz="1400" b="0" dirty="0">
              <a:solidFill>
                <a:srgbClr val="5A5A5A"/>
              </a:solidFill>
              <a:latin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326C89-8A94-8E82-D3ED-98F3634A0ADA}"/>
              </a:ext>
            </a:extLst>
          </p:cNvPr>
          <p:cNvSpPr txBox="1"/>
          <p:nvPr/>
        </p:nvSpPr>
        <p:spPr>
          <a:xfrm>
            <a:off x="4427984" y="1725308"/>
            <a:ext cx="37170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s-ES" sz="1700" b="1" dirty="0">
                <a:solidFill>
                  <a:srgbClr val="1F1F1F"/>
                </a:solidFill>
                <a:latin typeface="Calibri"/>
              </a:rPr>
              <a:t>Modelos ML – (Machine </a:t>
            </a:r>
            <a:r>
              <a:rPr lang="es-ES" sz="1700" b="1" dirty="0" err="1">
                <a:solidFill>
                  <a:srgbClr val="1F1F1F"/>
                </a:solidFill>
                <a:latin typeface="Calibri"/>
              </a:rPr>
              <a:t>learning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)</a:t>
            </a:r>
            <a:endParaRPr lang="es-ES" sz="1700" b="1" dirty="0">
              <a:solidFill>
                <a:srgbClr val="1F1F1F"/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0A8A0D2-3D56-B7A9-99D0-EC2772537289}"/>
              </a:ext>
            </a:extLst>
          </p:cNvPr>
          <p:cNvCxnSpPr/>
          <p:nvPr/>
        </p:nvCxnSpPr>
        <p:spPr>
          <a:xfrm>
            <a:off x="3851920" y="1725308"/>
            <a:ext cx="0" cy="3600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9">
            <a:extLst>
              <a:ext uri="{FF2B5EF4-FFF2-40B4-BE49-F238E27FC236}">
                <a16:creationId xmlns:a16="http://schemas.microsoft.com/office/drawing/2014/main" id="{D6754C58-53F2-FACB-B9B7-7E881C73ADB0}"/>
              </a:ext>
            </a:extLst>
          </p:cNvPr>
          <p:cNvSpPr txBox="1"/>
          <p:nvPr/>
        </p:nvSpPr>
        <p:spPr>
          <a:xfrm>
            <a:off x="4576832" y="2154894"/>
            <a:ext cx="389534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6A6A6A"/>
                </a:solidFill>
                <a:latin typeface="Calibri"/>
              </a:rPr>
              <a:t>PASO 1 · ¿Hay </a:t>
            </a:r>
            <a:r>
              <a:rPr sz="1200" b="1" dirty="0" err="1">
                <a:solidFill>
                  <a:srgbClr val="6A6A6A"/>
                </a:solidFill>
                <a:latin typeface="Calibri"/>
              </a:rPr>
              <a:t>que</a:t>
            </a:r>
            <a:r>
              <a:rPr sz="1200" b="1" dirty="0">
                <a:solidFill>
                  <a:srgbClr val="6A6A6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6A6A6A"/>
                </a:solidFill>
                <a:latin typeface="Calibri"/>
              </a:rPr>
              <a:t>predecir</a:t>
            </a:r>
            <a:r>
              <a:rPr sz="1200" b="1" dirty="0">
                <a:solidFill>
                  <a:srgbClr val="6A6A6A"/>
                </a:solidFill>
                <a:latin typeface="Calibri"/>
              </a:rPr>
              <a:t> algo?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A631C3B-7A27-B338-8B56-8FB21C0F784A}"/>
              </a:ext>
            </a:extLst>
          </p:cNvPr>
          <p:cNvSpPr/>
          <p:nvPr/>
        </p:nvSpPr>
        <p:spPr>
          <a:xfrm>
            <a:off x="4576832" y="2410926"/>
            <a:ext cx="1874519" cy="347472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dirty="0">
                <a:solidFill>
                  <a:srgbClr val="1F1F1F"/>
                </a:solidFill>
                <a:latin typeface="Calibri"/>
              </a:rPr>
              <a:t>SÍ </a:t>
            </a:r>
            <a:r>
              <a:rPr lang="es-ES" sz="1200" b="1" dirty="0">
                <a:solidFill>
                  <a:srgbClr val="1F1F1F"/>
                </a:solidFill>
                <a:latin typeface="Calibri"/>
              </a:rPr>
              <a:t>-&gt;</a:t>
            </a:r>
            <a:r>
              <a:rPr sz="12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1F1F"/>
                </a:solidFill>
                <a:latin typeface="Calibri"/>
              </a:rPr>
              <a:t>Supervisado</a:t>
            </a:r>
            <a:endParaRPr sz="1200" b="1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9698069D-A25E-0823-FA9E-ADD1B942EFD3}"/>
              </a:ext>
            </a:extLst>
          </p:cNvPr>
          <p:cNvSpPr/>
          <p:nvPr/>
        </p:nvSpPr>
        <p:spPr>
          <a:xfrm>
            <a:off x="6597656" y="2410926"/>
            <a:ext cx="1874519" cy="347472"/>
          </a:xfrm>
          <a:prstGeom prst="roundRect">
            <a:avLst/>
          </a:prstGeom>
          <a:solidFill>
            <a:srgbClr val="C00530"/>
          </a:solidFill>
          <a:ln w="9525">
            <a:solidFill>
              <a:srgbClr val="C00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NO </a:t>
            </a:r>
            <a:r>
              <a:rPr lang="es-ES" sz="1200" b="1" dirty="0">
                <a:solidFill>
                  <a:srgbClr val="FFFFFF"/>
                </a:solidFill>
                <a:latin typeface="Calibri"/>
              </a:rPr>
              <a:t>-&gt;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No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supervisado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56863296-3A58-2D55-3E01-B43673E17B88}"/>
              </a:ext>
            </a:extLst>
          </p:cNvPr>
          <p:cNvSpPr/>
          <p:nvPr/>
        </p:nvSpPr>
        <p:spPr>
          <a:xfrm>
            <a:off x="5514092" y="2758398"/>
            <a:ext cx="10058" cy="128016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1D1BDC30-4348-6E2C-6490-BA0FAD3FB403}"/>
              </a:ext>
            </a:extLst>
          </p:cNvPr>
          <p:cNvSpPr/>
          <p:nvPr/>
        </p:nvSpPr>
        <p:spPr>
          <a:xfrm>
            <a:off x="7534916" y="2758398"/>
            <a:ext cx="10058" cy="128016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0ABB9686-390B-A270-C0A5-6196ECE7A493}"/>
              </a:ext>
            </a:extLst>
          </p:cNvPr>
          <p:cNvSpPr/>
          <p:nvPr/>
        </p:nvSpPr>
        <p:spPr>
          <a:xfrm>
            <a:off x="4576832" y="2886414"/>
            <a:ext cx="1874519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0">
                <a:solidFill>
                  <a:srgbClr val="6A6A6A"/>
                </a:solidFill>
                <a:latin typeface="Calibri"/>
              </a:rPr>
              <a:t>Clasificación · Regresión
Series temporales</a:t>
            </a:r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961E08F9-D27F-910C-09AE-06A709D16698}"/>
              </a:ext>
            </a:extLst>
          </p:cNvPr>
          <p:cNvSpPr/>
          <p:nvPr/>
        </p:nvSpPr>
        <p:spPr>
          <a:xfrm>
            <a:off x="6597656" y="2886414"/>
            <a:ext cx="1874519" cy="493776"/>
          </a:xfrm>
          <a:prstGeom prst="roundRect">
            <a:avLst/>
          </a:prstGeom>
          <a:solidFill>
            <a:srgbClr val="C00530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dirty="0" err="1">
                <a:solidFill>
                  <a:schemeClr val="bg1"/>
                </a:solidFill>
                <a:latin typeface="Calibri"/>
              </a:rPr>
              <a:t>Agrupamiento</a:t>
            </a:r>
            <a:r>
              <a:rPr sz="1200" b="1" dirty="0">
                <a:solidFill>
                  <a:schemeClr val="bg1"/>
                </a:solidFill>
                <a:latin typeface="Calibri"/>
              </a:rPr>
              <a:t>
</a:t>
            </a:r>
            <a:r>
              <a:rPr sz="1200" b="1" dirty="0" err="1">
                <a:solidFill>
                  <a:schemeClr val="bg1"/>
                </a:solidFill>
                <a:latin typeface="Calibri"/>
              </a:rPr>
              <a:t>Detección</a:t>
            </a:r>
            <a:r>
              <a:rPr sz="1200" b="1" dirty="0">
                <a:solidFill>
                  <a:schemeClr val="bg1"/>
                </a:solidFill>
                <a:latin typeface="Calibri"/>
              </a:rPr>
              <a:t> de </a:t>
            </a:r>
            <a:r>
              <a:rPr sz="1200" b="1" dirty="0" err="1">
                <a:solidFill>
                  <a:schemeClr val="bg1"/>
                </a:solidFill>
                <a:latin typeface="Calibri"/>
              </a:rPr>
              <a:t>anomalías</a:t>
            </a:r>
            <a:endParaRPr sz="1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E9A33DDB-05A5-CA23-B2D6-0FC5D861532D}"/>
              </a:ext>
            </a:extLst>
          </p:cNvPr>
          <p:cNvSpPr txBox="1"/>
          <p:nvPr/>
        </p:nvSpPr>
        <p:spPr>
          <a:xfrm>
            <a:off x="4576832" y="3581358"/>
            <a:ext cx="389534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6A6A6A"/>
                </a:solidFill>
                <a:latin typeface="Calibri"/>
              </a:rPr>
              <a:t>PASO 2 · ¿Qué complejidad tienen los datos?</a:t>
            </a:r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4EE2F852-B7B2-DF30-A7D2-778AAD171D1D}"/>
              </a:ext>
            </a:extLst>
          </p:cNvPr>
          <p:cNvSpPr/>
          <p:nvPr/>
        </p:nvSpPr>
        <p:spPr>
          <a:xfrm>
            <a:off x="4576832" y="3837390"/>
            <a:ext cx="3895344" cy="420624"/>
          </a:xfrm>
          <a:prstGeom prst="roundRect">
            <a:avLst/>
          </a:prstGeom>
          <a:solidFill>
            <a:srgbClr val="C00530"/>
          </a:solidFill>
          <a:ln w="9525">
            <a:solidFill>
              <a:srgbClr val="C00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Simples (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estructurados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) </a:t>
            </a:r>
            <a:r>
              <a:rPr lang="es-ES" sz="1200" b="1" dirty="0">
                <a:solidFill>
                  <a:srgbClr val="FFFFFF"/>
                </a:solidFill>
                <a:latin typeface="Calibri"/>
              </a:rPr>
              <a:t>-&gt;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Árboles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· KNN · k-means</a:t>
            </a:r>
          </a:p>
        </p:txBody>
      </p: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FED24BCC-33B5-DD59-0E28-373BACDA4EF6}"/>
              </a:ext>
            </a:extLst>
          </p:cNvPr>
          <p:cNvSpPr/>
          <p:nvPr/>
        </p:nvSpPr>
        <p:spPr>
          <a:xfrm>
            <a:off x="4576832" y="4312878"/>
            <a:ext cx="3895344" cy="420624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0" dirty="0" err="1">
                <a:solidFill>
                  <a:srgbClr val="1F1F1F"/>
                </a:solidFill>
                <a:latin typeface="Calibri"/>
              </a:rPr>
              <a:t>Intermedios</a:t>
            </a:r>
            <a:r>
              <a:rPr sz="12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s-ES" sz="1200" dirty="0">
                <a:solidFill>
                  <a:srgbClr val="1F1F1F"/>
                </a:solidFill>
              </a:rPr>
              <a:t>(más características)</a:t>
            </a:r>
            <a:r>
              <a:rPr lang="es-ES" sz="1200" dirty="0">
                <a:solidFill>
                  <a:srgbClr val="1F1F1F"/>
                </a:solidFill>
                <a:latin typeface="Calibri"/>
              </a:rPr>
              <a:t>-&gt;</a:t>
            </a:r>
          </a:p>
          <a:p>
            <a:pPr algn="ctr"/>
            <a:r>
              <a:rPr sz="1200" b="0" dirty="0">
                <a:solidFill>
                  <a:srgbClr val="1F1F1F"/>
                </a:solidFill>
                <a:latin typeface="Calibri"/>
              </a:rPr>
              <a:t>Random Forest · </a:t>
            </a:r>
            <a:r>
              <a:rPr sz="1200" b="0" dirty="0" err="1">
                <a:solidFill>
                  <a:srgbClr val="1F1F1F"/>
                </a:solidFill>
                <a:latin typeface="Calibri"/>
              </a:rPr>
              <a:t>XGBoost</a:t>
            </a:r>
            <a:r>
              <a:rPr sz="1200" b="0" dirty="0">
                <a:solidFill>
                  <a:srgbClr val="1F1F1F"/>
                </a:solidFill>
                <a:latin typeface="Calibri"/>
              </a:rPr>
              <a:t> · DBSCAN</a:t>
            </a:r>
          </a:p>
        </p:txBody>
      </p:sp>
      <p:sp>
        <p:nvSpPr>
          <p:cNvPr id="29" name="Rounded Rectangle 19">
            <a:extLst>
              <a:ext uri="{FF2B5EF4-FFF2-40B4-BE49-F238E27FC236}">
                <a16:creationId xmlns:a16="http://schemas.microsoft.com/office/drawing/2014/main" id="{46D59DEE-01BE-5735-4723-A4E8563F1EA7}"/>
              </a:ext>
            </a:extLst>
          </p:cNvPr>
          <p:cNvSpPr/>
          <p:nvPr/>
        </p:nvSpPr>
        <p:spPr>
          <a:xfrm>
            <a:off x="4576832" y="4788366"/>
            <a:ext cx="3895344" cy="420624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0" dirty="0" err="1">
                <a:solidFill>
                  <a:srgbClr val="1F1F1F"/>
                </a:solidFill>
                <a:latin typeface="Calibri"/>
              </a:rPr>
              <a:t>Complejos</a:t>
            </a:r>
            <a:r>
              <a:rPr sz="1200" b="0" dirty="0">
                <a:solidFill>
                  <a:srgbClr val="1F1F1F"/>
                </a:solidFill>
                <a:latin typeface="Calibri"/>
              </a:rPr>
              <a:t> (</a:t>
            </a:r>
            <a:r>
              <a:rPr sz="1200" b="0" dirty="0" err="1">
                <a:solidFill>
                  <a:srgbClr val="1F1F1F"/>
                </a:solidFill>
                <a:latin typeface="Calibri"/>
              </a:rPr>
              <a:t>texto</a:t>
            </a:r>
            <a:r>
              <a:rPr sz="1200" b="0" dirty="0">
                <a:solidFill>
                  <a:srgbClr val="1F1F1F"/>
                </a:solidFill>
                <a:latin typeface="Calibri"/>
              </a:rPr>
              <a:t>/imagen) </a:t>
            </a:r>
            <a:r>
              <a:rPr lang="es-ES" sz="1200" b="0" dirty="0">
                <a:solidFill>
                  <a:srgbClr val="1F1F1F"/>
                </a:solidFill>
                <a:latin typeface="Calibri"/>
              </a:rPr>
              <a:t>-&gt;</a:t>
            </a:r>
            <a:r>
              <a:rPr sz="1200" b="0" dirty="0">
                <a:solidFill>
                  <a:srgbClr val="1F1F1F"/>
                </a:solidFill>
                <a:latin typeface="Calibri"/>
              </a:rPr>
              <a:t> Redes </a:t>
            </a:r>
            <a:r>
              <a:rPr sz="1200" b="0" dirty="0" err="1">
                <a:solidFill>
                  <a:srgbClr val="1F1F1F"/>
                </a:solidFill>
                <a:latin typeface="Calibri"/>
              </a:rPr>
              <a:t>neuronales</a:t>
            </a:r>
            <a:r>
              <a:rPr sz="1200" b="0" dirty="0">
                <a:solidFill>
                  <a:srgbClr val="1F1F1F"/>
                </a:solidFill>
                <a:latin typeface="Calibri"/>
              </a:rPr>
              <a:t> · LLM</a:t>
            </a: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5B2BF73A-1615-C5BC-884A-6D86FF0366AB}"/>
              </a:ext>
            </a:extLst>
          </p:cNvPr>
          <p:cNvSpPr txBox="1"/>
          <p:nvPr/>
        </p:nvSpPr>
        <p:spPr>
          <a:xfrm>
            <a:off x="6108560" y="5267262"/>
            <a:ext cx="389534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dirty="0">
                <a:solidFill>
                  <a:srgbClr val="6A6A6A"/>
                </a:solidFill>
                <a:latin typeface="Calibri"/>
              </a:rPr>
              <a:t>En rojo, el camino </a:t>
            </a:r>
            <a:r>
              <a:rPr sz="1100" b="0" dirty="0" err="1">
                <a:solidFill>
                  <a:srgbClr val="6A6A6A"/>
                </a:solidFill>
                <a:latin typeface="Calibri"/>
              </a:rPr>
              <a:t>seguido</a:t>
            </a:r>
            <a:r>
              <a:rPr sz="1100" b="0" dirty="0">
                <a:solidFill>
                  <a:srgbClr val="6A6A6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6A6A6A"/>
                </a:solidFill>
                <a:latin typeface="Calibri"/>
              </a:rPr>
              <a:t>en</a:t>
            </a:r>
            <a:r>
              <a:rPr sz="1100" b="0" dirty="0">
                <a:solidFill>
                  <a:srgbClr val="6A6A6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6A6A6A"/>
                </a:solidFill>
                <a:latin typeface="Calibri"/>
              </a:rPr>
              <a:t>este</a:t>
            </a:r>
            <a:r>
              <a:rPr sz="1100" b="0" dirty="0">
                <a:solidFill>
                  <a:srgbClr val="6A6A6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6A6A6A"/>
                </a:solidFill>
                <a:latin typeface="Calibri"/>
              </a:rPr>
              <a:t>trabajo</a:t>
            </a:r>
            <a:endParaRPr sz="1100" b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B4FE9CB-3E43-6B09-E92A-530E95FBE289}"/>
              </a:ext>
            </a:extLst>
          </p:cNvPr>
          <p:cNvSpPr txBox="1"/>
          <p:nvPr/>
        </p:nvSpPr>
        <p:spPr>
          <a:xfrm>
            <a:off x="2483768" y="568499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latin typeface="Calibri"/>
              </a:rPr>
              <a:t>Selección -&gt; no supervisado + datos estructurados</a:t>
            </a:r>
          </a:p>
          <a:p>
            <a:r>
              <a:rPr lang="es-ES" sz="1400" b="1" dirty="0">
                <a:latin typeface="Calibri"/>
              </a:rPr>
              <a:t>	k-</a:t>
            </a:r>
            <a:r>
              <a:rPr lang="es-ES" sz="1400" b="1" dirty="0" err="1">
                <a:latin typeface="Calibri"/>
              </a:rPr>
              <a:t>means</a:t>
            </a:r>
            <a:r>
              <a:rPr lang="es-ES" sz="1400" b="1" dirty="0">
                <a:latin typeface="Calibri"/>
              </a:rPr>
              <a:t> y agrupamiento de Ward</a:t>
            </a:r>
            <a:endParaRPr lang="es-ES" sz="14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44D20-B77C-A8DD-0867-6B30FED9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>
            <a:extLst>
              <a:ext uri="{FF2B5EF4-FFF2-40B4-BE49-F238E27FC236}">
                <a16:creationId xmlns:a16="http://schemas.microsoft.com/office/drawing/2014/main" id="{89672C26-C910-3FBC-1D09-00FDF84A50AD}"/>
              </a:ext>
            </a:extLst>
          </p:cNvPr>
          <p:cNvSpPr txBox="1"/>
          <p:nvPr/>
        </p:nvSpPr>
        <p:spPr>
          <a:xfrm>
            <a:off x="0" y="3458938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METODOLOGÍA</a:t>
            </a:r>
          </a:p>
        </p:txBody>
      </p:sp>
      <p:pic>
        <p:nvPicPr>
          <p:cNvPr id="8" name="Picture 7" descr="1789408462696_image.png">
            <a:extLst>
              <a:ext uri="{FF2B5EF4-FFF2-40B4-BE49-F238E27FC236}">
                <a16:creationId xmlns:a16="http://schemas.microsoft.com/office/drawing/2014/main" id="{6834993D-68EE-BCFD-2C7A-0F41BD58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97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Caso de estudio I · Los conjuntos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830618"/>
              </p:ext>
            </p:extLst>
          </p:nvPr>
        </p:nvGraphicFramePr>
        <p:xfrm>
          <a:off x="566928" y="1544895"/>
          <a:ext cx="8010144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9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Conjunto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Cobertura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Uso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Calidad del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aire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(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diario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2019-2025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Isla de calor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Meteorología (diario)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2019-2025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Isla de calor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Masas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arbóreas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por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distrito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2019-2025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Isla de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calor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Aforos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de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peatones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y 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de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bicicletas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2019-2024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Movilidad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Estaciones de control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único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Georreferencia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Distritos (shapefile)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único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Cartografía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7475" y="4313397"/>
            <a:ext cx="8010144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Portal de Datos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Abiertos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del Ayuntamiento de Madrid 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-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licencia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CC BY 4.0 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-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272 MB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la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capa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bronce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 - </a:t>
            </a:r>
            <a:r>
              <a:rPr lang="es-ES" sz="1600" b="0" dirty="0">
                <a:solidFill>
                  <a:srgbClr val="1F1F1F"/>
                </a:solidFill>
                <a:latin typeface="Calibri"/>
                <a:hlinkClick r:id="rId4"/>
              </a:rPr>
              <a:t>https://datos.madrid.es/portal/site/egob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 - API de CKAN</a:t>
            </a:r>
            <a:endParaRPr sz="1600" b="0" dirty="0">
              <a:solidFill>
                <a:srgbClr val="1F1F1F"/>
              </a:solidFill>
              <a:latin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2EED9E0-1AD6-2714-184E-9A17BC44B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26" y="5152074"/>
            <a:ext cx="6444208" cy="1157286"/>
          </a:xfrm>
          <a:prstGeom prst="rect">
            <a:avLst/>
          </a:prstGeom>
          <a:effectLst>
            <a:softEdge rad="254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Caso de estudio II · Aproximaciones y criterios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8010144" cy="33547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lang="es-ES" sz="1700" b="1" dirty="0">
                <a:solidFill>
                  <a:srgbClr val="1F1F1F"/>
                </a:solidFill>
                <a:latin typeface="Calibri"/>
              </a:rPr>
              <a:t>“Madrid, isla de calor” – Dos modos de analizarlo:</a:t>
            </a:r>
            <a:endParaRPr lang="en-US" sz="1700" b="1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Cinco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aproximaciones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replicadas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del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trabajo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original</a:t>
            </a: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 Las siete magnitudes · Temp.+humedad · Temp.+arbolado · NO₂ · NO₂+partículas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Dos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aproximaciones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propias</a:t>
            </a:r>
            <a:endParaRPr sz="17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Temperatura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+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altitud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la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estación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Temperatura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+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superficie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arbórea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relativa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al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área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del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distrito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Criterio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propio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s</a:t>
            </a:r>
            <a:endParaRPr sz="17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800"/>
              </a:spcAft>
            </a:pPr>
            <a:r>
              <a:rPr lang="es-ES" sz="1400" dirty="0">
                <a:solidFill>
                  <a:srgbClr val="5A5A5A"/>
                </a:solidFill>
                <a:latin typeface="Calibri"/>
              </a:rPr>
              <a:t>- C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obertura mínima: 300 días válidos por estación y año</a:t>
            </a: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 Inclusión de distritos sin arbolado</a:t>
            </a: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 Validación con el coeficiente de silueta (aparte de</a:t>
            </a:r>
            <a:r>
              <a:rPr lang="es-ES" sz="1400" dirty="0">
                <a:solidFill>
                  <a:srgbClr val="5A5A5A"/>
                </a:solidFill>
                <a:latin typeface="Calibri"/>
              </a:rPr>
              <a:t>l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 método del codo)</a:t>
            </a:r>
            <a:endParaRPr sz="1400" b="0" dirty="0">
              <a:solidFill>
                <a:srgbClr val="5A5A5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Marco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metodológico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8760" y="1534562"/>
            <a:ext cx="4137256" cy="185178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lang="es-ES" sz="1600" b="1" dirty="0">
                <a:solidFill>
                  <a:srgbClr val="1F1F1F"/>
                </a:solidFill>
                <a:latin typeface="Calibri"/>
              </a:rPr>
              <a:t>Bases en m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arcos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consolidados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:</a:t>
            </a:r>
            <a:endParaRPr lang="es-ES" sz="1600" b="1" dirty="0">
              <a:solidFill>
                <a:srgbClr val="1F1F1F"/>
              </a:solidFill>
              <a:latin typeface="Calibri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1F1F1F"/>
                </a:solidFill>
              </a:rPr>
              <a:t>Gobernanza en tres capas (OECD)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1F1F1F"/>
                </a:solidFill>
                <a:latin typeface="Calibri"/>
              </a:rPr>
              <a:t>A</a:t>
            </a:r>
            <a:r>
              <a:rPr sz="1400" b="1" dirty="0" err="1">
                <a:solidFill>
                  <a:srgbClr val="1F1F1F"/>
                </a:solidFill>
                <a:latin typeface="Calibri"/>
              </a:rPr>
              <a:t>rquitectura</a:t>
            </a:r>
            <a:r>
              <a:rPr sz="1400" b="1" dirty="0">
                <a:solidFill>
                  <a:srgbClr val="1F1F1F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1F1F1F"/>
                </a:solidFill>
                <a:latin typeface="Calibri"/>
              </a:rPr>
              <a:t>medalla</a:t>
            </a:r>
            <a:endParaRPr lang="es-ES" sz="1400" b="1" dirty="0">
              <a:solidFill>
                <a:srgbClr val="1F1F1F"/>
              </a:solidFill>
              <a:latin typeface="Calibri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dirty="0" err="1">
                <a:solidFill>
                  <a:srgbClr val="1F1F1F"/>
                </a:solidFill>
                <a:latin typeface="Calibri"/>
              </a:rPr>
              <a:t>MLOps</a:t>
            </a:r>
            <a:r>
              <a:rPr sz="1400" b="1" dirty="0">
                <a:solidFill>
                  <a:srgbClr val="1F1F1F"/>
                </a:solidFill>
                <a:latin typeface="Calibri"/>
              </a:rPr>
              <a:t> </a:t>
            </a:r>
            <a:endParaRPr lang="es-ES" sz="1400" b="1" dirty="0">
              <a:solidFill>
                <a:srgbClr val="1F1F1F"/>
              </a:solidFill>
              <a:latin typeface="Calibri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Calibri"/>
              </a:rPr>
              <a:t>B</a:t>
            </a:r>
            <a:r>
              <a:rPr lang="es-ES" sz="1400" b="1" dirty="0" err="1">
                <a:solidFill>
                  <a:srgbClr val="1F1F1F"/>
                </a:solidFill>
                <a:latin typeface="Calibri"/>
              </a:rPr>
              <a:t>uenas</a:t>
            </a:r>
            <a:r>
              <a:rPr lang="es-ES" sz="1400" b="1" dirty="0">
                <a:solidFill>
                  <a:srgbClr val="1F1F1F"/>
                </a:solidFill>
                <a:latin typeface="Calibri"/>
              </a:rPr>
              <a:t> prácticas </a:t>
            </a:r>
            <a:r>
              <a:rPr sz="1400" b="1" dirty="0">
                <a:solidFill>
                  <a:srgbClr val="1F1F1F"/>
                </a:solidFill>
                <a:latin typeface="Calibri"/>
              </a:rPr>
              <a:t>de AWS y GCP</a:t>
            </a:r>
            <a:endParaRPr lang="es-ES" sz="1400" b="1" dirty="0">
              <a:solidFill>
                <a:srgbClr val="1F1F1F"/>
              </a:solidFill>
              <a:latin typeface="Calibri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Calibri"/>
              </a:rPr>
              <a:t>M</a:t>
            </a:r>
            <a:r>
              <a:rPr sz="1400" b="1" dirty="0">
                <a:solidFill>
                  <a:srgbClr val="1F1F1F"/>
                </a:solidFill>
                <a:latin typeface="Calibri"/>
              </a:rPr>
              <a:t>arco </a:t>
            </a:r>
            <a:r>
              <a:rPr sz="1400" b="1" dirty="0" err="1">
                <a:solidFill>
                  <a:srgbClr val="1F1F1F"/>
                </a:solidFill>
                <a:latin typeface="Calibri"/>
              </a:rPr>
              <a:t>normativo</a:t>
            </a:r>
            <a:r>
              <a:rPr sz="14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F1F1F"/>
                </a:solidFill>
                <a:latin typeface="Calibri"/>
              </a:rPr>
              <a:t>europeo</a:t>
            </a:r>
            <a:endParaRPr sz="1400" b="1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0695" y="3812367"/>
            <a:ext cx="8010144" cy="188000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lang="es-ES" sz="1700" b="1" dirty="0">
                <a:solidFill>
                  <a:srgbClr val="1F1F1F"/>
                </a:solidFill>
                <a:latin typeface="Calibri"/>
              </a:rPr>
              <a:t>Cinco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principios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:</a:t>
            </a: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1.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Portabilida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d y abstracción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2.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Configuración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declarativ</a:t>
            </a:r>
            <a:r>
              <a:rPr lang="en-US" sz="1400" b="0" dirty="0" err="1">
                <a:solidFill>
                  <a:srgbClr val="5A5A5A"/>
                </a:solidFill>
                <a:latin typeface="Calibri"/>
              </a:rPr>
              <a:t>a</a:t>
            </a:r>
            <a:r>
              <a:rPr lang="en-US"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lang="en-US" sz="1400" b="0" dirty="0" err="1">
                <a:solidFill>
                  <a:srgbClr val="5A5A5A"/>
                </a:solidFill>
                <a:latin typeface="Calibri"/>
              </a:rPr>
              <a:t>por</a:t>
            </a:r>
            <a:r>
              <a:rPr lang="en-US"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lang="en-US" sz="1400" b="0" dirty="0" err="1">
                <a:solidFill>
                  <a:srgbClr val="5A5A5A"/>
                </a:solidFill>
                <a:latin typeface="Calibri"/>
              </a:rPr>
              <a:t>patrón</a:t>
            </a:r>
            <a:r>
              <a:rPr lang="en-US" sz="1400" b="0" dirty="0">
                <a:solidFill>
                  <a:srgbClr val="5A5A5A"/>
                </a:solidFill>
                <a:latin typeface="Calibri"/>
              </a:rPr>
              <a:t> de </a:t>
            </a:r>
            <a:r>
              <a:rPr lang="en-US" sz="1400" b="0" dirty="0" err="1">
                <a:solidFill>
                  <a:srgbClr val="5A5A5A"/>
                </a:solidFill>
                <a:latin typeface="Calibri"/>
              </a:rPr>
              <a:t>fichero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3.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Replicar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antes de extender</a:t>
            </a: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4. Ingesta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como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auditoría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5. Coste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nulo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como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restricción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diseño</a:t>
            </a:r>
            <a:endParaRPr sz="1400" b="0" dirty="0">
              <a:solidFill>
                <a:srgbClr val="5A5A5A"/>
              </a:solidFill>
              <a:latin typeface="Calibri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560BC75-66FC-4604-1C71-E77E3CC62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4146915"/>
            <a:ext cx="2924952" cy="121090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7010744-25BD-8FB9-0D31-5CFF3E389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968" y="932687"/>
            <a:ext cx="4392488" cy="23320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2500" b="1" dirty="0">
                <a:solidFill>
                  <a:srgbClr val="C00530"/>
                </a:solidFill>
                <a:latin typeface="Calibri"/>
              </a:rPr>
              <a:t>Arquitectura de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l pipeline: cuatro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ficheros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555075"/>
              </p:ext>
            </p:extLst>
          </p:nvPr>
        </p:nvGraphicFramePr>
        <p:xfrm>
          <a:off x="2555776" y="1668780"/>
          <a:ext cx="6021298" cy="1874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8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Fichero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Salida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config.py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Parametrización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01_descarga.py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Ingesta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vía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API CKAN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Capa bronce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02_limpieza.py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Normalización y limpieza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Capa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plata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03_analisis_isla_calor.py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Análisis y modelado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Resultados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99792" y="3853775"/>
            <a:ext cx="5877280" cy="204158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lang="es-ES" sz="1600" dirty="0">
                <a:solidFill>
                  <a:srgbClr val="1F1F1F"/>
                </a:solidFill>
              </a:rPr>
              <a:t>Incorporar una fuente nueva que encaje solo implica añadir una entrada más.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lang="es-ES" sz="1600" dirty="0">
                <a:solidFill>
                  <a:srgbClr val="1F1F1F"/>
                </a:solidFill>
              </a:rPr>
              <a:t>Los siete conjuntos se reducen a </a:t>
            </a:r>
            <a:r>
              <a:rPr lang="es-ES" sz="1600" b="1" dirty="0">
                <a:solidFill>
                  <a:srgbClr val="1F1F1F"/>
                </a:solidFill>
              </a:rPr>
              <a:t>cuatro patrones </a:t>
            </a:r>
            <a:r>
              <a:rPr lang="es-ES" sz="1600" dirty="0">
                <a:solidFill>
                  <a:srgbClr val="1F1F1F"/>
                </a:solidFill>
              </a:rPr>
              <a:t>de limpieza, declarados en `config.py`:  </a:t>
            </a:r>
            <a:r>
              <a:rPr lang="en-US" sz="1400" dirty="0"/>
              <a:t>series </a:t>
            </a:r>
            <a:r>
              <a:rPr lang="en-US" sz="1400" dirty="0" err="1"/>
              <a:t>mensuales</a:t>
            </a:r>
            <a:r>
              <a:rPr lang="en-US" sz="1400" dirty="0"/>
              <a:t> con columnas de </a:t>
            </a:r>
            <a:r>
              <a:rPr lang="en-US" sz="1400" dirty="0" err="1"/>
              <a:t>validación</a:t>
            </a:r>
            <a:r>
              <a:rPr lang="en-US" sz="1400" dirty="0"/>
              <a:t>, </a:t>
            </a:r>
            <a:r>
              <a:rPr lang="en-US" sz="1400" dirty="0" err="1"/>
              <a:t>aforos</a:t>
            </a:r>
            <a:r>
              <a:rPr lang="en-US" sz="1400" dirty="0"/>
              <a:t> </a:t>
            </a:r>
            <a:r>
              <a:rPr lang="en-US" sz="1400" dirty="0" err="1"/>
              <a:t>horarios</a:t>
            </a:r>
            <a:r>
              <a:rPr lang="en-US" sz="1400" dirty="0"/>
              <a:t>, </a:t>
            </a:r>
            <a:r>
              <a:rPr lang="en-US" sz="1400" dirty="0" err="1"/>
              <a:t>tablas</a:t>
            </a:r>
            <a:r>
              <a:rPr lang="en-US" sz="1400" dirty="0"/>
              <a:t> </a:t>
            </a:r>
            <a:r>
              <a:rPr lang="en-US" sz="1400" dirty="0" err="1"/>
              <a:t>anuales</a:t>
            </a:r>
            <a:r>
              <a:rPr lang="en-US" sz="1400" dirty="0"/>
              <a:t> y </a:t>
            </a:r>
            <a:r>
              <a:rPr lang="en-US" sz="1400" dirty="0" err="1"/>
              <a:t>ficheros</a:t>
            </a:r>
            <a:r>
              <a:rPr lang="en-US" sz="1400" dirty="0"/>
              <a:t> con </a:t>
            </a:r>
            <a:r>
              <a:rPr lang="en-US" sz="1400" dirty="0" err="1"/>
              <a:t>datos</a:t>
            </a:r>
            <a:r>
              <a:rPr lang="en-US" sz="1400" dirty="0"/>
              <a:t> </a:t>
            </a:r>
            <a:r>
              <a:rPr lang="en-US" sz="1400" dirty="0" err="1"/>
              <a:t>únicos</a:t>
            </a:r>
            <a:endParaRPr lang="es-ES" sz="1400" dirty="0">
              <a:solidFill>
                <a:srgbClr val="1F1F1F"/>
              </a:solidFill>
            </a:endParaRPr>
          </a:p>
          <a:p>
            <a:pPr>
              <a:spcAft>
                <a:spcPts val="1000"/>
              </a:spcAft>
            </a:pPr>
            <a:r>
              <a:rPr lang="es-ES" sz="1600" b="0" dirty="0">
                <a:solidFill>
                  <a:srgbClr val="1F1F1F"/>
                </a:solidFill>
                <a:latin typeface="Calibri"/>
              </a:rPr>
              <a:t>• El proceso es idempotente y registra metadatos con la procedencia, licencia y fecha de cada fichero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6407838-801A-2BB8-7878-6566E7E573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12151"/>
            <a:ext cx="1440160" cy="46972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937F6-CC52-F1EC-3741-B1E2D5D87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>
            <a:extLst>
              <a:ext uri="{FF2B5EF4-FFF2-40B4-BE49-F238E27FC236}">
                <a16:creationId xmlns:a16="http://schemas.microsoft.com/office/drawing/2014/main" id="{BB90052F-3022-1682-A679-DB88517A734A}"/>
              </a:ext>
            </a:extLst>
          </p:cNvPr>
          <p:cNvSpPr txBox="1"/>
          <p:nvPr/>
        </p:nvSpPr>
        <p:spPr>
          <a:xfrm>
            <a:off x="-180528" y="34290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Resultados · Datos</a:t>
            </a:r>
          </a:p>
        </p:txBody>
      </p:sp>
      <p:pic>
        <p:nvPicPr>
          <p:cNvPr id="8" name="Picture 7" descr="1789408462696_image.png">
            <a:extLst>
              <a:ext uri="{FF2B5EF4-FFF2-40B4-BE49-F238E27FC236}">
                <a16:creationId xmlns:a16="http://schemas.microsoft.com/office/drawing/2014/main" id="{FF18B798-167F-1997-2A9D-C71CCFDE3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22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Lo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que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aparece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al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automatizar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siete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años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384195"/>
              </p:ext>
            </p:extLst>
          </p:nvPr>
        </p:nvGraphicFramePr>
        <p:xfrm>
          <a:off x="566928" y="1783080"/>
          <a:ext cx="8010144" cy="29501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776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Problema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Manifestación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¿Documentado?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Nomenclatura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nombres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lang="es-ES"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diferentes 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para</a:t>
                      </a:r>
                      <a:r>
                        <a:rPr lang="es-ES"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el mismo campo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Unidades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2019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en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m²,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desde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2020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en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m² y ha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Formato numérico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Separador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de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millar</a:t>
                      </a:r>
                      <a:r>
                        <a:rPr lang="es-ES"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(español)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desde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2022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Semántica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Masa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forestal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lang="es-ES"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-&gt;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masa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arbórea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Entidades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Distritos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escritos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distinto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en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un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mismo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fichero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Continuidad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Hueco de 14 meses</a:t>
                      </a:r>
                      <a:r>
                        <a:rPr lang="es-ES"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en aforos*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;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diciembre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2024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ausente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Estaciones sin todos los sensores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En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comentarios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72" y="1794462"/>
            <a:ext cx="3672408" cy="386772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La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caída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de 2021-2022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afecta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principalmente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a la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subred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municipal (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códigos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&gt; 100)</a:t>
            </a:r>
            <a:endParaRPr lang="es-ES"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sz="8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Coincide con el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hueco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de 14 meses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los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aforos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 de peatones (</a:t>
            </a:r>
            <a:r>
              <a:rPr lang="en-US" sz="1600" dirty="0" err="1"/>
              <a:t>julio</a:t>
            </a:r>
            <a:r>
              <a:rPr lang="en-US" sz="1600" dirty="0"/>
              <a:t> 2021 a </a:t>
            </a:r>
            <a:r>
              <a:rPr lang="en-US" sz="1600" dirty="0" err="1"/>
              <a:t>agosto</a:t>
            </a:r>
            <a:r>
              <a:rPr lang="en-US" sz="1600" dirty="0"/>
              <a:t> 2022)</a:t>
            </a:r>
          </a:p>
          <a:p>
            <a:pPr>
              <a:spcAft>
                <a:spcPts val="800"/>
              </a:spcAft>
            </a:pPr>
            <a:endParaRPr sz="8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Diciembre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de 2024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falta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toda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la re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d</a:t>
            </a:r>
          </a:p>
          <a:p>
            <a:pPr>
              <a:spcAft>
                <a:spcPts val="800"/>
              </a:spcAft>
            </a:pPr>
            <a:endParaRPr lang="es-ES" sz="8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F1F1F"/>
                </a:solidFill>
              </a:rPr>
              <a:t>• </a:t>
            </a:r>
            <a:r>
              <a:rPr lang="en-US" sz="1600" dirty="0" err="1">
                <a:solidFill>
                  <a:srgbClr val="1F1F1F"/>
                </a:solidFill>
              </a:rPr>
              <a:t>Estaciones</a:t>
            </a:r>
            <a:r>
              <a:rPr lang="en-US" sz="1600" dirty="0">
                <a:solidFill>
                  <a:srgbClr val="1F1F1F"/>
                </a:solidFill>
              </a:rPr>
              <a:t> 16 y 39 </a:t>
            </a:r>
            <a:r>
              <a:rPr lang="en-US" sz="1600" dirty="0" err="1">
                <a:solidFill>
                  <a:srgbClr val="1F1F1F"/>
                </a:solidFill>
              </a:rPr>
              <a:t>comenzaron</a:t>
            </a:r>
            <a:r>
              <a:rPr lang="en-US" sz="1600" dirty="0">
                <a:solidFill>
                  <a:srgbClr val="1F1F1F"/>
                </a:solidFill>
              </a:rPr>
              <a:t> </a:t>
            </a:r>
            <a:r>
              <a:rPr lang="en-US" sz="1600" dirty="0" err="1">
                <a:solidFill>
                  <a:srgbClr val="1F1F1F"/>
                </a:solidFill>
              </a:rPr>
              <a:t>en</a:t>
            </a:r>
            <a:r>
              <a:rPr lang="en-US" sz="1600" dirty="0">
                <a:solidFill>
                  <a:srgbClr val="1F1F1F"/>
                </a:solidFill>
              </a:rPr>
              <a:t> 2022</a:t>
            </a:r>
          </a:p>
          <a:p>
            <a:pPr>
              <a:spcAft>
                <a:spcPts val="800"/>
              </a:spcAft>
            </a:pPr>
            <a:endParaRPr lang="en-US" sz="800" dirty="0">
              <a:solidFill>
                <a:srgbClr val="1F1F1F"/>
              </a:solidFill>
            </a:endParaRPr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F1F1F"/>
                </a:solidFill>
              </a:rPr>
              <a:t>• La 104 </a:t>
            </a:r>
            <a:r>
              <a:rPr lang="en-US" sz="1600" dirty="0" err="1">
                <a:solidFill>
                  <a:srgbClr val="1F1F1F"/>
                </a:solidFill>
              </a:rPr>
              <a:t>mide</a:t>
            </a:r>
            <a:r>
              <a:rPr lang="en-US" sz="1600" dirty="0">
                <a:solidFill>
                  <a:srgbClr val="1F1F1F"/>
                </a:solidFill>
              </a:rPr>
              <a:t> temperature </a:t>
            </a:r>
            <a:r>
              <a:rPr lang="en-US" sz="1600" dirty="0" err="1">
                <a:solidFill>
                  <a:srgbClr val="1F1F1F"/>
                </a:solidFill>
              </a:rPr>
              <a:t>en</a:t>
            </a:r>
            <a:r>
              <a:rPr lang="en-US" sz="1600" dirty="0">
                <a:solidFill>
                  <a:srgbClr val="1F1F1F"/>
                </a:solidFill>
              </a:rPr>
              <a:t> 2019 </a:t>
            </a:r>
            <a:r>
              <a:rPr lang="en-US" sz="1600" dirty="0" err="1">
                <a:solidFill>
                  <a:srgbClr val="1F1F1F"/>
                </a:solidFill>
              </a:rPr>
              <a:t>aunque</a:t>
            </a:r>
            <a:r>
              <a:rPr lang="en-US" sz="1600" dirty="0">
                <a:solidFill>
                  <a:srgbClr val="1F1F1F"/>
                </a:solidFill>
              </a:rPr>
              <a:t> el </a:t>
            </a:r>
            <a:r>
              <a:rPr lang="en-US" sz="1600" dirty="0" err="1">
                <a:solidFill>
                  <a:srgbClr val="1F1F1F"/>
                </a:solidFill>
              </a:rPr>
              <a:t>inventario</a:t>
            </a:r>
            <a:r>
              <a:rPr lang="en-US" sz="1600" dirty="0">
                <a:solidFill>
                  <a:srgbClr val="1F1F1F"/>
                </a:solidFill>
              </a:rPr>
              <a:t> </a:t>
            </a:r>
            <a:r>
              <a:rPr lang="en-US" sz="1600" dirty="0" err="1">
                <a:solidFill>
                  <a:srgbClr val="1F1F1F"/>
                </a:solidFill>
              </a:rPr>
              <a:t>diga</a:t>
            </a:r>
            <a:r>
              <a:rPr lang="en-US" sz="1600" dirty="0">
                <a:solidFill>
                  <a:srgbClr val="1F1F1F"/>
                </a:solidFill>
              </a:rPr>
              <a:t> </a:t>
            </a:r>
            <a:r>
              <a:rPr lang="en-US" sz="1600" dirty="0" err="1">
                <a:solidFill>
                  <a:srgbClr val="1F1F1F"/>
                </a:solidFill>
              </a:rPr>
              <a:t>que</a:t>
            </a:r>
            <a:r>
              <a:rPr lang="en-US" sz="1600" dirty="0">
                <a:solidFill>
                  <a:srgbClr val="1F1F1F"/>
                </a:solidFill>
              </a:rPr>
              <a:t> no </a:t>
            </a:r>
            <a:r>
              <a:rPr lang="en-US" sz="1600" dirty="0" err="1">
                <a:solidFill>
                  <a:srgbClr val="1F1F1F"/>
                </a:solidFill>
              </a:rPr>
              <a:t>tiene</a:t>
            </a:r>
            <a:r>
              <a:rPr lang="en-US" sz="1600" dirty="0">
                <a:solidFill>
                  <a:srgbClr val="1F1F1F"/>
                </a:solidFill>
              </a:rPr>
              <a:t> sensor.</a:t>
            </a:r>
            <a:endParaRPr sz="1600" b="0" dirty="0">
              <a:solidFill>
                <a:srgbClr val="1F1F1F"/>
              </a:solidFill>
              <a:latin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915680A-D794-19C8-B3E4-939E53608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91" y="783361"/>
            <a:ext cx="4629869" cy="5291278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C99FBAF6-25AC-D6CB-87B6-CE520B5F9F88}"/>
              </a:ext>
            </a:extLst>
          </p:cNvPr>
          <p:cNvSpPr txBox="1"/>
          <p:nvPr/>
        </p:nvSpPr>
        <p:spPr>
          <a:xfrm>
            <a:off x="5364088" y="766761"/>
            <a:ext cx="3212984" cy="86177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2500" b="1" dirty="0">
                <a:solidFill>
                  <a:srgbClr val="C00530"/>
                </a:solidFill>
                <a:latin typeface="Calibri"/>
              </a:rPr>
              <a:t>La </a:t>
            </a:r>
            <a:r>
              <a:rPr lang="en-US" sz="2500" b="1" dirty="0" err="1">
                <a:solidFill>
                  <a:srgbClr val="C00530"/>
                </a:solidFill>
                <a:latin typeface="Calibri"/>
              </a:rPr>
              <a:t>degradación</a:t>
            </a:r>
            <a:r>
              <a:rPr lang="en-US" sz="2500" b="1" dirty="0">
                <a:solidFill>
                  <a:srgbClr val="C00530"/>
                </a:solidFill>
                <a:latin typeface="Calibri"/>
              </a:rPr>
              <a:t> de la red de </a:t>
            </a:r>
            <a:r>
              <a:rPr lang="en-US" sz="2500" b="1" dirty="0" err="1">
                <a:solidFill>
                  <a:srgbClr val="C00530"/>
                </a:solidFill>
                <a:latin typeface="Calibri"/>
              </a:rPr>
              <a:t>sensores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E4F27-25B0-FFF6-B61C-9E71C2E8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>
            <a:extLst>
              <a:ext uri="{FF2B5EF4-FFF2-40B4-BE49-F238E27FC236}">
                <a16:creationId xmlns:a16="http://schemas.microsoft.com/office/drawing/2014/main" id="{2E29C2C4-7969-488D-7F7A-C8F28A2665D5}"/>
              </a:ext>
            </a:extLst>
          </p:cNvPr>
          <p:cNvSpPr txBox="1"/>
          <p:nvPr/>
        </p:nvSpPr>
        <p:spPr>
          <a:xfrm>
            <a:off x="-180528" y="34290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Resultados · Nube</a:t>
            </a:r>
          </a:p>
        </p:txBody>
      </p:sp>
      <p:pic>
        <p:nvPicPr>
          <p:cNvPr id="8" name="Picture 7" descr="1789408462696_image.png">
            <a:extLst>
              <a:ext uri="{FF2B5EF4-FFF2-40B4-BE49-F238E27FC236}">
                <a16:creationId xmlns:a16="http://schemas.microsoft.com/office/drawing/2014/main" id="{333D29BE-E8A6-EF3D-697F-88B8D696C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28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86177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 err="1">
                <a:solidFill>
                  <a:srgbClr val="C00530"/>
                </a:solidFill>
                <a:latin typeface="Calibri"/>
              </a:rPr>
              <a:t>Reproducibilidad</a:t>
            </a:r>
            <a:r>
              <a:rPr lang="es-ES" sz="2500" b="1" dirty="0">
                <a:solidFill>
                  <a:srgbClr val="C00530"/>
                </a:solidFill>
                <a:latin typeface="Calibri"/>
              </a:rPr>
              <a:t>,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coste</a:t>
            </a:r>
            <a:r>
              <a:rPr lang="es-ES" sz="2500" b="1" dirty="0">
                <a:solidFill>
                  <a:srgbClr val="C00530"/>
                </a:solidFill>
              </a:rPr>
              <a:t> y esfuerzo por etapa y entorno</a:t>
            </a:r>
          </a:p>
          <a:p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68144" y="1784140"/>
            <a:ext cx="2952328" cy="13029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b="1" dirty="0" err="1">
                <a:solidFill>
                  <a:srgbClr val="C00530"/>
                </a:solidFill>
                <a:latin typeface="Calibri"/>
              </a:rPr>
              <a:t>Resultados</a:t>
            </a:r>
            <a:r>
              <a:rPr b="1" dirty="0">
                <a:solidFill>
                  <a:srgbClr val="C00530"/>
                </a:solidFill>
                <a:latin typeface="Calibri"/>
              </a:rPr>
              <a:t> </a:t>
            </a:r>
            <a:r>
              <a:rPr b="1" dirty="0" err="1">
                <a:solidFill>
                  <a:srgbClr val="C00530"/>
                </a:solidFill>
                <a:latin typeface="Calibri"/>
              </a:rPr>
              <a:t>idénticos</a:t>
            </a:r>
            <a:r>
              <a:rPr b="1" dirty="0">
                <a:solidFill>
                  <a:srgbClr val="C00530"/>
                </a:solidFill>
                <a:latin typeface="Calibri"/>
              </a:rPr>
              <a:t> </a:t>
            </a:r>
            <a:r>
              <a:rPr b="1" dirty="0" err="1">
                <a:solidFill>
                  <a:srgbClr val="C00530"/>
                </a:solidFill>
                <a:latin typeface="Calibri"/>
              </a:rPr>
              <a:t>en</a:t>
            </a:r>
            <a:r>
              <a:rPr b="1" dirty="0">
                <a:solidFill>
                  <a:srgbClr val="C00530"/>
                </a:solidFill>
                <a:latin typeface="Calibri"/>
              </a:rPr>
              <a:t> local, AWS y GCP</a:t>
            </a:r>
            <a:r>
              <a:rPr lang="es-ES" b="1" dirty="0">
                <a:solidFill>
                  <a:srgbClr val="C00530"/>
                </a:solidFill>
                <a:latin typeface="Calibri"/>
              </a:rPr>
              <a:t> </a:t>
            </a:r>
          </a:p>
          <a:p>
            <a:pPr algn="ctr">
              <a:spcAft>
                <a:spcPts val="800"/>
              </a:spcAft>
            </a:pPr>
            <a:r>
              <a:rPr b="1" dirty="0">
                <a:solidFill>
                  <a:srgbClr val="C00530"/>
                </a:solidFill>
                <a:latin typeface="Calibri"/>
              </a:rPr>
              <a:t>Coste bruto 0,93 $ · 15,16 $   </a:t>
            </a:r>
            <a:r>
              <a:rPr lang="es-ES" b="1" dirty="0">
                <a:solidFill>
                  <a:srgbClr val="C00530"/>
                </a:solidFill>
                <a:latin typeface="Calibri"/>
              </a:rPr>
              <a:t>-&gt;</a:t>
            </a:r>
            <a:r>
              <a:rPr b="1" dirty="0">
                <a:solidFill>
                  <a:srgbClr val="C00530"/>
                </a:solidFill>
                <a:latin typeface="Calibri"/>
              </a:rPr>
              <a:t>   coste neto 0 $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806603"/>
              </p:ext>
            </p:extLst>
          </p:nvPr>
        </p:nvGraphicFramePr>
        <p:xfrm>
          <a:off x="504335" y="1678334"/>
          <a:ext cx="5120410" cy="15145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9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907">
                <a:tc>
                  <a:txBody>
                    <a:bodyPr/>
                    <a:lstStyle/>
                    <a:p>
                      <a:pPr algn="l"/>
                      <a:r>
                        <a:rPr lang="es-E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Apartado en la nube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AWS (USD)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GCP (USD)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907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Almacenamiento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0,021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$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0,000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+mn-lt"/>
                        </a:rPr>
                        <a:t> $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907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Procesamiento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ETL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0,011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+mn-lt"/>
                        </a:rPr>
                        <a:t> $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0,046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+mn-lt"/>
                        </a:rPr>
                        <a:t> $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907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Análisis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interactivo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0,811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+mn-lt"/>
                        </a:rPr>
                        <a:t> $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14,848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+mn-lt"/>
                        </a:rPr>
                        <a:t> $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90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Infraestructura y otros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0,083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+mn-lt"/>
                        </a:rPr>
                        <a:t> $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0,265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+mn-lt"/>
                        </a:rPr>
                        <a:t> $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989B0A7-DF22-15A0-DE0C-371E70320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043386"/>
              </p:ext>
            </p:extLst>
          </p:nvPr>
        </p:nvGraphicFramePr>
        <p:xfrm>
          <a:off x="504335" y="3650441"/>
          <a:ext cx="4355698" cy="1794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3786">
                  <a:extLst>
                    <a:ext uri="{9D8B030D-6E8A-4147-A177-3AD203B41FA5}">
                      <a16:colId xmlns:a16="http://schemas.microsoft.com/office/drawing/2014/main" val="1909150866"/>
                    </a:ext>
                  </a:extLst>
                </a:gridCol>
                <a:gridCol w="1037954">
                  <a:extLst>
                    <a:ext uri="{9D8B030D-6E8A-4147-A177-3AD203B41FA5}">
                      <a16:colId xmlns:a16="http://schemas.microsoft.com/office/drawing/2014/main" val="4199601216"/>
                    </a:ext>
                  </a:extLst>
                </a:gridCol>
                <a:gridCol w="843338">
                  <a:extLst>
                    <a:ext uri="{9D8B030D-6E8A-4147-A177-3AD203B41FA5}">
                      <a16:colId xmlns:a16="http://schemas.microsoft.com/office/drawing/2014/main" val="2333872961"/>
                    </a:ext>
                  </a:extLst>
                </a:gridCol>
                <a:gridCol w="950620">
                  <a:extLst>
                    <a:ext uri="{9D8B030D-6E8A-4147-A177-3AD203B41FA5}">
                      <a16:colId xmlns:a16="http://schemas.microsoft.com/office/drawing/2014/main" val="2111500480"/>
                    </a:ext>
                  </a:extLst>
                </a:gridCol>
              </a:tblGrid>
              <a:tr h="299130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AWS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GCP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663616"/>
                  </a:ext>
                </a:extLst>
              </a:tr>
              <a:tr h="299130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Configuración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5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8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2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415176"/>
                  </a:ext>
                </a:extLst>
              </a:tr>
              <a:tr h="29913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Ingesta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10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5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1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920285"/>
                  </a:ext>
                </a:extLst>
              </a:tr>
              <a:tr h="29913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Limpieza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20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10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321517"/>
                  </a:ext>
                </a:extLst>
              </a:tr>
              <a:tr h="29913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Análisis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35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5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5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30179"/>
                  </a:ext>
                </a:extLst>
              </a:tr>
              <a:tr h="29913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70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21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F1F1F"/>
                          </a:solidFill>
                          <a:latin typeface="Calibri"/>
                        </a:rPr>
                        <a:t>18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654600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23CC5798-8A1B-F0B7-C4EA-BD6C268FC3D0}"/>
              </a:ext>
            </a:extLst>
          </p:cNvPr>
          <p:cNvSpPr txBox="1"/>
          <p:nvPr/>
        </p:nvSpPr>
        <p:spPr>
          <a:xfrm>
            <a:off x="5245271" y="3534808"/>
            <a:ext cx="3240360" cy="268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s-ES" sz="1600" b="1" dirty="0">
                <a:solidFill>
                  <a:srgbClr val="1F1F1F"/>
                </a:solidFill>
                <a:latin typeface="Calibri"/>
              </a:rPr>
              <a:t>Mide la curva de aprendizaje acumulada de las plataformas.</a:t>
            </a:r>
          </a:p>
          <a:p>
            <a:pPr>
              <a:spcAft>
                <a:spcPts val="900"/>
              </a:spcAft>
            </a:pPr>
            <a:r>
              <a:rPr lang="es-ES" sz="16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lang="es-ES" sz="1400" b="0" dirty="0">
                <a:solidFill>
                  <a:srgbClr val="1F1F1F"/>
                </a:solidFill>
                <a:latin typeface="Calibri"/>
              </a:rPr>
              <a:t>El entorno local fue el primero y absorbió el trabajo de comprensión de las fuentes</a:t>
            </a:r>
          </a:p>
          <a:p>
            <a:pPr>
              <a:spcAft>
                <a:spcPts val="900"/>
              </a:spcAft>
            </a:pPr>
            <a:r>
              <a:rPr lang="es-ES" sz="1400" b="0" dirty="0">
                <a:solidFill>
                  <a:srgbClr val="1F1F1F"/>
                </a:solidFill>
                <a:latin typeface="Calibri"/>
              </a:rPr>
              <a:t>• El manual de usuario del capítulo 5 recoge el procedimiento completo, reproducible en los tres entornos</a:t>
            </a:r>
          </a:p>
          <a:p>
            <a:pPr>
              <a:spcAft>
                <a:spcPts val="900"/>
              </a:spcAft>
            </a:pPr>
            <a:r>
              <a:rPr lang="es-ES" sz="1400" dirty="0">
                <a:solidFill>
                  <a:srgbClr val="1F1F1F"/>
                </a:solidFill>
              </a:rPr>
              <a:t>• El tiempo de ejecución fue similar en todos los entornos.</a:t>
            </a:r>
            <a:endParaRPr lang="en-US" sz="1400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72C9DC4-8FFD-D885-8BD9-BEE6AE698156}"/>
              </a:ext>
            </a:extLst>
          </p:cNvPr>
          <p:cNvCxnSpPr/>
          <p:nvPr/>
        </p:nvCxnSpPr>
        <p:spPr>
          <a:xfrm>
            <a:off x="504335" y="3429000"/>
            <a:ext cx="7812081" cy="0"/>
          </a:xfrm>
          <a:prstGeom prst="line">
            <a:avLst/>
          </a:prstGeom>
          <a:ln>
            <a:solidFill>
              <a:srgbClr val="C0053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F779A-5BA3-8514-B348-178FE26BD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>
            <a:extLst>
              <a:ext uri="{FF2B5EF4-FFF2-40B4-BE49-F238E27FC236}">
                <a16:creationId xmlns:a16="http://schemas.microsoft.com/office/drawing/2014/main" id="{00167D2E-5E39-E59E-7E11-03487B04BC9C}"/>
              </a:ext>
            </a:extLst>
          </p:cNvPr>
          <p:cNvSpPr txBox="1"/>
          <p:nvPr/>
        </p:nvSpPr>
        <p:spPr>
          <a:xfrm>
            <a:off x="-180528" y="34290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Resultados · Aprendizaje automático</a:t>
            </a:r>
          </a:p>
        </p:txBody>
      </p:sp>
      <p:pic>
        <p:nvPicPr>
          <p:cNvPr id="8" name="Picture 7" descr="1789408462696_image.png">
            <a:extLst>
              <a:ext uri="{FF2B5EF4-FFF2-40B4-BE49-F238E27FC236}">
                <a16:creationId xmlns:a16="http://schemas.microsoft.com/office/drawing/2014/main" id="{CE633C0C-0B86-2ED9-7587-C030A1943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49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Replicar antes de extender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748415"/>
              </p:ext>
            </p:extLst>
          </p:nvPr>
        </p:nvGraphicFramePr>
        <p:xfrm>
          <a:off x="566928" y="2314255"/>
          <a:ext cx="8010144" cy="2770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9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Aproximación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Estaciones comunes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Acuerdo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1. 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Las s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iete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magnitudes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2. Temperatura y humedad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3. Temperatura y arbolado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4. NO₂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80 %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5. NO₂ y partículas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84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F1F1F"/>
                          </a:solidFill>
                          <a:latin typeface="Calibri"/>
                        </a:rPr>
                        <a:t>86 % (404/468)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3536" y="1601021"/>
            <a:ext cx="8010144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Para poder comparar adecuadamente, se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replicó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en Python 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el trabajo original 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(en R) 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antes de aplicar las metodologías propias.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EB9BB8-515B-F146-D903-A235E3C47324}"/>
              </a:ext>
            </a:extLst>
          </p:cNvPr>
          <p:cNvSpPr txBox="1"/>
          <p:nvPr/>
        </p:nvSpPr>
        <p:spPr>
          <a:xfrm>
            <a:off x="755576" y="5430261"/>
            <a:ext cx="69847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lang="es-ES" sz="1400" dirty="0">
                <a:solidFill>
                  <a:srgbClr val="5A5A5A"/>
                </a:solidFill>
                <a:latin typeface="Calibri"/>
              </a:rPr>
              <a:t>*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 El acuerdo se calcula sobre el total de pares posibles entre las estaciones comunes. Para cada par se comprueba si ambos trabajos coinciden en agruparlas juntas o en grupos distintos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6885392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2500" b="1" dirty="0">
                <a:solidFill>
                  <a:srgbClr val="C00530"/>
                </a:solidFill>
                <a:latin typeface="Calibri"/>
              </a:rPr>
              <a:t>Ampliación del trabajo a siete años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7825" y="1619954"/>
            <a:ext cx="2564912" cy="345735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Correlación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media de −0,37,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sostenida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los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siete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años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rango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−0,26 a −0,47)</a:t>
            </a:r>
            <a:endParaRPr lang="es-ES"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El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trabajo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original la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observó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un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único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año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y de forma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cualitativa</a:t>
            </a:r>
            <a:endParaRPr lang="es-ES"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• No es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una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particularidad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del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periodo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: es un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patrón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sostenido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, de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intensidad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moderada</a:t>
            </a:r>
            <a:endParaRPr sz="1600" b="1" dirty="0">
              <a:solidFill>
                <a:srgbClr val="1F1F1F"/>
              </a:solidFill>
              <a:latin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79FF1F-C04B-DA55-4A13-28692236E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949" y="2492896"/>
            <a:ext cx="5708001" cy="32617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DCA303E-180A-28DA-0E64-5A14B2431E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806" y="731158"/>
            <a:ext cx="1547143" cy="17681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649DE35-FCC4-004C-816C-919EA71F53E6}"/>
              </a:ext>
            </a:extLst>
          </p:cNvPr>
          <p:cNvSpPr txBox="1"/>
          <p:nvPr/>
        </p:nvSpPr>
        <p:spPr>
          <a:xfrm>
            <a:off x="3942950" y="215434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</a:rPr>
              <a:t>C</a:t>
            </a:r>
            <a:r>
              <a:rPr lang="en-US" sz="1600" b="1" i="0" u="none" strike="noStrike" dirty="0" err="1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oeficiente</a:t>
            </a:r>
            <a:r>
              <a:rPr lang="en-US" sz="16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de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</a:rPr>
              <a:t>c</a:t>
            </a:r>
            <a:r>
              <a:rPr lang="en-US" sz="1600" b="1" i="0" u="none" strike="noStrike" dirty="0" err="1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orrelación</a:t>
            </a:r>
            <a:r>
              <a:rPr lang="en-US" sz="16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de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-US" sz="16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earson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Variables </a:t>
            </a:r>
            <a:r>
              <a:rPr lang="es-ES" sz="2500" b="1" dirty="0">
                <a:solidFill>
                  <a:srgbClr val="C00530"/>
                </a:solidFill>
                <a:latin typeface="Calibri"/>
              </a:rPr>
              <a:t>externas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: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altitud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y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superficie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relativa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7944" y="1704415"/>
            <a:ext cx="4320480" cy="1926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500" b="1" dirty="0">
                <a:solidFill>
                  <a:srgbClr val="1F1F1F"/>
                </a:solidFill>
                <a:latin typeface="Calibri"/>
              </a:rPr>
              <a:t>•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Altitud</a:t>
            </a:r>
            <a:endParaRPr sz="1500" b="1" dirty="0">
              <a:solidFill>
                <a:srgbClr val="1F1F1F"/>
              </a:solidFill>
              <a:latin typeface="Calibri"/>
            </a:endParaRPr>
          </a:p>
          <a:p>
            <a:pPr marL="628650" lvl="1" indent="-171450">
              <a:spcAft>
                <a:spcPts val="700"/>
              </a:spcAft>
              <a:buFontTx/>
              <a:buChar char="-"/>
            </a:pPr>
            <a:r>
              <a:rPr sz="1200" b="0" dirty="0" err="1">
                <a:solidFill>
                  <a:srgbClr val="5A5A5A"/>
                </a:solidFill>
                <a:latin typeface="Calibri"/>
              </a:rPr>
              <a:t>Correlaciones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muy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débiles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y de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signo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cambiante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: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dentro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del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término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municipal no es un factor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determinante</a:t>
            </a:r>
            <a:endParaRPr lang="es-ES" sz="12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endParaRPr sz="1200" b="0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r>
              <a:rPr sz="1500" b="1" dirty="0">
                <a:solidFill>
                  <a:srgbClr val="1F1F1F"/>
                </a:solidFill>
                <a:latin typeface="Calibri"/>
              </a:rPr>
              <a:t>•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Superficie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relativa</a:t>
            </a:r>
            <a:endParaRPr sz="15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200" b="0" dirty="0">
                <a:solidFill>
                  <a:srgbClr val="5A5A5A"/>
                </a:solidFill>
                <a:latin typeface="Calibri"/>
              </a:rPr>
              <a:t>– La correlación lineal se debilita</a:t>
            </a:r>
            <a:endParaRPr sz="12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200" b="0" dirty="0">
                <a:solidFill>
                  <a:srgbClr val="5A5A5A"/>
                </a:solidFill>
                <a:latin typeface="Calibri"/>
              </a:rPr>
              <a:t>– pero separa mejor los grupos: silueta 0,521 frente a 0,500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6096" y="4581128"/>
            <a:ext cx="2837539" cy="83099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lang="es-ES" sz="1600" b="1" dirty="0">
                <a:solidFill>
                  <a:srgbClr val="1F1F1F"/>
                </a:solidFill>
                <a:latin typeface="Calibri"/>
              </a:rPr>
              <a:t>Los resultados, para todos los años, se encuentran en el repositorio público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9F69406-B5AD-D536-793F-5324C02B6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45" y="1645920"/>
            <a:ext cx="3157419" cy="25259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80E28B5-C37E-FFC9-ADCF-0F9A17C28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536" y="4311853"/>
            <a:ext cx="4572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Calidad de los agrupamientos y robustez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716496"/>
              </p:ext>
            </p:extLst>
          </p:nvPr>
        </p:nvGraphicFramePr>
        <p:xfrm>
          <a:off x="566928" y="1484784"/>
          <a:ext cx="7821496" cy="2971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1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Aproximación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Silueta media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NO₂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0,565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Temperatura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+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superficie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relativa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propia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0,521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Temperatura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+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arbolado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Temperatura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+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humedad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0,498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Temperatura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+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altitud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propia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0,458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NO₂ +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partículas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0,317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Siete magnitudes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meteorológicas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0,146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" y="4537528"/>
            <a:ext cx="7639760" cy="151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500" dirty="0">
                <a:solidFill>
                  <a:srgbClr val="1F1F1F"/>
                </a:solidFill>
                <a:latin typeface="Calibri"/>
              </a:rPr>
              <a:t>• Más variables </a:t>
            </a:r>
            <a:r>
              <a:rPr lang="es-ES" sz="1500" dirty="0">
                <a:solidFill>
                  <a:srgbClr val="1F1F1F"/>
                </a:solidFill>
                <a:latin typeface="Calibri"/>
              </a:rPr>
              <a:t>-&gt;</a:t>
            </a:r>
            <a:r>
              <a:rPr sz="1500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1F1F"/>
                </a:solidFill>
                <a:latin typeface="Calibri"/>
              </a:rPr>
              <a:t>peores</a:t>
            </a:r>
            <a:r>
              <a:rPr sz="1500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1F1F"/>
                </a:solidFill>
                <a:latin typeface="Calibri"/>
              </a:rPr>
              <a:t>grupos</a:t>
            </a:r>
            <a:r>
              <a:rPr sz="1500" dirty="0">
                <a:solidFill>
                  <a:srgbClr val="1F1F1F"/>
                </a:solidFill>
                <a:latin typeface="Calibri"/>
              </a:rPr>
              <a:t>. Al </a:t>
            </a:r>
            <a:r>
              <a:rPr sz="1500" dirty="0" err="1">
                <a:solidFill>
                  <a:srgbClr val="1F1F1F"/>
                </a:solidFill>
                <a:latin typeface="Calibri"/>
              </a:rPr>
              <a:t>subir</a:t>
            </a:r>
            <a:r>
              <a:rPr sz="1500" dirty="0">
                <a:solidFill>
                  <a:srgbClr val="1F1F1F"/>
                </a:solidFill>
                <a:latin typeface="Calibri"/>
              </a:rPr>
              <a:t> la </a:t>
            </a:r>
            <a:r>
              <a:rPr sz="1500" dirty="0" err="1">
                <a:solidFill>
                  <a:srgbClr val="1F1F1F"/>
                </a:solidFill>
                <a:latin typeface="Calibri"/>
              </a:rPr>
              <a:t>dimensionalidad</a:t>
            </a:r>
            <a:r>
              <a:rPr sz="1500" dirty="0">
                <a:solidFill>
                  <a:srgbClr val="1F1F1F"/>
                </a:solidFill>
                <a:latin typeface="Calibri"/>
              </a:rPr>
              <a:t> las </a:t>
            </a:r>
            <a:r>
              <a:rPr sz="1500" dirty="0" err="1">
                <a:solidFill>
                  <a:srgbClr val="1F1F1F"/>
                </a:solidFill>
                <a:latin typeface="Calibri"/>
              </a:rPr>
              <a:t>distancias</a:t>
            </a:r>
            <a:r>
              <a:rPr sz="1500" dirty="0">
                <a:solidFill>
                  <a:srgbClr val="1F1F1F"/>
                </a:solidFill>
                <a:latin typeface="Calibri"/>
              </a:rPr>
              <a:t> se </a:t>
            </a:r>
            <a:r>
              <a:rPr sz="1500" dirty="0" err="1">
                <a:solidFill>
                  <a:srgbClr val="1F1F1F"/>
                </a:solidFill>
                <a:latin typeface="Calibri"/>
              </a:rPr>
              <a:t>igualan</a:t>
            </a:r>
            <a:r>
              <a:rPr sz="1500" dirty="0">
                <a:solidFill>
                  <a:srgbClr val="1F1F1F"/>
                </a:solidFill>
                <a:latin typeface="Calibri"/>
              </a:rPr>
              <a:t>, y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exigir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todos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los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sensores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reduce la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muestra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de 24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estaciones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a 5 o 7</a:t>
            </a:r>
            <a:endParaRPr lang="es-ES" sz="1500" b="1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endParaRPr sz="1500" b="1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r>
              <a:rPr sz="1500" b="1" dirty="0">
                <a:solidFill>
                  <a:srgbClr val="1F1F1F"/>
                </a:solidFill>
                <a:latin typeface="Calibri"/>
              </a:rPr>
              <a:t>• k-means y Ward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coinciden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4 de 5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aproximaciones</a:t>
            </a:r>
            <a:r>
              <a:rPr lang="es-ES" sz="1500" b="1" dirty="0">
                <a:solidFill>
                  <a:srgbClr val="1F1F1F"/>
                </a:solidFill>
                <a:latin typeface="Calibri"/>
              </a:rPr>
              <a:t> originales (</a:t>
            </a:r>
            <a:r>
              <a:rPr lang="es-ES" sz="1500" b="1" dirty="0">
                <a:solidFill>
                  <a:srgbClr val="1F1F1F"/>
                </a:solidFill>
              </a:rPr>
              <a:t>96,6% total (797 de 825 pares))</a:t>
            </a:r>
          </a:p>
          <a:p>
            <a:pPr lvl="1">
              <a:spcAft>
                <a:spcPts val="700"/>
              </a:spcAft>
            </a:pPr>
            <a:r>
              <a:rPr lang="es-ES" sz="1500" b="1" dirty="0">
                <a:solidFill>
                  <a:srgbClr val="1F1F1F"/>
                </a:solidFill>
                <a:latin typeface="Calibri"/>
              </a:rPr>
              <a:t>-&gt;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la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estructura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está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los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datos</a:t>
            </a:r>
            <a:r>
              <a:rPr lang="es-ES" sz="1500" b="1" dirty="0">
                <a:solidFill>
                  <a:srgbClr val="1F1F1F"/>
                </a:solidFill>
                <a:latin typeface="Calibri"/>
              </a:rPr>
              <a:t>, no en el algoritmo.</a:t>
            </a:r>
            <a:endParaRPr sz="1500" b="1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CEDE5-05EA-5DB1-AFC9-2A03D4F7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>
            <a:extLst>
              <a:ext uri="{FF2B5EF4-FFF2-40B4-BE49-F238E27FC236}">
                <a16:creationId xmlns:a16="http://schemas.microsoft.com/office/drawing/2014/main" id="{EC09B3B8-AE62-EB4F-66DC-0764AA395750}"/>
              </a:ext>
            </a:extLst>
          </p:cNvPr>
          <p:cNvSpPr txBox="1"/>
          <p:nvPr/>
        </p:nvSpPr>
        <p:spPr>
          <a:xfrm>
            <a:off x="-180528" y="34290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 err="1"/>
              <a:t>Conclusions</a:t>
            </a:r>
            <a:r>
              <a:rPr lang="es-ES" sz="3200" b="1" dirty="0"/>
              <a:t> and future </a:t>
            </a:r>
            <a:r>
              <a:rPr lang="es-ES" sz="3200" b="1" dirty="0" err="1"/>
              <a:t>work</a:t>
            </a:r>
            <a:endParaRPr lang="es-ES" sz="3200" b="1" dirty="0"/>
          </a:p>
        </p:txBody>
      </p:sp>
      <p:pic>
        <p:nvPicPr>
          <p:cNvPr id="8" name="Picture 7" descr="1789408462696_image.png">
            <a:extLst>
              <a:ext uri="{FF2B5EF4-FFF2-40B4-BE49-F238E27FC236}">
                <a16:creationId xmlns:a16="http://schemas.microsoft.com/office/drawing/2014/main" id="{A8AC93E5-DE6B-D825-4DE6-12570F08C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64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19125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Conclusions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B571B82-640A-0ABD-A664-EB273E6BF52D}"/>
              </a:ext>
            </a:extLst>
          </p:cNvPr>
          <p:cNvCxnSpPr/>
          <p:nvPr/>
        </p:nvCxnSpPr>
        <p:spPr>
          <a:xfrm>
            <a:off x="5940152" y="1750330"/>
            <a:ext cx="0" cy="3600400"/>
          </a:xfrm>
          <a:prstGeom prst="line">
            <a:avLst/>
          </a:prstGeom>
          <a:ln>
            <a:solidFill>
              <a:srgbClr val="C0053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419568F-5403-2BAF-EEFA-19CEBD742A1A}"/>
              </a:ext>
            </a:extLst>
          </p:cNvPr>
          <p:cNvSpPr txBox="1"/>
          <p:nvPr/>
        </p:nvSpPr>
        <p:spPr>
          <a:xfrm>
            <a:off x="284800" y="1451168"/>
            <a:ext cx="5570435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Analyse</a:t>
            </a:r>
            <a:r>
              <a:rPr lang="en-US" b="1" dirty="0"/>
              <a:t> the landscape of cloud, AI and public data -&gt;</a:t>
            </a:r>
          </a:p>
          <a:p>
            <a:r>
              <a:rPr lang="en-US" sz="1600" dirty="0"/>
              <a:t>Hundreds of works were revised and the gap between published open data, and machine-reusable data was uncovered. </a:t>
            </a:r>
          </a:p>
          <a:p>
            <a:endParaRPr lang="en-US" sz="1000" dirty="0"/>
          </a:p>
          <a:p>
            <a:r>
              <a:rPr lang="en-US" b="1" dirty="0"/>
              <a:t>Develop a replicable methodology, source to value</a:t>
            </a:r>
          </a:p>
          <a:p>
            <a:r>
              <a:rPr lang="en-US" sz="1600" dirty="0"/>
              <a:t>Five domain-independent principles with code portability.</a:t>
            </a:r>
          </a:p>
          <a:p>
            <a:r>
              <a:rPr lang="en-US" sz="1600" dirty="0"/>
              <a:t>Discovered undocumented schema changes and sensor gaps using automation as an audit</a:t>
            </a:r>
          </a:p>
          <a:p>
            <a:pPr lvl="1"/>
            <a:r>
              <a:rPr lang="en-US" dirty="0"/>
              <a:t> </a:t>
            </a:r>
            <a:r>
              <a:rPr lang="en-US" sz="1400" i="1" dirty="0"/>
              <a:t>-&gt;Use for the publishing body: a diagnosis of the quality and continuity of its datasets.</a:t>
            </a:r>
          </a:p>
          <a:p>
            <a:endParaRPr lang="en-US" sz="1000" dirty="0"/>
          </a:p>
          <a:p>
            <a:r>
              <a:rPr lang="en-US" b="1" dirty="0"/>
              <a:t>Apply it to real open data and evaluate configurations</a:t>
            </a:r>
          </a:p>
          <a:p>
            <a:r>
              <a:rPr lang="en-US" sz="1600" dirty="0"/>
              <a:t>Verified sustained heat-island correlation and model robustness. </a:t>
            </a:r>
          </a:p>
          <a:p>
            <a:r>
              <a:rPr lang="en-US" sz="1600" dirty="0"/>
              <a:t>Identical results across Local, AWS and GCP at zero net cost. </a:t>
            </a:r>
          </a:p>
          <a:p>
            <a:pPr lvl="1"/>
            <a:r>
              <a:rPr lang="en-US" sz="1400" dirty="0"/>
              <a:t> </a:t>
            </a:r>
            <a:r>
              <a:rPr lang="en-US" sz="1400" i="1" dirty="0"/>
              <a:t>-&gt; Use for researchers: a reproducible, portable pipeline with open, public, code and results</a:t>
            </a:r>
          </a:p>
          <a:p>
            <a:pPr lvl="1"/>
            <a:r>
              <a:rPr lang="en-US" sz="1400" i="1" dirty="0"/>
              <a:t>-&gt; Use for future work: a validated methodology and a wide study in the field.</a:t>
            </a:r>
            <a:endParaRPr lang="en-US" sz="1400" dirty="0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3F457F96-8822-F386-985D-FA475B7D5EEB}"/>
              </a:ext>
            </a:extLst>
          </p:cNvPr>
          <p:cNvSpPr txBox="1"/>
          <p:nvPr/>
        </p:nvSpPr>
        <p:spPr>
          <a:xfrm>
            <a:off x="6109987" y="2350202"/>
            <a:ext cx="2736304" cy="240065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500" b="1" dirty="0">
                <a:solidFill>
                  <a:srgbClr val="C00530"/>
                </a:solidFill>
                <a:latin typeface="Calibri"/>
              </a:rPr>
              <a:t>Cloud and AI democratize research at zero cost, but public data quality remains as a real barrier</a:t>
            </a:r>
            <a:endParaRPr lang="en-US" sz="2500" dirty="0">
              <a:solidFill>
                <a:srgbClr val="C0053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8010144" cy="390876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Limitations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5A5A5A"/>
                </a:solidFill>
                <a:latin typeface="Calibri"/>
              </a:rPr>
              <a:t>Series not homogeneous: definition changes and network degradation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5A5A5A"/>
                </a:solidFill>
                <a:latin typeface="Calibri"/>
              </a:rPr>
              <a:t>Mobility analysis </a:t>
            </a:r>
            <a:r>
              <a:rPr lang="es-ES" sz="1400" b="0" dirty="0" err="1">
                <a:solidFill>
                  <a:srgbClr val="5A5A5A"/>
                </a:solidFill>
                <a:latin typeface="Calibri"/>
              </a:rPr>
              <a:t>processed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, </a:t>
            </a:r>
            <a:r>
              <a:rPr lang="es-ES" sz="1400" b="0" dirty="0" err="1">
                <a:solidFill>
                  <a:srgbClr val="5A5A5A"/>
                </a:solidFill>
                <a:latin typeface="Calibri"/>
              </a:rPr>
              <a:t>but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left out of scope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5A5A5A"/>
                </a:solidFill>
                <a:latin typeface="Calibri"/>
              </a:rPr>
              <a:t>Two cloud providers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 and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limited set of algorithms</a:t>
            </a:r>
            <a:endParaRPr lang="es-ES"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600"/>
              </a:spcAft>
            </a:pPr>
            <a:endParaRPr sz="1400" b="0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Future work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5A5A5A"/>
                </a:solidFill>
                <a:latin typeface="Calibri"/>
              </a:rPr>
              <a:t>Address the limitations: mobility study, more sources, more providers, more models.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5A5A5A"/>
                </a:solidFill>
                <a:latin typeface="Calibri"/>
              </a:rPr>
              <a:t>Use massive datasets from other sources, to test the scalability of the cloud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5A5A5A"/>
                </a:solidFill>
                <a:latin typeface="Calibri"/>
              </a:rPr>
              <a:t>Use synthetic data for the gaps in low-coverage years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5A5A5A"/>
                </a:solidFill>
                <a:latin typeface="Calibri"/>
              </a:rPr>
              <a:t>Feedback loop with the administration, for social impact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5A5A5A"/>
                </a:solidFill>
                <a:latin typeface="Calibri"/>
              </a:rPr>
              <a:t>Publication of data in interactive dashboards, to improve visualization of the results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5A5A5A"/>
                </a:solidFill>
                <a:latin typeface="Calibri"/>
              </a:rPr>
              <a:t>AutoML on cloud platforms and LLMs for cluster interpretation</a:t>
            </a:r>
            <a:r>
              <a:rPr lang="en-US" sz="1400" dirty="0">
                <a:solidFill>
                  <a:srgbClr val="5A5A5A"/>
                </a:solidFill>
                <a:latin typeface="Calibri"/>
              </a:rPr>
              <a:t> and compare conclusions.</a:t>
            </a:r>
            <a:endParaRPr lang="en-US"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600"/>
              </a:spcAft>
            </a:pPr>
            <a:endParaRPr lang="en-US" sz="1400" b="0" dirty="0">
              <a:solidFill>
                <a:srgbClr val="5A5A5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2500" b="1" dirty="0">
                <a:solidFill>
                  <a:srgbClr val="C00530"/>
                </a:solidFill>
                <a:latin typeface="Calibri"/>
              </a:rPr>
              <a:t>Muchas Gracias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3186626"/>
            <a:ext cx="8010144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3200" b="1" dirty="0">
                <a:solidFill>
                  <a:srgbClr val="C00530"/>
                </a:solidFill>
                <a:latin typeface="Calibri"/>
              </a:rPr>
              <a:t>¿</a:t>
            </a:r>
            <a:r>
              <a:rPr sz="3200" b="1" dirty="0" err="1">
                <a:solidFill>
                  <a:srgbClr val="C00530"/>
                </a:solidFill>
                <a:latin typeface="Calibri"/>
              </a:rPr>
              <a:t>Preguntas</a:t>
            </a:r>
            <a:r>
              <a:rPr sz="3200" b="1" dirty="0">
                <a:solidFill>
                  <a:srgbClr val="C00530"/>
                </a:solidFill>
                <a:latin typeface="Calibri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855" y="5873457"/>
            <a:ext cx="8010144" cy="3231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lang="es-ES" sz="1500" b="0" dirty="0">
                <a:solidFill>
                  <a:srgbClr val="1F1F1F"/>
                </a:solidFill>
                <a:latin typeface="Calibri"/>
                <a:hlinkClick r:id="rId4"/>
              </a:rPr>
              <a:t>https://</a:t>
            </a:r>
            <a:r>
              <a:rPr sz="1500" b="0" dirty="0">
                <a:solidFill>
                  <a:srgbClr val="1F1F1F"/>
                </a:solidFill>
                <a:latin typeface="Calibri"/>
                <a:hlinkClick r:id="rId4"/>
              </a:rPr>
              <a:t>github.com/crismo04/TFM-cloud-</a:t>
            </a:r>
            <a:r>
              <a:rPr sz="1500" b="0" dirty="0" err="1">
                <a:solidFill>
                  <a:srgbClr val="1F1F1F"/>
                </a:solidFill>
                <a:latin typeface="Calibri"/>
                <a:hlinkClick r:id="rId4"/>
              </a:rPr>
              <a:t>soliutions</a:t>
            </a:r>
            <a:r>
              <a:rPr sz="1500" b="0" dirty="0">
                <a:solidFill>
                  <a:srgbClr val="1F1F1F"/>
                </a:solidFill>
                <a:latin typeface="Calibri"/>
                <a:hlinkClick r:id="rId4"/>
              </a:rPr>
              <a:t>-to-public-data</a:t>
            </a:r>
            <a:r>
              <a:rPr lang="es-ES" sz="1500" b="0" dirty="0">
                <a:solidFill>
                  <a:srgbClr val="1F1F1F"/>
                </a:solidFill>
                <a:latin typeface="Calibri"/>
              </a:rPr>
              <a:t>  </a:t>
            </a:r>
            <a:endParaRPr sz="1500" b="0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3FE39-CBCE-E478-C0D2-582DCCB4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>
            <a:extLst>
              <a:ext uri="{FF2B5EF4-FFF2-40B4-BE49-F238E27FC236}">
                <a16:creationId xmlns:a16="http://schemas.microsoft.com/office/drawing/2014/main" id="{4438E486-0F43-5A11-C543-15A902092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1DD3FA-B6E0-21C0-DA35-2A6AE04BD4EA}"/>
              </a:ext>
            </a:extLst>
          </p:cNvPr>
          <p:cNvSpPr txBox="1"/>
          <p:nvPr/>
        </p:nvSpPr>
        <p:spPr>
          <a:xfrm>
            <a:off x="566928" y="764704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2500" b="1" dirty="0">
                <a:solidFill>
                  <a:srgbClr val="C00530"/>
                </a:solidFill>
                <a:latin typeface="Calibri"/>
              </a:rPr>
              <a:t>Fe de erratas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A97F7-049C-38E0-479C-4CFBFDB0312A}"/>
              </a:ext>
            </a:extLst>
          </p:cNvPr>
          <p:cNvSpPr txBox="1"/>
          <p:nvPr/>
        </p:nvSpPr>
        <p:spPr>
          <a:xfrm>
            <a:off x="630431" y="1414174"/>
            <a:ext cx="7946641" cy="48320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* La url del github tiene un typo (</a:t>
            </a:r>
            <a:r>
              <a:rPr lang="en-US" sz="1400" dirty="0">
                <a:hlinkClick r:id="rId4"/>
              </a:rPr>
              <a:t>https://github.com/crismo04/TFM-cloud-soliutions-to-public-data/</a:t>
            </a:r>
            <a:r>
              <a:rPr lang="en-US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</a:t>
            </a:r>
            <a:r>
              <a:rPr lang="en-US" sz="1400" dirty="0" err="1"/>
              <a:t>unificar</a:t>
            </a:r>
            <a:r>
              <a:rPr lang="en-US" sz="1400" dirty="0"/>
              <a:t> </a:t>
            </a:r>
            <a:r>
              <a:rPr lang="en-US" sz="1400" dirty="0" err="1"/>
              <a:t>todo</a:t>
            </a:r>
            <a:r>
              <a:rPr lang="en-US" sz="1400" dirty="0"/>
              <a:t> a python o python3 (vertex </a:t>
            </a:r>
            <a:r>
              <a:rPr lang="en-US" sz="1400" dirty="0" err="1"/>
              <a:t>usa</a:t>
            </a:r>
            <a:r>
              <a:rPr lang="en-US" sz="1400" dirty="0"/>
              <a:t> python3)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Los enlaces clickables de la </a:t>
            </a:r>
            <a:r>
              <a:rPr lang="en-US" sz="1400" dirty="0" err="1"/>
              <a:t>introducción</a:t>
            </a:r>
            <a:r>
              <a:rPr lang="en-US" sz="1400" dirty="0"/>
              <a:t>,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cursiva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Cambio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algunos</a:t>
            </a:r>
            <a:r>
              <a:rPr lang="en-US" sz="1400" dirty="0"/>
              <a:t> </a:t>
            </a:r>
            <a:r>
              <a:rPr lang="en-US" sz="1400" dirty="0" err="1"/>
              <a:t>títulos</a:t>
            </a:r>
            <a:r>
              <a:rPr lang="en-US" sz="1400" dirty="0"/>
              <a:t> de </a:t>
            </a:r>
            <a:r>
              <a:rPr lang="en-US" sz="1400" dirty="0" err="1"/>
              <a:t>sección</a:t>
            </a:r>
            <a:r>
              <a:rPr lang="en-US" sz="1400" dirty="0"/>
              <a:t> para </a:t>
            </a:r>
            <a:r>
              <a:rPr lang="en-US" sz="1400" dirty="0" err="1"/>
              <a:t>evitar</a:t>
            </a:r>
            <a:r>
              <a:rPr lang="en-US" sz="1400" dirty="0"/>
              <a:t> </a:t>
            </a:r>
            <a:r>
              <a:rPr lang="en-US" sz="1400" dirty="0" err="1"/>
              <a:t>repetición</a:t>
            </a:r>
            <a:r>
              <a:rPr lang="en-US" sz="1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Se </a:t>
            </a:r>
            <a:r>
              <a:rPr lang="en-US" sz="1400" dirty="0" err="1"/>
              <a:t>redirige</a:t>
            </a:r>
            <a:r>
              <a:rPr lang="en-US" sz="1400" dirty="0"/>
              <a:t> a la </a:t>
            </a:r>
            <a:r>
              <a:rPr lang="en-US" sz="1400" dirty="0" err="1"/>
              <a:t>definición</a:t>
            </a:r>
            <a:r>
              <a:rPr lang="en-US" sz="1400" dirty="0"/>
              <a:t> de </a:t>
            </a:r>
            <a:r>
              <a:rPr lang="en-US" sz="1400" dirty="0" err="1"/>
              <a:t>arquitectura</a:t>
            </a:r>
            <a:r>
              <a:rPr lang="en-US" sz="1400" dirty="0"/>
              <a:t> de </a:t>
            </a:r>
            <a:r>
              <a:rPr lang="en-US" sz="1400" dirty="0" err="1"/>
              <a:t>medalla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el </a:t>
            </a:r>
            <a:r>
              <a:rPr lang="en-US" sz="1400" dirty="0" err="1"/>
              <a:t>capítulo</a:t>
            </a:r>
            <a:r>
              <a:rPr lang="en-US" sz="1400" dirty="0"/>
              <a:t> de </a:t>
            </a:r>
            <a:r>
              <a:rPr lang="en-US" sz="1400" dirty="0" err="1"/>
              <a:t>estado</a:t>
            </a:r>
            <a:r>
              <a:rPr lang="en-US" sz="1400" dirty="0"/>
              <a:t> de la </a:t>
            </a:r>
            <a:r>
              <a:rPr lang="en-US" sz="1400" dirty="0" err="1"/>
              <a:t>cuestión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Se </a:t>
            </a:r>
            <a:r>
              <a:rPr lang="en-US" sz="1400" dirty="0" err="1"/>
              <a:t>ajustaron</a:t>
            </a:r>
            <a:r>
              <a:rPr lang="en-US" sz="1400" dirty="0"/>
              <a:t> </a:t>
            </a:r>
            <a:r>
              <a:rPr lang="en-US" sz="1400" dirty="0" err="1"/>
              <a:t>todas</a:t>
            </a:r>
            <a:r>
              <a:rPr lang="en-US" sz="1400" dirty="0"/>
              <a:t> las </a:t>
            </a:r>
            <a:r>
              <a:rPr lang="en-US" sz="1400" dirty="0" err="1"/>
              <a:t>tablas</a:t>
            </a:r>
            <a:r>
              <a:rPr lang="en-US" sz="1400" dirty="0"/>
              <a:t> al </a:t>
            </a:r>
            <a:r>
              <a:rPr lang="en-US" sz="1400" dirty="0" err="1"/>
              <a:t>margen</a:t>
            </a:r>
            <a:r>
              <a:rPr lang="en-US" sz="1400" dirty="0"/>
              <a:t> de la memoria.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Se </a:t>
            </a:r>
            <a:r>
              <a:rPr lang="en-US" sz="1400" dirty="0" err="1"/>
              <a:t>ajustaron</a:t>
            </a:r>
            <a:r>
              <a:rPr lang="en-US" sz="1400" dirty="0"/>
              <a:t> las </a:t>
            </a:r>
            <a:r>
              <a:rPr lang="en-US" sz="1400" dirty="0" err="1"/>
              <a:t>imágenes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Se </a:t>
            </a:r>
            <a:r>
              <a:rPr lang="en-US" sz="1400" dirty="0" err="1"/>
              <a:t>enumeraron</a:t>
            </a:r>
            <a:r>
              <a:rPr lang="en-US" sz="1400" dirty="0"/>
              <a:t> también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capítulos</a:t>
            </a:r>
            <a:r>
              <a:rPr lang="en-US" sz="1400" dirty="0"/>
              <a:t> de las </a:t>
            </a:r>
            <a:r>
              <a:rPr lang="en-US" sz="1400" dirty="0" err="1"/>
              <a:t>conclusiones</a:t>
            </a:r>
            <a:r>
              <a:rPr lang="en-US" sz="1400" dirty="0"/>
              <a:t> de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capítulo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En el manual de </a:t>
            </a:r>
            <a:r>
              <a:rPr lang="en-US" sz="1400" dirty="0" err="1"/>
              <a:t>usuario</a:t>
            </a:r>
            <a:r>
              <a:rPr lang="en-US" sz="1400" dirty="0"/>
              <a:t>,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bloques</a:t>
            </a:r>
            <a:r>
              <a:rPr lang="en-US" sz="1400" dirty="0"/>
              <a:t> de </a:t>
            </a:r>
            <a:r>
              <a:rPr lang="en-US" sz="1400" dirty="0" err="1"/>
              <a:t>código</a:t>
            </a:r>
            <a:r>
              <a:rPr lang="en-US" sz="1400" dirty="0"/>
              <a:t> </a:t>
            </a:r>
            <a:r>
              <a:rPr lang="en-US" sz="1400" dirty="0" err="1"/>
              <a:t>ya</a:t>
            </a:r>
            <a:r>
              <a:rPr lang="en-US" sz="1400" dirty="0"/>
              <a:t> no se </a:t>
            </a:r>
            <a:r>
              <a:rPr lang="en-US" sz="1400" dirty="0" err="1"/>
              <a:t>introducen</a:t>
            </a:r>
            <a:r>
              <a:rPr lang="en-US" sz="1400" dirty="0"/>
              <a:t> con dos puntos (:)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</a:t>
            </a:r>
            <a:r>
              <a:rPr lang="en-US" sz="1400" dirty="0" err="1"/>
              <a:t>Añadido</a:t>
            </a:r>
            <a:r>
              <a:rPr lang="en-US" sz="1400" dirty="0"/>
              <a:t> un </a:t>
            </a:r>
            <a:r>
              <a:rPr lang="en-US" sz="1400" dirty="0" err="1"/>
              <a:t>apartado</a:t>
            </a:r>
            <a:r>
              <a:rPr lang="en-US" sz="1400" dirty="0"/>
              <a:t> de </a:t>
            </a:r>
            <a:r>
              <a:rPr lang="en-US" sz="1400" dirty="0" err="1"/>
              <a:t>conclusiones</a:t>
            </a:r>
            <a:r>
              <a:rPr lang="en-US" sz="1400" dirty="0"/>
              <a:t> del </a:t>
            </a:r>
            <a:r>
              <a:rPr lang="en-US" sz="1400" dirty="0" err="1"/>
              <a:t>capítulo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el manual de </a:t>
            </a:r>
            <a:r>
              <a:rPr lang="en-US" sz="1400" dirty="0" err="1"/>
              <a:t>usuario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</a:t>
            </a:r>
            <a:r>
              <a:rPr lang="en-US" sz="1400" dirty="0" err="1"/>
              <a:t>Corregidas</a:t>
            </a:r>
            <a:r>
              <a:rPr lang="en-US" sz="1400" dirty="0"/>
              <a:t> dos medias </a:t>
            </a:r>
            <a:r>
              <a:rPr lang="en-US" sz="1400" dirty="0" err="1"/>
              <a:t>desactualizadas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las </a:t>
            </a:r>
            <a:r>
              <a:rPr lang="en-US" sz="1400" dirty="0" err="1"/>
              <a:t>siluetas</a:t>
            </a:r>
            <a:r>
              <a:rPr lang="en-US" sz="1400" dirty="0"/>
              <a:t> del </a:t>
            </a:r>
            <a:r>
              <a:rPr lang="en-US" sz="1400" dirty="0" err="1"/>
              <a:t>capítulo</a:t>
            </a:r>
            <a:r>
              <a:rPr lang="en-US" sz="1400" dirty="0"/>
              <a:t> 4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</a:t>
            </a:r>
            <a:r>
              <a:rPr lang="en-US" sz="1400" dirty="0" err="1"/>
              <a:t>Añadido</a:t>
            </a:r>
            <a:r>
              <a:rPr lang="en-US" sz="1400" dirty="0"/>
              <a:t> un </a:t>
            </a:r>
            <a:r>
              <a:rPr lang="en-US" sz="1400" dirty="0" err="1"/>
              <a:t>apartado</a:t>
            </a:r>
            <a:r>
              <a:rPr lang="en-US" sz="1400" dirty="0"/>
              <a:t> de </a:t>
            </a:r>
            <a:r>
              <a:rPr lang="en-US" sz="1400" dirty="0" err="1"/>
              <a:t>marco</a:t>
            </a:r>
            <a:r>
              <a:rPr lang="en-US" sz="1400" dirty="0"/>
              <a:t> </a:t>
            </a:r>
            <a:r>
              <a:rPr lang="en-US" sz="1400" dirty="0" err="1"/>
              <a:t>metodológico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la </a:t>
            </a:r>
            <a:r>
              <a:rPr lang="en-US" sz="1400" dirty="0" err="1"/>
              <a:t>sección</a:t>
            </a:r>
            <a:r>
              <a:rPr lang="en-US" sz="1400" dirty="0"/>
              <a:t> 3.2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</a:t>
            </a:r>
            <a:r>
              <a:rPr lang="en-US" sz="1400" dirty="0" err="1"/>
              <a:t>Unificar</a:t>
            </a:r>
            <a:r>
              <a:rPr lang="en-US" sz="1400" dirty="0"/>
              <a:t> </a:t>
            </a:r>
            <a:r>
              <a:rPr lang="en-US" sz="1400" dirty="0" err="1"/>
              <a:t>moneda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la </a:t>
            </a:r>
            <a:r>
              <a:rPr lang="en-US" sz="1400" dirty="0" err="1"/>
              <a:t>parte</a:t>
            </a:r>
            <a:r>
              <a:rPr lang="en-US" sz="1400" dirty="0"/>
              <a:t> de </a:t>
            </a:r>
            <a:r>
              <a:rPr lang="en-US" sz="1400" dirty="0" err="1"/>
              <a:t>costes</a:t>
            </a:r>
            <a:r>
              <a:rPr lang="en-US" sz="1400" dirty="0"/>
              <a:t> de </a:t>
            </a:r>
            <a:r>
              <a:rPr lang="en-US" sz="1400" dirty="0" err="1"/>
              <a:t>nube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s-ES" sz="1400" dirty="0"/>
              <a:t>* La robustez entre </a:t>
            </a:r>
            <a:r>
              <a:rPr lang="es-ES" sz="1400" dirty="0" err="1"/>
              <a:t>ward</a:t>
            </a:r>
            <a:r>
              <a:rPr lang="es-ES" sz="1400" dirty="0"/>
              <a:t> y k-</a:t>
            </a:r>
            <a:r>
              <a:rPr lang="es-ES" sz="1400" dirty="0" err="1"/>
              <a:t>means</a:t>
            </a:r>
            <a:r>
              <a:rPr lang="es-ES" sz="1400" dirty="0"/>
              <a:t> actualizadas a las aproximaciones propias.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13205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2402</Words>
  <Application>Microsoft Office PowerPoint</Application>
  <PresentationFormat>On-screen Show (4:3)</PresentationFormat>
  <Paragraphs>415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Juan Carlos</dc:creator>
  <cp:lastModifiedBy>MOLINA MUÑOZ, CRISTIAN</cp:lastModifiedBy>
  <cp:revision>51</cp:revision>
  <dcterms:created xsi:type="dcterms:W3CDTF">2016-10-17T15:47:14Z</dcterms:created>
  <dcterms:modified xsi:type="dcterms:W3CDTF">2026-09-18T13:43:36Z</dcterms:modified>
</cp:coreProperties>
</file>