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72" r:id="rId2"/>
    <p:sldId id="273" r:id="rId3"/>
    <p:sldId id="274" r:id="rId4"/>
    <p:sldId id="275" r:id="rId5"/>
    <p:sldId id="276" r:id="rId6"/>
    <p:sldId id="277" r:id="rId7"/>
    <p:sldId id="278" r:id="rId8"/>
    <p:sldId id="279" r:id="rId9"/>
    <p:sldId id="280" r:id="rId10"/>
    <p:sldId id="282" r:id="rId11"/>
    <p:sldId id="281" r:id="rId12"/>
    <p:sldId id="304" r:id="rId13"/>
    <p:sldId id="283" r:id="rId14"/>
    <p:sldId id="284" r:id="rId15"/>
    <p:sldId id="285" r:id="rId16"/>
    <p:sldId id="286" r:id="rId17"/>
    <p:sldId id="287" r:id="rId18"/>
    <p:sldId id="305" r:id="rId19"/>
    <p:sldId id="289" r:id="rId20"/>
    <p:sldId id="290" r:id="rId21"/>
    <p:sldId id="306" r:id="rId22"/>
    <p:sldId id="292" r:id="rId23"/>
    <p:sldId id="293" r:id="rId24"/>
    <p:sldId id="295" r:id="rId25"/>
    <p:sldId id="296" r:id="rId26"/>
    <p:sldId id="307" r:id="rId27"/>
    <p:sldId id="298" r:id="rId28"/>
    <p:sldId id="299" r:id="rId29"/>
    <p:sldId id="300" r:id="rId30"/>
    <p:sldId id="301" r:id="rId31"/>
    <p:sldId id="302" r:id="rId32"/>
    <p:sldId id="308" r:id="rId33"/>
    <p:sldId id="303" r:id="rId34"/>
  </p:sldIdLst>
  <p:sldSz cx="9144000" cy="6858000" type="screen4x3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1" autoAdjust="0"/>
    <p:restoredTop sz="70980" autoAdjust="0"/>
  </p:normalViewPr>
  <p:slideViewPr>
    <p:cSldViewPr>
      <p:cViewPr varScale="1">
        <p:scale>
          <a:sx n="58" d="100"/>
          <a:sy n="58" d="100"/>
        </p:scale>
        <p:origin x="2198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4FF152-CFF9-43C9-9D88-2225BF089440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7B3E8A-3694-4418-B446-8CF08433E650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9734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 err="1"/>
              <a:t>dendrograma</a:t>
            </a:r>
            <a:r>
              <a:rPr lang="en-US" dirty="0"/>
              <a:t> de 2021, el </a:t>
            </a:r>
            <a:r>
              <a:rPr lang="en-US" dirty="0" err="1"/>
              <a:t>algoritmo</a:t>
            </a:r>
            <a:r>
              <a:rPr lang="en-US" dirty="0"/>
              <a:t> </a:t>
            </a:r>
            <a:r>
              <a:rPr lang="en-US" dirty="0" err="1"/>
              <a:t>agrupa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sí</a:t>
            </a:r>
            <a:r>
              <a:rPr lang="en-US" dirty="0"/>
              <a:t> solo las </a:t>
            </a:r>
            <a:r>
              <a:rPr lang="en-US" dirty="0" err="1"/>
              <a:t>estaciones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urbanas</a:t>
            </a:r>
            <a:r>
              <a:rPr lang="en-US" dirty="0"/>
              <a:t>. </a:t>
            </a:r>
          </a:p>
          <a:p>
            <a:r>
              <a:rPr lang="en-US" dirty="0"/>
              <a:t>Chart de </a:t>
            </a:r>
            <a:r>
              <a:rPr lang="en-US" dirty="0" err="1"/>
              <a:t>agrupamiento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Fuente: </a:t>
            </a:r>
            <a:r>
              <a:rPr lang="en-US" dirty="0" err="1"/>
              <a:t>Diagrama</a:t>
            </a:r>
            <a:r>
              <a:rPr lang="en-US" dirty="0"/>
              <a:t> conceptual de </a:t>
            </a:r>
            <a:r>
              <a:rPr lang="en-US" dirty="0" err="1"/>
              <a:t>arquitectura</a:t>
            </a:r>
            <a:r>
              <a:rPr lang="en-US" dirty="0"/>
              <a:t> Medallion (Google Cloud Documentation) </a:t>
            </a:r>
          </a:p>
          <a:p>
            <a:r>
              <a:rPr lang="en-US" dirty="0"/>
              <a:t>https://cloud.google.com/discover/what-is-medallion-architecture?hl=es&amp;authuser=3 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ES" dirty="0"/>
              <a:t>Imagen: </a:t>
            </a:r>
            <a:r>
              <a:rPr lang="es-ES" sz="1200" dirty="0">
                <a:solidFill>
                  <a:srgbClr val="5A5A5A"/>
                </a:solidFill>
                <a:latin typeface="Calibri"/>
              </a:rPr>
              <a:t>Correlación arbolado–temperatura por distrito, 2019-2025, en las dos configuraciones del análisis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8C239-664E-F5E7-D81D-D0FD270E4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65C194-0566-5D62-A2A6-35618B144D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1E3DC2-15F8-4D50-7E02-01986B0187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912F91-13FB-6AA2-D4B0-1511E753D0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7659091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ES" dirty="0"/>
              <a:t>Mas diapositivas??? </a:t>
            </a:r>
          </a:p>
          <a:p>
            <a:endParaRPr lang="es-ES" dirty="0"/>
          </a:p>
          <a:p>
            <a:r>
              <a:rPr lang="es-ES" dirty="0" err="1"/>
              <a:t>dendrograma</a:t>
            </a:r>
            <a:r>
              <a:rPr lang="es-ES" dirty="0"/>
              <a:t> de 2021 · diagrama del codo · tabla completa de siluetas por año · las tres capas de gobernanza OECD · los siete principios éticos del RIA · por qué se descartaron Cloud Run Jobs y Cloud </a:t>
            </a:r>
            <a:r>
              <a:rPr lang="es-ES" dirty="0" err="1"/>
              <a:t>Functions</a:t>
            </a:r>
            <a:r>
              <a:rPr lang="es-ES" dirty="0"/>
              <a:t> · tabla de ventanas de contexto de LLM.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gi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2" descr="E:\Trabajo\Vicerrectorado de Planificación\Presentación Reestructuración de Departamentos\Rec\Fondo Azul.jpg"/>
          <p:cNvPicPr>
            <a:picLocks noChangeAspect="1" noChangeArrowheads="1"/>
          </p:cNvPicPr>
          <p:nvPr userDrawn="1"/>
        </p:nvPicPr>
        <p:blipFill>
          <a:blip r:embed="rId2" cstate="print"/>
          <a:stretch>
            <a:fillRect/>
          </a:stretch>
        </p:blipFill>
        <p:spPr bwMode="auto">
          <a:xfrm>
            <a:off x="0" y="-1"/>
            <a:ext cx="9143999" cy="6869843"/>
          </a:xfrm>
          <a:prstGeom prst="rect">
            <a:avLst/>
          </a:prstGeom>
          <a:noFill/>
        </p:spPr>
      </p:pic>
      <p:pic>
        <p:nvPicPr>
          <p:cNvPr id="3" name="Picture 2" descr="E:\Recursos\Logos\Logo UCM 2012\Marca UCM logo Blanco.gif"/>
          <p:cNvPicPr>
            <a:picLocks noChangeAspect="1" noChangeArrowheads="1"/>
          </p:cNvPicPr>
          <p:nvPr userDrawn="1"/>
        </p:nvPicPr>
        <p:blipFill>
          <a:blip r:embed="rId3" cstate="print"/>
          <a:stretch>
            <a:fillRect/>
          </a:stretch>
        </p:blipFill>
        <p:spPr bwMode="auto">
          <a:xfrm>
            <a:off x="3779912" y="332656"/>
            <a:ext cx="1584176" cy="145540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8598108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 descr="E:\Trabajo\Vicerrectorado de Planificación\Presentación Reestructuración de Departamentos\Rec\Fondo Azul.jpg"/>
          <p:cNvPicPr>
            <a:picLocks noChangeAspect="1" noChangeArrowheads="1"/>
          </p:cNvPicPr>
          <p:nvPr userDrawn="1"/>
        </p:nvPicPr>
        <p:blipFill>
          <a:blip r:embed="rId2" cstate="print"/>
          <a:srcRect t="94985"/>
          <a:stretch>
            <a:fillRect/>
          </a:stretch>
        </p:blipFill>
        <p:spPr bwMode="auto">
          <a:xfrm>
            <a:off x="0" y="6525344"/>
            <a:ext cx="9143999" cy="344500"/>
          </a:xfrm>
          <a:prstGeom prst="rect">
            <a:avLst/>
          </a:prstGeom>
          <a:noFill/>
        </p:spPr>
      </p:pic>
      <p:pic>
        <p:nvPicPr>
          <p:cNvPr id="13" name="Picture 2" descr="E:\Trabajo\Vicerrectorado de Planificación\Presentación Reestructuración de Departamentos\Rec\Fondo Azul.jpg"/>
          <p:cNvPicPr>
            <a:picLocks noChangeAspect="1" noChangeArrowheads="1"/>
          </p:cNvPicPr>
          <p:nvPr userDrawn="1"/>
        </p:nvPicPr>
        <p:blipFill>
          <a:blip r:embed="rId2" cstate="print"/>
          <a:srcRect b="89917"/>
          <a:stretch>
            <a:fillRect/>
          </a:stretch>
        </p:blipFill>
        <p:spPr bwMode="auto">
          <a:xfrm>
            <a:off x="0" y="0"/>
            <a:ext cx="9143999" cy="692696"/>
          </a:xfrm>
          <a:prstGeom prst="rect">
            <a:avLst/>
          </a:prstGeom>
          <a:noFill/>
        </p:spPr>
      </p:pic>
      <p:pic>
        <p:nvPicPr>
          <p:cNvPr id="20481" name="Picture 1" descr="E:\Recursos\Logos\Logo UCM 2012\Marca UCM Alternativa logo blanco.gif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85428" y="150540"/>
            <a:ext cx="1800200" cy="463463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0321835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3" descr="E:\Trabajo\Vicerrectorado de Planificación\Presentación Reestructuración de Departamentos\Rec\Fondo muy claro.jpg"/>
          <p:cNvPicPr>
            <a:picLocks noChangeAspect="1" noChangeArrowheads="1"/>
          </p:cNvPicPr>
          <p:nvPr userDrawn="1"/>
        </p:nvPicPr>
        <p:blipFill>
          <a:blip r:embed="rId2" cstate="print"/>
          <a:stretch>
            <a:fillRect/>
          </a:stretch>
        </p:blipFill>
        <p:spPr bwMode="auto">
          <a:xfrm>
            <a:off x="0" y="-1"/>
            <a:ext cx="9143999" cy="6869844"/>
          </a:xfrm>
          <a:prstGeom prst="rect">
            <a:avLst/>
          </a:prstGeom>
          <a:noFill/>
        </p:spPr>
      </p:pic>
      <p:pic>
        <p:nvPicPr>
          <p:cNvPr id="14" name="Picture 2" descr="E:\Trabajo\Vicerrectorado de Planificación\Presentación Reestructuración de Departamentos\Rec\Fondo Azul.jpg"/>
          <p:cNvPicPr>
            <a:picLocks noChangeAspect="1" noChangeArrowheads="1"/>
          </p:cNvPicPr>
          <p:nvPr userDrawn="1"/>
        </p:nvPicPr>
        <p:blipFill>
          <a:blip r:embed="rId3" cstate="print"/>
          <a:srcRect t="94985"/>
          <a:stretch>
            <a:fillRect/>
          </a:stretch>
        </p:blipFill>
        <p:spPr bwMode="auto">
          <a:xfrm>
            <a:off x="0" y="6525344"/>
            <a:ext cx="9143999" cy="344500"/>
          </a:xfrm>
          <a:prstGeom prst="rect">
            <a:avLst/>
          </a:prstGeom>
          <a:noFill/>
        </p:spPr>
      </p:pic>
      <p:pic>
        <p:nvPicPr>
          <p:cNvPr id="13" name="Picture 2" descr="E:\Trabajo\Vicerrectorado de Planificación\Presentación Reestructuración de Departamentos\Rec\Fondo Azul.jpg"/>
          <p:cNvPicPr>
            <a:picLocks noChangeAspect="1" noChangeArrowheads="1"/>
          </p:cNvPicPr>
          <p:nvPr userDrawn="1"/>
        </p:nvPicPr>
        <p:blipFill>
          <a:blip r:embed="rId3" cstate="print"/>
          <a:srcRect b="89917"/>
          <a:stretch>
            <a:fillRect/>
          </a:stretch>
        </p:blipFill>
        <p:spPr bwMode="auto">
          <a:xfrm>
            <a:off x="0" y="0"/>
            <a:ext cx="9143999" cy="692696"/>
          </a:xfrm>
          <a:prstGeom prst="rect">
            <a:avLst/>
          </a:prstGeom>
          <a:noFill/>
        </p:spPr>
      </p:pic>
      <p:pic>
        <p:nvPicPr>
          <p:cNvPr id="20481" name="Picture 1" descr="E:\Recursos\Logos\Logo UCM 2012\Marca UCM Alternativa logo blanco.gif"/>
          <p:cNvPicPr>
            <a:picLocks noChangeAspect="1" noChangeArrowheads="1"/>
          </p:cNvPicPr>
          <p:nvPr userDrawn="1"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85428" y="150540"/>
            <a:ext cx="1800200" cy="463463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0321835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65" r:id="rId3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jpeg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atos.madrid.es/portal/site/egob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rismo04/TFM-cloud-soliutions-to-public-data/" TargetMode="Externa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CuadroTexto"/>
          <p:cNvSpPr txBox="1"/>
          <p:nvPr/>
        </p:nvSpPr>
        <p:spPr>
          <a:xfrm>
            <a:off x="0" y="3250671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 err="1"/>
              <a:t>Implementación</a:t>
            </a:r>
            <a:r>
              <a:rPr lang="en-US" sz="2400" b="1" dirty="0"/>
              <a:t> de </a:t>
            </a:r>
            <a:r>
              <a:rPr lang="en-US" sz="2400" b="1" dirty="0" err="1"/>
              <a:t>soluciones</a:t>
            </a:r>
            <a:r>
              <a:rPr lang="en-US" sz="2400" b="1" dirty="0"/>
              <a:t> </a:t>
            </a:r>
            <a:r>
              <a:rPr lang="en-US" sz="2400" b="1" dirty="0" err="1"/>
              <a:t>en</a:t>
            </a:r>
            <a:r>
              <a:rPr lang="en-US" sz="2400" b="1" dirty="0"/>
              <a:t> la </a:t>
            </a:r>
            <a:r>
              <a:rPr lang="en-US" sz="2400" b="1" dirty="0" err="1"/>
              <a:t>nube</a:t>
            </a:r>
            <a:r>
              <a:rPr lang="en-US" sz="2400" b="1" dirty="0"/>
              <a:t> para el </a:t>
            </a:r>
            <a:r>
              <a:rPr lang="en-US" sz="2400" b="1" dirty="0" err="1"/>
              <a:t>análisis</a:t>
            </a:r>
            <a:r>
              <a:rPr lang="en-US" sz="2400" b="1" dirty="0"/>
              <a:t> </a:t>
            </a:r>
          </a:p>
          <a:p>
            <a:pPr algn="ctr"/>
            <a:r>
              <a:rPr lang="en-US" sz="2400" b="1" dirty="0"/>
              <a:t>de </a:t>
            </a:r>
            <a:r>
              <a:rPr lang="en-US" sz="2400" b="1" dirty="0" err="1"/>
              <a:t>datos</a:t>
            </a:r>
            <a:r>
              <a:rPr lang="en-US" sz="2400" b="1" dirty="0"/>
              <a:t> </a:t>
            </a:r>
            <a:r>
              <a:rPr lang="en-US" sz="2400" b="1" dirty="0" err="1"/>
              <a:t>públicos</a:t>
            </a:r>
            <a:r>
              <a:rPr lang="en-US" sz="2400" b="1" dirty="0"/>
              <a:t> a </a:t>
            </a:r>
            <a:r>
              <a:rPr lang="en-US" sz="2400" b="1" dirty="0" err="1"/>
              <a:t>través</a:t>
            </a:r>
            <a:r>
              <a:rPr lang="en-US" sz="2400" b="1" dirty="0"/>
              <a:t> de </a:t>
            </a:r>
            <a:r>
              <a:rPr lang="en-US" sz="2400" b="1" dirty="0" err="1"/>
              <a:t>modelos</a:t>
            </a:r>
            <a:r>
              <a:rPr lang="en-US" sz="2400" b="1" dirty="0"/>
              <a:t> de </a:t>
            </a:r>
            <a:r>
              <a:rPr lang="en-US" sz="2400" b="1" dirty="0" err="1"/>
              <a:t>Inteligencia</a:t>
            </a:r>
            <a:r>
              <a:rPr lang="en-US" sz="2400" b="1" dirty="0"/>
              <a:t> Artificial</a:t>
            </a:r>
            <a:endParaRPr lang="es-ES" sz="2400" b="1" dirty="0"/>
          </a:p>
        </p:txBody>
      </p:sp>
      <p:sp>
        <p:nvSpPr>
          <p:cNvPr id="4" name="3 CuadroTexto"/>
          <p:cNvSpPr txBox="1"/>
          <p:nvPr/>
        </p:nvSpPr>
        <p:spPr>
          <a:xfrm>
            <a:off x="107504" y="6443619"/>
            <a:ext cx="2391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/>
              <a:t>Facultad de Informática</a:t>
            </a:r>
          </a:p>
        </p:txBody>
      </p:sp>
      <p:sp>
        <p:nvSpPr>
          <p:cNvPr id="5" name="2 CuadroTexto">
            <a:extLst>
              <a:ext uri="{FF2B5EF4-FFF2-40B4-BE49-F238E27FC236}">
                <a16:creationId xmlns:a16="http://schemas.microsoft.com/office/drawing/2014/main" id="{B24D89BD-3B6F-0F91-BFDB-BB2E601BE7FE}"/>
              </a:ext>
            </a:extLst>
          </p:cNvPr>
          <p:cNvSpPr txBox="1"/>
          <p:nvPr/>
        </p:nvSpPr>
        <p:spPr>
          <a:xfrm>
            <a:off x="-324544" y="2348880"/>
            <a:ext cx="39594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Trabajo de Fin de Máster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8002452-BFDC-9762-AB00-6B24C9CE64CF}"/>
              </a:ext>
            </a:extLst>
          </p:cNvPr>
          <p:cNvSpPr txBox="1"/>
          <p:nvPr/>
        </p:nvSpPr>
        <p:spPr>
          <a:xfrm>
            <a:off x="6444208" y="4653136"/>
            <a:ext cx="288032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Autor:</a:t>
            </a:r>
            <a:r>
              <a:rPr lang="en-US" dirty="0"/>
              <a:t> </a:t>
            </a:r>
          </a:p>
          <a:p>
            <a:r>
              <a:rPr lang="en-US" dirty="0"/>
              <a:t>Cristian Molina Muñoz </a:t>
            </a:r>
          </a:p>
          <a:p>
            <a:r>
              <a:rPr lang="en-US" b="1" dirty="0" err="1"/>
              <a:t>Directores</a:t>
            </a:r>
            <a:r>
              <a:rPr lang="en-US" b="1" dirty="0"/>
              <a:t>: </a:t>
            </a:r>
          </a:p>
          <a:p>
            <a:r>
              <a:rPr lang="en-US" dirty="0"/>
              <a:t>José Luis Vázquez-Poletti </a:t>
            </a:r>
          </a:p>
          <a:p>
            <a:r>
              <a:rPr lang="en-US" dirty="0"/>
              <a:t>Rubén Fuentes-Fernández</a:t>
            </a:r>
          </a:p>
        </p:txBody>
      </p:sp>
      <p:pic>
        <p:nvPicPr>
          <p:cNvPr id="8" name="Picture 7" descr="1789408462696_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7" y="6382512"/>
            <a:ext cx="658368" cy="230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68268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n-US" sz="2500" b="1" dirty="0">
                <a:solidFill>
                  <a:srgbClr val="C00530"/>
                </a:solidFill>
                <a:latin typeface="Calibri"/>
              </a:rPr>
              <a:t>The Context: Data, Cloud, and AI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55576" y="1703001"/>
            <a:ext cx="8280920" cy="1451679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2500" b="1" dirty="0">
                <a:solidFill>
                  <a:srgbClr val="C00530"/>
                </a:solidFill>
                <a:latin typeface="Calibri"/>
              </a:rPr>
              <a:t>PUBLIC DATA: 181 ZB </a:t>
            </a:r>
            <a:r>
              <a:rPr lang="en-US" sz="2500" dirty="0">
                <a:solidFill>
                  <a:srgbClr val="C00530"/>
                </a:solidFill>
                <a:latin typeface="Calibri"/>
              </a:rPr>
              <a:t>created worldwide (2025)</a:t>
            </a:r>
          </a:p>
          <a:p>
            <a:pPr>
              <a:spcAft>
                <a:spcPts val="800"/>
              </a:spcAft>
            </a:pPr>
            <a:r>
              <a:rPr lang="en-US" sz="2500" b="1" dirty="0">
                <a:solidFill>
                  <a:srgbClr val="C00530"/>
                </a:solidFill>
                <a:latin typeface="Calibri"/>
              </a:rPr>
              <a:t>CLOUD COMPUTING: 44.3% </a:t>
            </a:r>
            <a:r>
              <a:rPr lang="en-US" sz="2500" dirty="0">
                <a:solidFill>
                  <a:srgbClr val="C00530"/>
                </a:solidFill>
                <a:latin typeface="Calibri"/>
              </a:rPr>
              <a:t>of Spanish firms pay for cloud</a:t>
            </a:r>
          </a:p>
          <a:p>
            <a:pPr>
              <a:spcAft>
                <a:spcPts val="800"/>
              </a:spcAft>
            </a:pPr>
            <a:r>
              <a:rPr lang="en-US" sz="2500" b="1" dirty="0">
                <a:solidFill>
                  <a:srgbClr val="C00530"/>
                </a:solidFill>
                <a:latin typeface="Calibri"/>
              </a:rPr>
              <a:t>ARTIFICIAL INTELLIGENCE: 21.1% </a:t>
            </a:r>
            <a:r>
              <a:rPr lang="en-US" sz="2500" dirty="0">
                <a:solidFill>
                  <a:srgbClr val="C00530"/>
                </a:solidFill>
                <a:latin typeface="Calibri"/>
              </a:rPr>
              <a:t>of Spanish firms use AI (2025)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885" y="3516443"/>
            <a:ext cx="8010144" cy="174406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</a:pPr>
            <a:r>
              <a:rPr lang="en-US" sz="2400" b="1" dirty="0"/>
              <a:t>And yet: only 48% of high-value datasets are actually available as open data.</a:t>
            </a:r>
          </a:p>
          <a:p>
            <a:pPr>
              <a:spcAft>
                <a:spcPts val="1400"/>
              </a:spcAft>
            </a:pPr>
            <a:r>
              <a:rPr lang="es-ES" dirty="0">
                <a:solidFill>
                  <a:srgbClr val="1F1F1F"/>
                </a:solidFill>
                <a:latin typeface="Calibri"/>
              </a:rPr>
              <a:t>- </a:t>
            </a:r>
            <a:r>
              <a:rPr sz="1800" b="0" dirty="0">
                <a:solidFill>
                  <a:srgbClr val="1F1F1F"/>
                </a:solidFill>
                <a:latin typeface="Calibri"/>
              </a:rPr>
              <a:t>Published is not the same as machine-readable</a:t>
            </a:r>
          </a:p>
          <a:p>
            <a:pPr>
              <a:spcAft>
                <a:spcPts val="1400"/>
              </a:spcAft>
            </a:pPr>
            <a:r>
              <a:rPr lang="es-ES" b="1" dirty="0">
                <a:solidFill>
                  <a:srgbClr val="1F1F1F"/>
                </a:solidFill>
                <a:latin typeface="Calibri"/>
              </a:rPr>
              <a:t>- </a:t>
            </a:r>
            <a:r>
              <a:rPr sz="1800" b="1" dirty="0">
                <a:solidFill>
                  <a:srgbClr val="1F1F1F"/>
                </a:solidFill>
                <a:latin typeface="Calibri"/>
              </a:rPr>
              <a:t>Can an automated process consume them without human intervention?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Objectives and scope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0337260"/>
              </p:ext>
            </p:extLst>
          </p:nvPr>
        </p:nvGraphicFramePr>
        <p:xfrm>
          <a:off x="566928" y="1645920"/>
          <a:ext cx="8010144" cy="1927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813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1774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Objective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Chapter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177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Analyse</a:t>
                      </a:r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 the landscape of cloud, AI and public data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177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Develop a replicable methodology, source to value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177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Apply it to real </a:t>
                      </a:r>
                      <a:r>
                        <a:rPr lang="es-ES"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European</a:t>
                      </a:r>
                      <a:r>
                        <a:rPr lang="es-ES"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data and evaluate configurations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4 and 5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88496" y="3959352"/>
            <a:ext cx="8010144" cy="126957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7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Scope</a:t>
            </a:r>
            <a:r>
              <a:rPr lang="es-ES" sz="1700" b="1" dirty="0">
                <a:solidFill>
                  <a:srgbClr val="1F1F1F"/>
                </a:solidFill>
                <a:latin typeface="Calibri"/>
              </a:rPr>
              <a:t>:</a:t>
            </a:r>
            <a:endParaRPr sz="1700" b="1" dirty="0">
              <a:solidFill>
                <a:srgbClr val="1F1F1F"/>
              </a:solidFill>
              <a:latin typeface="Calibri"/>
            </a:endParaRPr>
          </a:p>
          <a:p>
            <a:pPr lvl="1">
              <a:spcAft>
                <a:spcPts val="7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Madrid City Council open data, 2019–2025</a:t>
            </a:r>
          </a:p>
          <a:p>
            <a:pPr lvl="1">
              <a:spcAft>
                <a:spcPts val="7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Two cloud providers: AWS and Google Cloud</a:t>
            </a:r>
          </a:p>
          <a:p>
            <a:pPr lvl="1">
              <a:spcAft>
                <a:spcPts val="7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Unsupervised learning: clustering and correlation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Índice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240280"/>
            <a:ext cx="8010144" cy="255454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800"/>
              </a:spcAft>
            </a:pPr>
            <a:r>
              <a:rPr sz="2000" b="0" dirty="0">
                <a:solidFill>
                  <a:srgbClr val="1F1F1F"/>
                </a:solidFill>
                <a:latin typeface="Calibri"/>
              </a:rPr>
              <a:t>• </a:t>
            </a:r>
            <a:r>
              <a:rPr sz="2000" b="1" dirty="0">
                <a:solidFill>
                  <a:srgbClr val="1F1F1F"/>
                </a:solidFill>
                <a:latin typeface="Calibri"/>
              </a:rPr>
              <a:t>Estado de la </a:t>
            </a:r>
            <a:r>
              <a:rPr sz="2000" b="1" dirty="0" err="1">
                <a:solidFill>
                  <a:srgbClr val="1F1F1F"/>
                </a:solidFill>
                <a:latin typeface="Calibri"/>
              </a:rPr>
              <a:t>cuestión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: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datos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,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nube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 e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inteligencia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 artificial</a:t>
            </a:r>
          </a:p>
          <a:p>
            <a:pPr>
              <a:spcAft>
                <a:spcPts val="1800"/>
              </a:spcAft>
            </a:pPr>
            <a:r>
              <a:rPr sz="2000" b="0" dirty="0">
                <a:solidFill>
                  <a:srgbClr val="1F1F1F"/>
                </a:solidFill>
                <a:latin typeface="Calibri"/>
              </a:rPr>
              <a:t>• </a:t>
            </a:r>
            <a:r>
              <a:rPr lang="en-US" sz="2000" b="1" dirty="0" err="1">
                <a:solidFill>
                  <a:srgbClr val="1F1F1F"/>
                </a:solidFill>
                <a:latin typeface="Calibri"/>
              </a:rPr>
              <a:t>Metodología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: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principios</a:t>
            </a:r>
            <a:r>
              <a:rPr lang="es-ES" sz="2000" b="0" dirty="0">
                <a:solidFill>
                  <a:srgbClr val="1F1F1F"/>
                </a:solidFill>
                <a:latin typeface="Calibri"/>
              </a:rPr>
              <a:t>, arquitectura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 y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solución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implementada</a:t>
            </a:r>
            <a:endParaRPr sz="20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1800"/>
              </a:spcAft>
            </a:pPr>
            <a:r>
              <a:rPr sz="2000" b="0" dirty="0">
                <a:solidFill>
                  <a:srgbClr val="1F1F1F"/>
                </a:solidFill>
                <a:latin typeface="Calibri"/>
              </a:rPr>
              <a:t>• </a:t>
            </a:r>
            <a:r>
              <a:rPr sz="2000" b="1" dirty="0" err="1">
                <a:solidFill>
                  <a:srgbClr val="1F1F1F"/>
                </a:solidFill>
                <a:latin typeface="Calibri"/>
              </a:rPr>
              <a:t>Resultados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: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datos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,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aprendizaje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automático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 y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nube</a:t>
            </a:r>
            <a:endParaRPr sz="20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1800"/>
              </a:spcAft>
            </a:pPr>
            <a:r>
              <a:rPr sz="2000" b="0" dirty="0">
                <a:solidFill>
                  <a:srgbClr val="1F1F1F"/>
                </a:solidFill>
                <a:latin typeface="Calibri"/>
              </a:rPr>
              <a:t>• </a:t>
            </a:r>
            <a:r>
              <a:rPr sz="2000" b="1" dirty="0" err="1">
                <a:solidFill>
                  <a:srgbClr val="1F1F1F"/>
                </a:solidFill>
                <a:latin typeface="Calibri"/>
              </a:rPr>
              <a:t>Aportación</a:t>
            </a:r>
            <a:r>
              <a:rPr sz="2000" b="1" dirty="0">
                <a:solidFill>
                  <a:srgbClr val="1F1F1F"/>
                </a:solidFill>
                <a:latin typeface="Calibri"/>
              </a:rPr>
              <a:t> y </a:t>
            </a:r>
            <a:r>
              <a:rPr sz="2000" b="1" dirty="0" err="1">
                <a:solidFill>
                  <a:srgbClr val="1F1F1F"/>
                </a:solidFill>
                <a:latin typeface="Calibri"/>
              </a:rPr>
              <a:t>aplicabilidad</a:t>
            </a:r>
            <a:r>
              <a:rPr sz="20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2000" b="1" dirty="0" err="1">
                <a:solidFill>
                  <a:srgbClr val="1F1F1F"/>
                </a:solidFill>
                <a:latin typeface="Calibri"/>
              </a:rPr>
              <a:t>práctica</a:t>
            </a:r>
            <a:endParaRPr sz="2000" b="1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1800"/>
              </a:spcAft>
            </a:pPr>
            <a:r>
              <a:rPr sz="2000" b="0" dirty="0">
                <a:solidFill>
                  <a:srgbClr val="1F1F1F"/>
                </a:solidFill>
                <a:latin typeface="Calibri"/>
              </a:rPr>
              <a:t>• </a:t>
            </a:r>
            <a:r>
              <a:rPr sz="2000" b="1" dirty="0" err="1">
                <a:solidFill>
                  <a:srgbClr val="1F1F1F"/>
                </a:solidFill>
                <a:latin typeface="Calibri"/>
              </a:rPr>
              <a:t>Conclusiones</a:t>
            </a:r>
            <a:r>
              <a:rPr sz="2000" b="1" dirty="0">
                <a:solidFill>
                  <a:srgbClr val="1F1F1F"/>
                </a:solidFill>
                <a:latin typeface="Calibri"/>
              </a:rPr>
              <a:t> y </a:t>
            </a:r>
            <a:r>
              <a:rPr sz="2000" b="1" dirty="0" err="1">
                <a:solidFill>
                  <a:srgbClr val="1F1F1F"/>
                </a:solidFill>
                <a:latin typeface="Calibri"/>
              </a:rPr>
              <a:t>trabajo</a:t>
            </a:r>
            <a:r>
              <a:rPr sz="20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2000" b="1" dirty="0" err="1">
                <a:solidFill>
                  <a:srgbClr val="1F1F1F"/>
                </a:solidFill>
                <a:latin typeface="Calibri"/>
              </a:rPr>
              <a:t>futuro</a:t>
            </a:r>
            <a:endParaRPr sz="2000" b="1" dirty="0">
              <a:solidFill>
                <a:srgbClr val="1F1F1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Alcance del estado de la cuestión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1046228"/>
              </p:ext>
            </p:extLst>
          </p:nvPr>
        </p:nvGraphicFramePr>
        <p:xfrm>
          <a:off x="566928" y="2069409"/>
          <a:ext cx="8010144" cy="271918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241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3197">
                <a:tc>
                  <a:txBody>
                    <a:bodyPr/>
                    <a:lstStyle/>
                    <a:p>
                      <a:pPr algn="l"/>
                      <a:r>
                        <a:rPr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Elemento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Cantidad</a:t>
                      </a:r>
                      <a:endParaRPr sz="15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3197">
                <a:tc>
                  <a:txBody>
                    <a:bodyPr/>
                    <a:lstStyle/>
                    <a:p>
                      <a:pPr algn="l"/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Referencias</a:t>
                      </a:r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bibliográficas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3197">
                <a:tc>
                  <a:txBody>
                    <a:bodyPr/>
                    <a:lstStyle/>
                    <a:p>
                      <a:pPr algn="l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   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Recursos</a:t>
                      </a:r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 web y 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documentación</a:t>
                      </a:r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técnica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118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3197">
                <a:tc>
                  <a:txBody>
                    <a:bodyPr/>
                    <a:lstStyle/>
                    <a:p>
                      <a:pPr algn="l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   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Artículos</a:t>
                      </a:r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, 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tesis</a:t>
                      </a:r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 e 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informes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3197">
                <a:tc>
                  <a:txBody>
                    <a:bodyPr/>
                    <a:lstStyle/>
                    <a:p>
                      <a:pPr algn="l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   Libros y 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congresos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3197">
                <a:tc>
                  <a:txBody>
                    <a:bodyPr/>
                    <a:lstStyle/>
                    <a:p>
                      <a:pPr algn="l"/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Definiciones</a:t>
                      </a:r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técnicas</a:t>
                      </a:r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 (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apéndice</a:t>
                      </a:r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 A)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3433" y="5085184"/>
            <a:ext cx="8010144" cy="3385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1" dirty="0">
                <a:solidFill>
                  <a:srgbClr val="1F1F1F"/>
                </a:solidFill>
                <a:latin typeface="Calibri"/>
              </a:rPr>
              <a:t>• </a:t>
            </a:r>
            <a:r>
              <a:rPr lang="es-ES" sz="1600" b="1" dirty="0">
                <a:solidFill>
                  <a:srgbClr val="1F1F1F"/>
                </a:solidFill>
                <a:latin typeface="Calibri"/>
              </a:rPr>
              <a:t>Ciertas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definiciones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se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trasladaron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a un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apéndice</a:t>
            </a:r>
            <a:r>
              <a:rPr lang="es-ES" sz="1600" b="1" dirty="0">
                <a:solidFill>
                  <a:srgbClr val="1F1F1F"/>
                </a:solidFill>
                <a:latin typeface="Calibri"/>
              </a:rPr>
              <a:t> para favorecer la fluidez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.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61057EF9-9C84-A053-0A14-19336AC20D88}"/>
              </a:ext>
            </a:extLst>
          </p:cNvPr>
          <p:cNvSpPr txBox="1"/>
          <p:nvPr/>
        </p:nvSpPr>
        <p:spPr>
          <a:xfrm>
            <a:off x="755576" y="1380559"/>
            <a:ext cx="8010144" cy="58477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1" dirty="0">
                <a:solidFill>
                  <a:srgbClr val="1F1F1F"/>
                </a:solidFill>
                <a:latin typeface="Calibri"/>
              </a:rPr>
              <a:t>• </a:t>
            </a:r>
            <a:r>
              <a:rPr lang="es-ES" sz="1600" b="1" dirty="0">
                <a:solidFill>
                  <a:srgbClr val="1F1F1F"/>
                </a:solidFill>
                <a:latin typeface="Calibri"/>
              </a:rPr>
              <a:t>Cualquiera de los tres campos tratados, por separado, acumula millones de trabajos, en este se ha intentado abarcar lo máximo posible.</a:t>
            </a:r>
            <a:endParaRPr sz="1600" b="1" dirty="0">
              <a:solidFill>
                <a:srgbClr val="1F1F1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Datos I · Qué es un dato abierto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20240"/>
            <a:ext cx="8010144" cy="3577903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9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Open Definition: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accesible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,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en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formato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modificable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y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reutilizable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por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cualquiera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, con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cualquier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fin</a:t>
            </a:r>
            <a:endParaRPr lang="es-ES" sz="1700" b="1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endParaRPr sz="1700" b="1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Marco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normativo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europeo</a:t>
            </a:r>
            <a:endParaRPr sz="1700" b="1" dirty="0">
              <a:solidFill>
                <a:srgbClr val="1F1F1F"/>
              </a:solidFill>
              <a:latin typeface="Calibri"/>
            </a:endParaRPr>
          </a:p>
          <a:p>
            <a:pPr lvl="1">
              <a:spcAft>
                <a:spcPts val="900"/>
              </a:spcAft>
            </a:pPr>
            <a:r>
              <a:rPr lang="es-ES" b="0" dirty="0">
                <a:solidFill>
                  <a:srgbClr val="5A5A5A"/>
                </a:solidFill>
                <a:latin typeface="Calibri"/>
              </a:rPr>
              <a:t>-</a:t>
            </a:r>
            <a:r>
              <a:rPr b="0" dirty="0">
                <a:solidFill>
                  <a:srgbClr val="5A5A5A"/>
                </a:solidFill>
                <a:latin typeface="Calibri"/>
              </a:rPr>
              <a:t> RGPD (2016) </a:t>
            </a:r>
            <a:r>
              <a:rPr lang="es-ES" b="0" dirty="0">
                <a:solidFill>
                  <a:srgbClr val="5A5A5A"/>
                </a:solidFill>
                <a:latin typeface="Calibri"/>
              </a:rPr>
              <a:t>-</a:t>
            </a:r>
            <a:r>
              <a:rPr b="0" dirty="0">
                <a:solidFill>
                  <a:srgbClr val="5A5A5A"/>
                </a:solidFill>
                <a:latin typeface="Calibri"/>
              </a:rPr>
              <a:t> </a:t>
            </a:r>
            <a:r>
              <a:rPr b="0" dirty="0" err="1">
                <a:solidFill>
                  <a:srgbClr val="5A5A5A"/>
                </a:solidFill>
                <a:latin typeface="Calibri"/>
              </a:rPr>
              <a:t>protección</a:t>
            </a:r>
            <a:r>
              <a:rPr b="0" dirty="0">
                <a:solidFill>
                  <a:srgbClr val="5A5A5A"/>
                </a:solidFill>
                <a:latin typeface="Calibri"/>
              </a:rPr>
              <a:t> de </a:t>
            </a:r>
            <a:r>
              <a:rPr b="0" dirty="0" err="1">
                <a:solidFill>
                  <a:srgbClr val="5A5A5A"/>
                </a:solidFill>
                <a:latin typeface="Calibri"/>
              </a:rPr>
              <a:t>datos</a:t>
            </a:r>
            <a:r>
              <a:rPr b="0" dirty="0">
                <a:solidFill>
                  <a:srgbClr val="5A5A5A"/>
                </a:solidFill>
                <a:latin typeface="Calibri"/>
              </a:rPr>
              <a:t> </a:t>
            </a:r>
            <a:r>
              <a:rPr b="0" dirty="0" err="1">
                <a:solidFill>
                  <a:srgbClr val="5A5A5A"/>
                </a:solidFill>
                <a:latin typeface="Calibri"/>
              </a:rPr>
              <a:t>personales</a:t>
            </a:r>
            <a:endParaRPr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900"/>
              </a:spcAft>
            </a:pPr>
            <a:r>
              <a:rPr lang="es-ES" b="0" dirty="0">
                <a:solidFill>
                  <a:srgbClr val="5A5A5A"/>
                </a:solidFill>
                <a:latin typeface="Calibri"/>
              </a:rPr>
              <a:t>-</a:t>
            </a:r>
            <a:r>
              <a:rPr b="0" dirty="0">
                <a:solidFill>
                  <a:srgbClr val="5A5A5A"/>
                </a:solidFill>
                <a:latin typeface="Calibri"/>
              </a:rPr>
              <a:t> Ley de </a:t>
            </a:r>
            <a:r>
              <a:rPr b="0" dirty="0" err="1">
                <a:solidFill>
                  <a:srgbClr val="5A5A5A"/>
                </a:solidFill>
                <a:latin typeface="Calibri"/>
              </a:rPr>
              <a:t>Gobernanza</a:t>
            </a:r>
            <a:r>
              <a:rPr b="0" dirty="0">
                <a:solidFill>
                  <a:srgbClr val="5A5A5A"/>
                </a:solidFill>
                <a:latin typeface="Calibri"/>
              </a:rPr>
              <a:t> de Datos (2022) </a:t>
            </a:r>
            <a:r>
              <a:rPr lang="es-ES" b="0" dirty="0">
                <a:solidFill>
                  <a:srgbClr val="5A5A5A"/>
                </a:solidFill>
                <a:latin typeface="Calibri"/>
              </a:rPr>
              <a:t>-</a:t>
            </a:r>
            <a:r>
              <a:rPr b="0" dirty="0">
                <a:solidFill>
                  <a:srgbClr val="5A5A5A"/>
                </a:solidFill>
                <a:latin typeface="Calibri"/>
              </a:rPr>
              <a:t> </a:t>
            </a:r>
            <a:r>
              <a:rPr b="0" dirty="0" err="1">
                <a:solidFill>
                  <a:srgbClr val="5A5A5A"/>
                </a:solidFill>
                <a:latin typeface="Calibri"/>
              </a:rPr>
              <a:t>reutilización</a:t>
            </a:r>
            <a:r>
              <a:rPr b="0" dirty="0">
                <a:solidFill>
                  <a:srgbClr val="5A5A5A"/>
                </a:solidFill>
                <a:latin typeface="Calibri"/>
              </a:rPr>
              <a:t> y </a:t>
            </a:r>
            <a:r>
              <a:rPr b="0" dirty="0" err="1">
                <a:solidFill>
                  <a:srgbClr val="5A5A5A"/>
                </a:solidFill>
                <a:latin typeface="Calibri"/>
              </a:rPr>
              <a:t>espacios</a:t>
            </a:r>
            <a:r>
              <a:rPr b="0" dirty="0">
                <a:solidFill>
                  <a:srgbClr val="5A5A5A"/>
                </a:solidFill>
                <a:latin typeface="Calibri"/>
              </a:rPr>
              <a:t> de </a:t>
            </a:r>
            <a:r>
              <a:rPr b="0" dirty="0" err="1">
                <a:solidFill>
                  <a:srgbClr val="5A5A5A"/>
                </a:solidFill>
                <a:latin typeface="Calibri"/>
              </a:rPr>
              <a:t>datos</a:t>
            </a:r>
            <a:endParaRPr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900"/>
              </a:spcAft>
            </a:pPr>
            <a:r>
              <a:rPr lang="es-ES" b="0" dirty="0">
                <a:solidFill>
                  <a:srgbClr val="5A5A5A"/>
                </a:solidFill>
                <a:latin typeface="Calibri"/>
              </a:rPr>
              <a:t>-</a:t>
            </a:r>
            <a:r>
              <a:rPr b="0" dirty="0">
                <a:solidFill>
                  <a:srgbClr val="5A5A5A"/>
                </a:solidFill>
                <a:latin typeface="Calibri"/>
              </a:rPr>
              <a:t> </a:t>
            </a:r>
            <a:r>
              <a:rPr b="0" dirty="0" err="1">
                <a:solidFill>
                  <a:srgbClr val="5A5A5A"/>
                </a:solidFill>
                <a:latin typeface="Calibri"/>
              </a:rPr>
              <a:t>Reglamento</a:t>
            </a:r>
            <a:r>
              <a:rPr b="0" dirty="0">
                <a:solidFill>
                  <a:srgbClr val="5A5A5A"/>
                </a:solidFill>
                <a:latin typeface="Calibri"/>
              </a:rPr>
              <a:t> de IA (2024) </a:t>
            </a:r>
            <a:r>
              <a:rPr lang="es-ES" b="0" dirty="0">
                <a:solidFill>
                  <a:srgbClr val="5A5A5A"/>
                </a:solidFill>
                <a:latin typeface="Calibri"/>
              </a:rPr>
              <a:t>-</a:t>
            </a:r>
            <a:r>
              <a:rPr b="0" dirty="0">
                <a:solidFill>
                  <a:srgbClr val="5A5A5A"/>
                </a:solidFill>
                <a:latin typeface="Calibri"/>
              </a:rPr>
              <a:t> </a:t>
            </a:r>
            <a:r>
              <a:rPr b="0" dirty="0" err="1">
                <a:solidFill>
                  <a:srgbClr val="5A5A5A"/>
                </a:solidFill>
                <a:latin typeface="Calibri"/>
              </a:rPr>
              <a:t>qué</a:t>
            </a:r>
            <a:r>
              <a:rPr b="0" dirty="0">
                <a:solidFill>
                  <a:srgbClr val="5A5A5A"/>
                </a:solidFill>
                <a:latin typeface="Calibri"/>
              </a:rPr>
              <a:t> </a:t>
            </a:r>
            <a:r>
              <a:rPr b="0" dirty="0" err="1">
                <a:solidFill>
                  <a:srgbClr val="5A5A5A"/>
                </a:solidFill>
                <a:latin typeface="Calibri"/>
              </a:rPr>
              <a:t>modelos</a:t>
            </a:r>
            <a:r>
              <a:rPr b="0" dirty="0">
                <a:solidFill>
                  <a:srgbClr val="5A5A5A"/>
                </a:solidFill>
                <a:latin typeface="Calibri"/>
              </a:rPr>
              <a:t> son </a:t>
            </a:r>
            <a:r>
              <a:rPr b="0" dirty="0" err="1">
                <a:solidFill>
                  <a:srgbClr val="5A5A5A"/>
                </a:solidFill>
                <a:latin typeface="Calibri"/>
              </a:rPr>
              <a:t>admisibles</a:t>
            </a:r>
            <a:r>
              <a:rPr b="0" dirty="0">
                <a:solidFill>
                  <a:srgbClr val="5A5A5A"/>
                </a:solidFill>
                <a:latin typeface="Calibri"/>
              </a:rPr>
              <a:t> y bajo </a:t>
            </a:r>
            <a:r>
              <a:rPr b="0" dirty="0" err="1">
                <a:solidFill>
                  <a:srgbClr val="5A5A5A"/>
                </a:solidFill>
                <a:latin typeface="Calibri"/>
              </a:rPr>
              <a:t>qué</a:t>
            </a:r>
            <a:r>
              <a:rPr b="0" dirty="0">
                <a:solidFill>
                  <a:srgbClr val="5A5A5A"/>
                </a:solidFill>
                <a:latin typeface="Calibri"/>
              </a:rPr>
              <a:t> </a:t>
            </a:r>
            <a:r>
              <a:rPr b="0" dirty="0" err="1">
                <a:solidFill>
                  <a:srgbClr val="5A5A5A"/>
                </a:solidFill>
                <a:latin typeface="Calibri"/>
              </a:rPr>
              <a:t>garantías</a:t>
            </a:r>
            <a:endParaRPr lang="es-ES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900"/>
              </a:spcAft>
            </a:pPr>
            <a:endParaRPr b="0" dirty="0">
              <a:solidFill>
                <a:srgbClr val="5A5A5A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Datos de alto valor: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geoespaciales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,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medioambiente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,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movilidad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,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estadística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,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sociedades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y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observación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de la Tierra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 dirty="0">
                <a:solidFill>
                  <a:srgbClr val="C00530"/>
                </a:solidFill>
                <a:latin typeface="Calibri"/>
              </a:rPr>
              <a:t>Datos II · Los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trabajos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 </a:t>
            </a:r>
            <a:r>
              <a:rPr lang="es-ES" sz="2500" b="1" dirty="0">
                <a:solidFill>
                  <a:srgbClr val="C00530"/>
                </a:solidFill>
                <a:latin typeface="Calibri"/>
              </a:rPr>
              <a:t>replicados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1793210"/>
              </p:ext>
            </p:extLst>
          </p:nvPr>
        </p:nvGraphicFramePr>
        <p:xfrm>
          <a:off x="566928" y="2011680"/>
          <a:ext cx="8010144" cy="2103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78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4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Trabajo</a:t>
                      </a:r>
                      <a:endParaRPr sz="14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Año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Aportación al trabajo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Meneses y García
«Madrid, isla de calor»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2022- 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Las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cinco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aproximaciones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de
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agrupamiento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;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replico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y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extiendo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Saiz Santos
«</a:t>
                      </a:r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+mn-lt"/>
                        </a:rPr>
                        <a:t>Análisis de datos de la ciudad de Madrid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»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2022-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Los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datos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de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movilidad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;
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procesados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, no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analizados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572000"/>
            <a:ext cx="8010144" cy="1005403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Se parte de estudios ya realizados sobre un único año, para evaluar su replicación y su posible mejora.</a:t>
            </a:r>
          </a:p>
          <a:p>
            <a:pPr>
              <a:spcAft>
                <a:spcPts val="1000"/>
              </a:spcAft>
            </a:pPr>
            <a:r>
              <a:rPr sz="1700" b="0" dirty="0">
                <a:solidFill>
                  <a:srgbClr val="1F1F1F"/>
                </a:solidFill>
                <a:latin typeface="Calibri"/>
              </a:rPr>
              <a:t>• Ambos son </a:t>
            </a:r>
            <a:r>
              <a:rPr sz="1700" b="0" dirty="0" err="1">
                <a:solidFill>
                  <a:srgbClr val="1F1F1F"/>
                </a:solidFill>
                <a:latin typeface="Calibri"/>
              </a:rPr>
              <a:t>trabajos</a:t>
            </a:r>
            <a:r>
              <a:rPr sz="1700" b="0" dirty="0">
                <a:solidFill>
                  <a:srgbClr val="1F1F1F"/>
                </a:solidFill>
                <a:latin typeface="Calibri"/>
              </a:rPr>
              <a:t> de la </a:t>
            </a:r>
            <a:r>
              <a:rPr sz="1700" b="0" dirty="0" err="1">
                <a:solidFill>
                  <a:srgbClr val="1F1F1F"/>
                </a:solidFill>
                <a:latin typeface="Calibri"/>
              </a:rPr>
              <a:t>propia</a:t>
            </a:r>
            <a:r>
              <a:rPr sz="17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1F1F1F"/>
                </a:solidFill>
                <a:latin typeface="Calibri"/>
              </a:rPr>
              <a:t>Facultad</a:t>
            </a:r>
            <a:r>
              <a:rPr sz="1700" b="0" dirty="0">
                <a:solidFill>
                  <a:srgbClr val="1F1F1F"/>
                </a:solidFill>
                <a:latin typeface="Calibri"/>
              </a:rPr>
              <a:t>, con </a:t>
            </a:r>
            <a:r>
              <a:rPr sz="1700" b="0" dirty="0" err="1">
                <a:solidFill>
                  <a:srgbClr val="1F1F1F"/>
                </a:solidFill>
                <a:latin typeface="Calibri"/>
              </a:rPr>
              <a:t>código</a:t>
            </a:r>
            <a:r>
              <a:rPr sz="17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1F1F1F"/>
                </a:solidFill>
                <a:latin typeface="Calibri"/>
              </a:rPr>
              <a:t>publicado</a:t>
            </a:r>
            <a:endParaRPr sz="1700" b="0" dirty="0">
              <a:solidFill>
                <a:srgbClr val="1F1F1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Nube I · Capas gratuitas evaluadas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5728036"/>
              </p:ext>
            </p:extLst>
          </p:nvPr>
        </p:nvGraphicFramePr>
        <p:xfrm>
          <a:off x="566928" y="1965960"/>
          <a:ext cx="8010145" cy="26243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608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62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88849">
                  <a:extLst>
                    <a:ext uri="{9D8B030D-6E8A-4147-A177-3AD203B41FA5}">
                      <a16:colId xmlns:a16="http://schemas.microsoft.com/office/drawing/2014/main" val="2118817019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Proveedor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Oferta gratuita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¿</a:t>
                      </a:r>
                      <a:r>
                        <a:rPr sz="15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Usado</a:t>
                      </a:r>
                      <a:r>
                        <a:rPr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Base</a:t>
                      </a:r>
                      <a:endParaRPr sz="15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Amazon Web Services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200 $ en créditos · 6 meses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EE. UU.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Google Cloud Platform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300 $ en créditos · 90 días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EE. UU.</a:t>
                      </a:r>
                    </a:p>
                    <a:p>
                      <a:pPr algn="ctr"/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Microsoft Azure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12 meses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Descartado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EE. UU.</a:t>
                      </a:r>
                    </a:p>
                    <a:p>
                      <a:pPr algn="ctr"/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OVHcloud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200 € 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en</a:t>
                      </a:r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créditos</a:t>
                      </a:r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 · 1 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mes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dirty="0" err="1">
                          <a:solidFill>
                            <a:srgbClr val="1F1F1F"/>
                          </a:solidFill>
                          <a:latin typeface="+mn-lt"/>
                        </a:rPr>
                        <a:t>Evaluado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Europa (Francia)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Kaggle / Colab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GPU con cuota semanal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Evaluado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EE. UU.</a:t>
                      </a:r>
                    </a:p>
                    <a:p>
                      <a:pPr algn="ctr"/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892040"/>
            <a:ext cx="8010144" cy="353943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Las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capas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gratuitas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bastan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para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investigación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de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tamaño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moderado</a:t>
            </a:r>
            <a:endParaRPr sz="1700" b="1" dirty="0">
              <a:solidFill>
                <a:srgbClr val="1F1F1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Nube II · Alternativas europeas y soberanía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20240"/>
            <a:ext cx="8010144" cy="302390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9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Se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evaluaron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alternativas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europeas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antes de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recurrir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a las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nubes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americanas</a:t>
            </a:r>
            <a:endParaRPr sz="1700" b="1" dirty="0">
              <a:solidFill>
                <a:srgbClr val="1F1F1F"/>
              </a:solidFill>
              <a:latin typeface="Calibri"/>
            </a:endParaRPr>
          </a:p>
          <a:p>
            <a:pPr lvl="1">
              <a:spcAft>
                <a:spcPts val="9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OVHcloud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proveedor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europeo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con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entornos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gestionados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de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modelado</a:t>
            </a:r>
            <a:endParaRPr sz="1400"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9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OpenNebula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plataforma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IaaS de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código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abierto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origen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UCM</a:t>
            </a:r>
          </a:p>
          <a:p>
            <a:pPr lvl="1">
              <a:spcAft>
                <a:spcPts val="9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NubeSARA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nube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de la Administración General del Estado</a:t>
            </a:r>
          </a:p>
          <a:p>
            <a:pPr lvl="1">
              <a:spcAft>
                <a:spcPts val="9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 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BDTI (Comisión Europea) 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cómputo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gratuito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para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reutilizar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datos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públicos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;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cerró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en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marzo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de 2025</a:t>
            </a:r>
            <a:endParaRPr lang="es-ES" sz="1400"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900"/>
              </a:spcAft>
            </a:pPr>
            <a:r>
              <a:rPr lang="en-US" sz="1400" dirty="0">
                <a:solidFill>
                  <a:srgbClr val="5A5A5A"/>
                </a:solidFill>
              </a:rPr>
              <a:t>- Canonical MicroCloud – Nube privada de código abierto</a:t>
            </a:r>
            <a:endParaRPr sz="1400" b="0" dirty="0">
              <a:solidFill>
                <a:srgbClr val="5A5A5A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endParaRPr lang="en-US" sz="1700" b="1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sz="1700" b="1" dirty="0" err="1">
                <a:solidFill>
                  <a:srgbClr val="1F1F1F"/>
                </a:solidFill>
                <a:latin typeface="Calibri"/>
              </a:rPr>
              <a:t>Decisión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adoptada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: AWS y GCP,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configurados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para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operar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en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regiones de la UE (eu-west-1 y europe-west1)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 dirty="0">
                <a:solidFill>
                  <a:srgbClr val="C00530"/>
                </a:solidFill>
                <a:latin typeface="Calibri"/>
              </a:rPr>
              <a:t>IA I · Selección de algoritmos y tecnologías evaluadas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84578" y="1984092"/>
            <a:ext cx="3573024" cy="288797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700" b="1" dirty="0">
                <a:solidFill>
                  <a:srgbClr val="1F1F1F"/>
                </a:solidFill>
                <a:latin typeface="Calibri"/>
              </a:rPr>
              <a:t>- 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AutoML (Vertex AI AutoML, SageMaker Autopilot)</a:t>
            </a:r>
          </a:p>
          <a:p>
            <a:pPr marL="742950" lvl="1" indent="-285750">
              <a:spcAft>
                <a:spcPts val="800"/>
              </a:spcAft>
              <a:buFontTx/>
              <a:buChar char="-"/>
            </a:pPr>
            <a:r>
              <a:rPr lang="es-ES" sz="1400" dirty="0">
                <a:solidFill>
                  <a:srgbClr val="5A5A5A"/>
                </a:solidFill>
              </a:rPr>
              <a:t>- Automatizan selección de modelo e </a:t>
            </a:r>
            <a:r>
              <a:rPr lang="es-ES" sz="1400" dirty="0" err="1">
                <a:solidFill>
                  <a:srgbClr val="5A5A5A"/>
                </a:solidFill>
              </a:rPr>
              <a:t>hiperparámetros</a:t>
            </a:r>
            <a:r>
              <a:rPr lang="es-ES" sz="1400" dirty="0">
                <a:solidFill>
                  <a:srgbClr val="5A5A5A"/>
                </a:solidFill>
              </a:rPr>
              <a:t> en tareas supervisadas.</a:t>
            </a:r>
          </a:p>
          <a:p>
            <a:pPr>
              <a:spcAft>
                <a:spcPts val="800"/>
              </a:spcAft>
            </a:pPr>
            <a:r>
              <a:rPr lang="es-ES" sz="1700" b="1" dirty="0">
                <a:solidFill>
                  <a:srgbClr val="1F1F1F"/>
                </a:solidFill>
                <a:latin typeface="Calibri"/>
              </a:rPr>
              <a:t>- </a:t>
            </a:r>
            <a:r>
              <a:rPr lang="es-ES" sz="1700" b="1" dirty="0" err="1">
                <a:solidFill>
                  <a:srgbClr val="1F1F1F"/>
                </a:solidFill>
                <a:latin typeface="Calibri"/>
              </a:rPr>
              <a:t>MLOps</a:t>
            </a:r>
            <a:r>
              <a:rPr lang="es-ES" sz="1700" b="1" dirty="0">
                <a:solidFill>
                  <a:srgbClr val="1F1F1F"/>
                </a:solidFill>
                <a:latin typeface="Calibri"/>
              </a:rPr>
              <a:t> - versionado de código y datos, registro de ejecuciones, </a:t>
            </a:r>
            <a:r>
              <a:rPr lang="es-ES" sz="1700" b="1" dirty="0" err="1">
                <a:solidFill>
                  <a:srgbClr val="1F1F1F"/>
                </a:solidFill>
                <a:latin typeface="Calibri"/>
              </a:rPr>
              <a:t>IaC</a:t>
            </a:r>
            <a:r>
              <a:rPr lang="es-ES" sz="1700" b="1" dirty="0">
                <a:solidFill>
                  <a:srgbClr val="1F1F1F"/>
                </a:solidFill>
                <a:latin typeface="Calibri"/>
              </a:rPr>
              <a:t>…</a:t>
            </a:r>
          </a:p>
          <a:p>
            <a:pPr>
              <a:spcAft>
                <a:spcPts val="800"/>
              </a:spcAft>
            </a:pPr>
            <a:r>
              <a:rPr lang="es-ES" sz="1700" b="1" dirty="0">
                <a:solidFill>
                  <a:srgbClr val="1F1F1F"/>
                </a:solidFill>
                <a:latin typeface="Calibri"/>
              </a:rPr>
              <a:t>- 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LLM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sobre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datos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tabulares</a:t>
            </a:r>
            <a:endParaRPr sz="1700" b="1" dirty="0">
              <a:solidFill>
                <a:srgbClr val="1F1F1F"/>
              </a:solidFill>
              <a:latin typeface="Calibri"/>
            </a:endParaRPr>
          </a:p>
          <a:p>
            <a:pPr lvl="1">
              <a:spcAft>
                <a:spcPts val="8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Las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ventanas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actuales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admiten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miles de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filas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pero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siempre pueden alucinar.</a:t>
            </a:r>
            <a:endParaRPr sz="1400" b="0" dirty="0">
              <a:solidFill>
                <a:srgbClr val="5A5A5A"/>
              </a:solidFill>
              <a:latin typeface="Calibri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9326C89-8A94-8E82-D3ED-98F3634A0ADA}"/>
              </a:ext>
            </a:extLst>
          </p:cNvPr>
          <p:cNvSpPr txBox="1"/>
          <p:nvPr/>
        </p:nvSpPr>
        <p:spPr>
          <a:xfrm>
            <a:off x="566928" y="1984092"/>
            <a:ext cx="3717040" cy="36574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es-ES" sz="1700" b="1" dirty="0">
                <a:solidFill>
                  <a:srgbClr val="1F1F1F"/>
                </a:solidFill>
                <a:latin typeface="Calibri"/>
              </a:rPr>
              <a:t>Modelos ML – (Machine </a:t>
            </a:r>
            <a:r>
              <a:rPr lang="es-ES" sz="1700" b="1" dirty="0" err="1">
                <a:solidFill>
                  <a:srgbClr val="1F1F1F"/>
                </a:solidFill>
                <a:latin typeface="Calibri"/>
              </a:rPr>
              <a:t>learning</a:t>
            </a:r>
            <a:r>
              <a:rPr lang="es-ES" sz="1700" b="1" dirty="0">
                <a:solidFill>
                  <a:srgbClr val="1F1F1F"/>
                </a:solidFill>
                <a:latin typeface="Calibri"/>
              </a:rPr>
              <a:t>)</a:t>
            </a:r>
            <a:endParaRPr lang="es-ES" sz="1700" b="1" dirty="0">
              <a:solidFill>
                <a:srgbClr val="1F1F1F"/>
              </a:solidFill>
            </a:endParaRPr>
          </a:p>
          <a:p>
            <a:pPr lvl="1">
              <a:spcAft>
                <a:spcPts val="800"/>
              </a:spcAft>
            </a:pPr>
            <a:r>
              <a:rPr lang="es-ES" sz="1400" dirty="0">
                <a:solidFill>
                  <a:srgbClr val="5A5A5A"/>
                </a:solidFill>
              </a:rPr>
              <a:t>-Paso 1: ¿Se necesita predecir algo?</a:t>
            </a:r>
          </a:p>
          <a:p>
            <a:pPr lvl="1">
              <a:spcAft>
                <a:spcPts val="800"/>
              </a:spcAft>
            </a:pPr>
            <a:r>
              <a:rPr lang="es-ES" sz="1400" dirty="0">
                <a:solidFill>
                  <a:srgbClr val="5A5A5A"/>
                </a:solidFill>
              </a:rPr>
              <a:t>SÍ (Supervisado) -&gt; Clasificación, Regresión, Series Temporales.</a:t>
            </a:r>
          </a:p>
          <a:p>
            <a:pPr lvl="1">
              <a:spcAft>
                <a:spcPts val="800"/>
              </a:spcAft>
            </a:pPr>
            <a:r>
              <a:rPr lang="es-ES" sz="1400" dirty="0">
                <a:solidFill>
                  <a:srgbClr val="5A5A5A"/>
                </a:solidFill>
              </a:rPr>
              <a:t>NO (No supervisado) -&gt; Grupos (agrupamiento) o Anomalías. </a:t>
            </a:r>
          </a:p>
          <a:p>
            <a:pPr lvl="1">
              <a:spcAft>
                <a:spcPts val="800"/>
              </a:spcAft>
            </a:pPr>
            <a:r>
              <a:rPr lang="es-ES" sz="1400" dirty="0">
                <a:solidFill>
                  <a:srgbClr val="5A5A5A"/>
                </a:solidFill>
              </a:rPr>
              <a:t>-Paso 2: ¿Qué tipo de datos tenemos?</a:t>
            </a:r>
          </a:p>
          <a:p>
            <a:pPr lvl="1">
              <a:spcAft>
                <a:spcPts val="800"/>
              </a:spcAft>
            </a:pPr>
            <a:r>
              <a:rPr lang="es-ES" sz="1400" dirty="0">
                <a:solidFill>
                  <a:srgbClr val="5A5A5A"/>
                </a:solidFill>
              </a:rPr>
              <a:t>Simples (Estructurados): </a:t>
            </a:r>
            <a:r>
              <a:rPr lang="es-ES" sz="1400" b="1" dirty="0">
                <a:solidFill>
                  <a:srgbClr val="5A5A5A"/>
                </a:solidFill>
              </a:rPr>
              <a:t>Árboles, KNN, K-</a:t>
            </a:r>
            <a:r>
              <a:rPr lang="es-ES" sz="1400" b="1" dirty="0" err="1">
                <a:solidFill>
                  <a:srgbClr val="5A5A5A"/>
                </a:solidFill>
              </a:rPr>
              <a:t>means</a:t>
            </a:r>
            <a:r>
              <a:rPr lang="es-ES" sz="1400" b="1" dirty="0">
                <a:solidFill>
                  <a:srgbClr val="5A5A5A"/>
                </a:solidFill>
              </a:rPr>
              <a:t>.</a:t>
            </a:r>
          </a:p>
          <a:p>
            <a:pPr lvl="1">
              <a:spcAft>
                <a:spcPts val="800"/>
              </a:spcAft>
            </a:pPr>
            <a:r>
              <a:rPr lang="es-ES" sz="1400" dirty="0">
                <a:solidFill>
                  <a:srgbClr val="5A5A5A"/>
                </a:solidFill>
              </a:rPr>
              <a:t>Intermedios: </a:t>
            </a:r>
            <a:r>
              <a:rPr lang="es-ES" sz="1400" dirty="0" err="1">
                <a:solidFill>
                  <a:srgbClr val="5A5A5A"/>
                </a:solidFill>
              </a:rPr>
              <a:t>Ensembles</a:t>
            </a:r>
            <a:r>
              <a:rPr lang="es-ES" sz="1400" dirty="0">
                <a:solidFill>
                  <a:srgbClr val="5A5A5A"/>
                </a:solidFill>
              </a:rPr>
              <a:t> (Random Forest, </a:t>
            </a:r>
            <a:r>
              <a:rPr lang="es-ES" sz="1400" dirty="0" err="1">
                <a:solidFill>
                  <a:srgbClr val="5A5A5A"/>
                </a:solidFill>
              </a:rPr>
              <a:t>XGBoost</a:t>
            </a:r>
            <a:r>
              <a:rPr lang="es-ES" sz="1400" dirty="0">
                <a:solidFill>
                  <a:srgbClr val="5A5A5A"/>
                </a:solidFill>
              </a:rPr>
              <a:t>), DBSCAN.</a:t>
            </a:r>
          </a:p>
          <a:p>
            <a:pPr lvl="1">
              <a:spcAft>
                <a:spcPts val="800"/>
              </a:spcAft>
            </a:pPr>
            <a:r>
              <a:rPr lang="es-ES" sz="1400" dirty="0">
                <a:solidFill>
                  <a:srgbClr val="5A5A5A"/>
                </a:solidFill>
              </a:rPr>
              <a:t>Complejos (Texto/Imágenes): Redes Neuronales, </a:t>
            </a:r>
            <a:r>
              <a:rPr lang="es-ES" sz="1400" dirty="0" err="1">
                <a:solidFill>
                  <a:srgbClr val="5A5A5A"/>
                </a:solidFill>
              </a:rPr>
              <a:t>LLMs</a:t>
            </a:r>
            <a:r>
              <a:rPr lang="es-ES" sz="1400" dirty="0">
                <a:solidFill>
                  <a:srgbClr val="5A5A5A"/>
                </a:solidFill>
              </a:rPr>
              <a:t>.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C0A8A0D2-3D56-B7A9-99D0-EC2772537289}"/>
              </a:ext>
            </a:extLst>
          </p:cNvPr>
          <p:cNvCxnSpPr/>
          <p:nvPr/>
        </p:nvCxnSpPr>
        <p:spPr>
          <a:xfrm>
            <a:off x="4499992" y="1984092"/>
            <a:ext cx="0" cy="3600400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 dirty="0">
                <a:solidFill>
                  <a:srgbClr val="C00530"/>
                </a:solidFill>
                <a:latin typeface="Calibri"/>
              </a:rPr>
              <a:t>IA </a:t>
            </a:r>
            <a:r>
              <a:rPr lang="es-ES" sz="2500" b="1" dirty="0">
                <a:solidFill>
                  <a:srgbClr val="C00530"/>
                </a:solidFill>
                <a:latin typeface="Calibri"/>
              </a:rPr>
              <a:t>I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I ·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Problema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 no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supervisado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1725464"/>
            <a:ext cx="4293104" cy="170046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9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</a:t>
            </a:r>
            <a:r>
              <a:rPr lang="es-ES" sz="1700" b="1" dirty="0">
                <a:solidFill>
                  <a:srgbClr val="1F1F1F"/>
                </a:solidFill>
                <a:latin typeface="Calibri"/>
              </a:rPr>
              <a:t>No e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xiste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una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variable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objetivo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que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predecir</a:t>
            </a:r>
            <a:endParaRPr lang="es-ES" sz="1700" b="1" dirty="0">
              <a:solidFill>
                <a:srgbClr val="1F1F1F"/>
              </a:solidFill>
              <a:latin typeface="Calibri"/>
            </a:endParaRPr>
          </a:p>
          <a:p>
            <a:pPr lvl="1">
              <a:spcAft>
                <a:spcPts val="9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El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objetivo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es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descubrir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la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estructura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 no definida</a:t>
            </a:r>
            <a:endParaRPr lang="es-ES" sz="17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endParaRPr lang="en-US" sz="170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sz="1700" b="0" dirty="0" err="1">
                <a:solidFill>
                  <a:srgbClr val="1F1F1F"/>
                </a:solidFill>
                <a:latin typeface="Calibri"/>
              </a:rPr>
              <a:t>Técnicas: k-means, agrupamiento jerárquico de Ward y correlación de Pearson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4529F819-679F-8ABF-A556-A227A02C84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010" y="3741652"/>
            <a:ext cx="6455274" cy="2582110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2D6D86C3-B2C6-889B-1373-810EE6EEF3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3218" y="1279987"/>
            <a:ext cx="3239275" cy="25914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A44D20-B77C-A8DD-0867-6B30FED90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CuadroTexto">
            <a:extLst>
              <a:ext uri="{FF2B5EF4-FFF2-40B4-BE49-F238E27FC236}">
                <a16:creationId xmlns:a16="http://schemas.microsoft.com/office/drawing/2014/main" id="{89672C26-C910-3FBC-1D09-00FDF84A50AD}"/>
              </a:ext>
            </a:extLst>
          </p:cNvPr>
          <p:cNvSpPr txBox="1"/>
          <p:nvPr/>
        </p:nvSpPr>
        <p:spPr>
          <a:xfrm>
            <a:off x="0" y="3458938"/>
            <a:ext cx="9144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METODOLOGÍA</a:t>
            </a:r>
          </a:p>
        </p:txBody>
      </p:sp>
      <p:pic>
        <p:nvPicPr>
          <p:cNvPr id="8" name="Picture 7" descr="1789408462696_image.png">
            <a:extLst>
              <a:ext uri="{FF2B5EF4-FFF2-40B4-BE49-F238E27FC236}">
                <a16:creationId xmlns:a16="http://schemas.microsoft.com/office/drawing/2014/main" id="{6834993D-68EE-BCFD-2C7A-0F41BD58A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7" y="6382512"/>
            <a:ext cx="658368" cy="230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1970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 dirty="0">
                <a:solidFill>
                  <a:srgbClr val="C00530"/>
                </a:solidFill>
                <a:latin typeface="Calibri"/>
              </a:rPr>
              <a:t>Marco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metodológico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1783080"/>
            <a:ext cx="8010144" cy="58477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1" dirty="0">
                <a:solidFill>
                  <a:srgbClr val="1F1F1F"/>
                </a:solidFill>
                <a:latin typeface="Calibri"/>
              </a:rPr>
              <a:t>• </a:t>
            </a:r>
            <a:r>
              <a:rPr lang="es-ES" sz="1600" b="1" dirty="0">
                <a:solidFill>
                  <a:srgbClr val="1F1F1F"/>
                </a:solidFill>
                <a:latin typeface="Calibri"/>
              </a:rPr>
              <a:t>Bases en m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arcos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consolidados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: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arquitectura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de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medalla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·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gobernanza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en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tres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capas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(OECD) ·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MLOps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· Well-Architected de AWS y GCP ·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marco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normativo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europeo</a:t>
            </a:r>
            <a:endParaRPr sz="1600" b="1" dirty="0">
              <a:solidFill>
                <a:srgbClr val="1F1F1F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2834640"/>
            <a:ext cx="8010144" cy="188000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700"/>
              </a:spcAft>
            </a:pPr>
            <a:r>
              <a:rPr lang="es-ES" sz="1700" b="1" dirty="0">
                <a:solidFill>
                  <a:srgbClr val="1F1F1F"/>
                </a:solidFill>
                <a:latin typeface="Calibri"/>
              </a:rPr>
              <a:t>Cinco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principios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,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independientes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del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dominio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:</a:t>
            </a:r>
          </a:p>
          <a:p>
            <a:pPr lvl="1">
              <a:spcAft>
                <a:spcPts val="7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1.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Portabilidad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por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abstracción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del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almacenamiento</a:t>
            </a:r>
            <a:endParaRPr sz="1400"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7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2.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Configuración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declarativa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por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patrón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de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fichero</a:t>
            </a:r>
            <a:endParaRPr sz="1400"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7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3.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Replicar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antes de extender</a:t>
            </a:r>
          </a:p>
          <a:p>
            <a:pPr lvl="1">
              <a:spcAft>
                <a:spcPts val="7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4. Ingesta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como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auditoría</a:t>
            </a:r>
            <a:endParaRPr sz="1400"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7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5. Coste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nulo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como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restricción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de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diseño</a:t>
            </a:r>
            <a:endParaRPr sz="1400" b="0" dirty="0">
              <a:solidFill>
                <a:srgbClr val="5A5A5A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5013176"/>
            <a:ext cx="8010144" cy="3385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1" dirty="0">
                <a:solidFill>
                  <a:srgbClr val="1F1F1F"/>
                </a:solidFill>
                <a:latin typeface="Calibri"/>
              </a:rPr>
              <a:t>• </a:t>
            </a:r>
            <a:r>
              <a:rPr lang="es-ES" sz="1600" b="1" dirty="0">
                <a:solidFill>
                  <a:srgbClr val="1F1F1F"/>
                </a:solidFill>
                <a:latin typeface="Calibri"/>
              </a:rPr>
              <a:t>Aplicados a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l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caso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de la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isla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de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calor</a:t>
            </a:r>
            <a:r>
              <a:rPr lang="es-ES" sz="1600" b="1" dirty="0">
                <a:solidFill>
                  <a:srgbClr val="1F1F1F"/>
                </a:solidFill>
                <a:latin typeface="Calibri"/>
              </a:rPr>
              <a:t>.</a:t>
            </a:r>
            <a:endParaRPr sz="1600" b="1" dirty="0">
              <a:solidFill>
                <a:srgbClr val="1F1F1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Arquitectura de la solución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35696" y="5085184"/>
            <a:ext cx="6885392" cy="615553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lang="es-ES" sz="1700" dirty="0">
                <a:solidFill>
                  <a:srgbClr val="1F1F1F"/>
                </a:solidFill>
                <a:latin typeface="Calibri"/>
              </a:rPr>
              <a:t>4 ficheros para tratar datos, públicos en </a:t>
            </a:r>
            <a:r>
              <a:rPr lang="es-ES" sz="1700" dirty="0" err="1">
                <a:solidFill>
                  <a:srgbClr val="1F1F1F"/>
                </a:solidFill>
                <a:latin typeface="Calibri"/>
              </a:rPr>
              <a:t>Github</a:t>
            </a:r>
            <a:r>
              <a:rPr lang="es-ES" sz="1700" dirty="0">
                <a:solidFill>
                  <a:srgbClr val="1F1F1F"/>
                </a:solidFill>
                <a:latin typeface="Calibri"/>
              </a:rPr>
              <a:t>, configurados desde un único archivo y con todos los datos y resultados también publicados. </a:t>
            </a:r>
            <a:endParaRPr sz="1700" b="0" dirty="0">
              <a:solidFill>
                <a:srgbClr val="1F1F1F"/>
              </a:solidFill>
              <a:latin typeface="Calibri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A172C16D-A533-EB68-DA75-54FD14ADF90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387" y="1584698"/>
            <a:ext cx="1329941" cy="4337720"/>
          </a:xfrm>
          <a:prstGeom prst="rect">
            <a:avLst/>
          </a:prstGeom>
        </p:spPr>
      </p:pic>
      <p:pic>
        <p:nvPicPr>
          <p:cNvPr id="9" name="Imagen 8" descr="tres capas de arquitectura de medallones ">
            <a:extLst>
              <a:ext uri="{FF2B5EF4-FFF2-40B4-BE49-F238E27FC236}">
                <a16:creationId xmlns:a16="http://schemas.microsoft.com/office/drawing/2014/main" id="{EDD290BF-72A4-4DF2-4A75-2C89A2465D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67744" y="1584698"/>
            <a:ext cx="6027397" cy="328446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El pipeline: cuatro ficheros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9404478"/>
              </p:ext>
            </p:extLst>
          </p:nvPr>
        </p:nvGraphicFramePr>
        <p:xfrm>
          <a:off x="566928" y="1965960"/>
          <a:ext cx="8010144" cy="187451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638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4903">
                <a:tc>
                  <a:txBody>
                    <a:bodyPr/>
                    <a:lstStyle/>
                    <a:p>
                      <a:pPr algn="l"/>
                      <a:r>
                        <a:rPr sz="15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Fichero</a:t>
                      </a:r>
                      <a:endParaRPr sz="15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Etapa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Salida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4903">
                <a:tc>
                  <a:txBody>
                    <a:bodyPr/>
                    <a:lstStyle/>
                    <a:p>
                      <a:pPr algn="l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config.py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Parametrización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4903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01_descarga.py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Ingesta 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vía</a:t>
                      </a:r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 API CKAN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Capa bronce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4903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02_limpieza.py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Normalización y limpieza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Capa 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plata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4907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03_analisis_isla_calor.py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Análisis y modelado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Resultados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251960"/>
            <a:ext cx="8010144" cy="13952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700" b="0" dirty="0">
                <a:solidFill>
                  <a:srgbClr val="1F1F1F"/>
                </a:solidFill>
                <a:latin typeface="Calibri"/>
              </a:rPr>
              <a:t>• Los </a:t>
            </a:r>
            <a:r>
              <a:rPr sz="1700" b="0" dirty="0" err="1">
                <a:solidFill>
                  <a:srgbClr val="1F1F1F"/>
                </a:solidFill>
                <a:latin typeface="Calibri"/>
              </a:rPr>
              <a:t>ocho</a:t>
            </a:r>
            <a:r>
              <a:rPr sz="1700" b="0" dirty="0">
                <a:solidFill>
                  <a:srgbClr val="1F1F1F"/>
                </a:solidFill>
                <a:latin typeface="Calibri"/>
              </a:rPr>
              <a:t> conjuntos se </a:t>
            </a:r>
            <a:r>
              <a:rPr sz="1700" b="0" dirty="0" err="1">
                <a:solidFill>
                  <a:srgbClr val="1F1F1F"/>
                </a:solidFill>
                <a:latin typeface="Calibri"/>
              </a:rPr>
              <a:t>reducen</a:t>
            </a:r>
            <a:r>
              <a:rPr sz="1700" b="0" dirty="0">
                <a:solidFill>
                  <a:srgbClr val="1F1F1F"/>
                </a:solidFill>
                <a:latin typeface="Calibri"/>
              </a:rPr>
              <a:t> a cuatro </a:t>
            </a:r>
            <a:r>
              <a:rPr sz="1700" b="0" dirty="0" err="1">
                <a:solidFill>
                  <a:srgbClr val="1F1F1F"/>
                </a:solidFill>
                <a:latin typeface="Calibri"/>
              </a:rPr>
              <a:t>patrones</a:t>
            </a:r>
            <a:r>
              <a:rPr sz="1700" b="0" dirty="0">
                <a:solidFill>
                  <a:srgbClr val="1F1F1F"/>
                </a:solidFill>
                <a:latin typeface="Calibri"/>
              </a:rPr>
              <a:t> de </a:t>
            </a:r>
            <a:r>
              <a:rPr sz="1700" b="0" dirty="0" err="1">
                <a:solidFill>
                  <a:srgbClr val="1F1F1F"/>
                </a:solidFill>
                <a:latin typeface="Calibri"/>
              </a:rPr>
              <a:t>limpieza</a:t>
            </a:r>
            <a:r>
              <a:rPr sz="1700" b="0" dirty="0">
                <a:solidFill>
                  <a:srgbClr val="1F1F1F"/>
                </a:solidFill>
                <a:latin typeface="Calibri"/>
              </a:rPr>
              <a:t>, </a:t>
            </a:r>
            <a:r>
              <a:rPr sz="1700" b="0" dirty="0" err="1">
                <a:solidFill>
                  <a:srgbClr val="1F1F1F"/>
                </a:solidFill>
                <a:latin typeface="Calibri"/>
              </a:rPr>
              <a:t>declarados</a:t>
            </a:r>
            <a:r>
              <a:rPr sz="17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1F1F1F"/>
                </a:solidFill>
                <a:latin typeface="Calibri"/>
              </a:rPr>
              <a:t>en</a:t>
            </a:r>
            <a:r>
              <a:rPr sz="1700" b="0" dirty="0">
                <a:solidFill>
                  <a:srgbClr val="1F1F1F"/>
                </a:solidFill>
                <a:latin typeface="Calibri"/>
              </a:rPr>
              <a:t> `config.py`</a:t>
            </a:r>
          </a:p>
          <a:p>
            <a:pPr>
              <a:spcAft>
                <a:spcPts val="1000"/>
              </a:spcAft>
            </a:pPr>
            <a:r>
              <a:rPr sz="1700" b="0" dirty="0">
                <a:solidFill>
                  <a:srgbClr val="1F1F1F"/>
                </a:solidFill>
                <a:latin typeface="Calibri"/>
              </a:rPr>
              <a:t>• </a:t>
            </a:r>
            <a:r>
              <a:rPr sz="1700" b="0" dirty="0" err="1">
                <a:solidFill>
                  <a:srgbClr val="1F1F1F"/>
                </a:solidFill>
                <a:latin typeface="Calibri"/>
              </a:rPr>
              <a:t>Incorporar</a:t>
            </a:r>
            <a:r>
              <a:rPr sz="17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1F1F1F"/>
                </a:solidFill>
                <a:latin typeface="Calibri"/>
              </a:rPr>
              <a:t>una</a:t>
            </a:r>
            <a:r>
              <a:rPr sz="17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1F1F1F"/>
                </a:solidFill>
                <a:latin typeface="Calibri"/>
              </a:rPr>
              <a:t>fuente</a:t>
            </a:r>
            <a:r>
              <a:rPr sz="17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1F1F1F"/>
                </a:solidFill>
                <a:latin typeface="Calibri"/>
              </a:rPr>
              <a:t>nueva</a:t>
            </a:r>
            <a:r>
              <a:rPr sz="17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1F1F1F"/>
                </a:solidFill>
                <a:latin typeface="Calibri"/>
              </a:rPr>
              <a:t>que</a:t>
            </a:r>
            <a:r>
              <a:rPr sz="17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1F1F1F"/>
                </a:solidFill>
                <a:latin typeface="Calibri"/>
              </a:rPr>
              <a:t>encaje</a:t>
            </a:r>
            <a:r>
              <a:rPr sz="17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lang="es-ES" sz="1700" b="0" dirty="0">
                <a:solidFill>
                  <a:srgbClr val="1F1F1F"/>
                </a:solidFill>
                <a:latin typeface="Calibri"/>
              </a:rPr>
              <a:t>solo implica</a:t>
            </a:r>
            <a:r>
              <a:rPr sz="17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1F1F1F"/>
                </a:solidFill>
                <a:latin typeface="Calibri"/>
              </a:rPr>
              <a:t>añadir</a:t>
            </a:r>
            <a:r>
              <a:rPr sz="17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1F1F1F"/>
                </a:solidFill>
                <a:latin typeface="Calibri"/>
              </a:rPr>
              <a:t>una</a:t>
            </a:r>
            <a:r>
              <a:rPr sz="1700" b="0" dirty="0">
                <a:solidFill>
                  <a:srgbClr val="1F1F1F"/>
                </a:solidFill>
                <a:latin typeface="Calibri"/>
              </a:rPr>
              <a:t> entrada</a:t>
            </a:r>
            <a:r>
              <a:rPr lang="es-ES" sz="1700" b="0" dirty="0">
                <a:solidFill>
                  <a:srgbClr val="1F1F1F"/>
                </a:solidFill>
                <a:latin typeface="Calibri"/>
              </a:rPr>
              <a:t> más.</a:t>
            </a:r>
            <a:endParaRPr sz="17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1000"/>
              </a:spcAft>
            </a:pPr>
            <a:r>
              <a:rPr sz="1700" b="0" dirty="0">
                <a:solidFill>
                  <a:srgbClr val="1F1F1F"/>
                </a:solidFill>
                <a:latin typeface="Calibri"/>
              </a:rPr>
              <a:t>• El </a:t>
            </a:r>
            <a:r>
              <a:rPr sz="1700" b="0" dirty="0" err="1">
                <a:solidFill>
                  <a:srgbClr val="1F1F1F"/>
                </a:solidFill>
                <a:latin typeface="Calibri"/>
              </a:rPr>
              <a:t>proceso</a:t>
            </a:r>
            <a:r>
              <a:rPr sz="1700" b="0" dirty="0">
                <a:solidFill>
                  <a:srgbClr val="1F1F1F"/>
                </a:solidFill>
                <a:latin typeface="Calibri"/>
              </a:rPr>
              <a:t> es </a:t>
            </a:r>
            <a:r>
              <a:rPr sz="1700" b="0" dirty="0" err="1">
                <a:solidFill>
                  <a:srgbClr val="1F1F1F"/>
                </a:solidFill>
                <a:latin typeface="Calibri"/>
              </a:rPr>
              <a:t>idempotente</a:t>
            </a:r>
            <a:r>
              <a:rPr sz="1700" b="0" dirty="0">
                <a:solidFill>
                  <a:srgbClr val="1F1F1F"/>
                </a:solidFill>
                <a:latin typeface="Calibri"/>
              </a:rPr>
              <a:t> y </a:t>
            </a:r>
            <a:r>
              <a:rPr sz="1700" b="0" dirty="0" err="1">
                <a:solidFill>
                  <a:srgbClr val="1F1F1F"/>
                </a:solidFill>
                <a:latin typeface="Calibri"/>
              </a:rPr>
              <a:t>registra</a:t>
            </a:r>
            <a:r>
              <a:rPr lang="es-ES" sz="1700" b="0" dirty="0">
                <a:solidFill>
                  <a:srgbClr val="1F1F1F"/>
                </a:solidFill>
                <a:latin typeface="Calibri"/>
              </a:rPr>
              <a:t> metadatos con la</a:t>
            </a:r>
            <a:r>
              <a:rPr sz="17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1F1F1F"/>
                </a:solidFill>
                <a:latin typeface="Calibri"/>
              </a:rPr>
              <a:t>procedencia</a:t>
            </a:r>
            <a:r>
              <a:rPr sz="1700" b="0" dirty="0">
                <a:solidFill>
                  <a:srgbClr val="1F1F1F"/>
                </a:solidFill>
                <a:latin typeface="Calibri"/>
              </a:rPr>
              <a:t>, </a:t>
            </a:r>
            <a:r>
              <a:rPr sz="1700" b="0" dirty="0" err="1">
                <a:solidFill>
                  <a:srgbClr val="1F1F1F"/>
                </a:solidFill>
                <a:latin typeface="Calibri"/>
              </a:rPr>
              <a:t>licencia</a:t>
            </a:r>
            <a:r>
              <a:rPr sz="1700" b="0" dirty="0">
                <a:solidFill>
                  <a:srgbClr val="1F1F1F"/>
                </a:solidFill>
                <a:latin typeface="Calibri"/>
              </a:rPr>
              <a:t> y </a:t>
            </a:r>
            <a:r>
              <a:rPr sz="1700" b="0" dirty="0" err="1">
                <a:solidFill>
                  <a:srgbClr val="1F1F1F"/>
                </a:solidFill>
                <a:latin typeface="Calibri"/>
              </a:rPr>
              <a:t>fecha</a:t>
            </a:r>
            <a:r>
              <a:rPr sz="1700" b="0" dirty="0">
                <a:solidFill>
                  <a:srgbClr val="1F1F1F"/>
                </a:solidFill>
                <a:latin typeface="Calibri"/>
              </a:rPr>
              <a:t> de </a:t>
            </a:r>
            <a:r>
              <a:rPr sz="1700" b="0" dirty="0" err="1">
                <a:solidFill>
                  <a:srgbClr val="1F1F1F"/>
                </a:solidFill>
                <a:latin typeface="Calibri"/>
              </a:rPr>
              <a:t>cada</a:t>
            </a:r>
            <a:r>
              <a:rPr sz="17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1F1F1F"/>
                </a:solidFill>
                <a:latin typeface="Calibri"/>
              </a:rPr>
              <a:t>fichero</a:t>
            </a:r>
            <a:endParaRPr sz="1700" b="0" dirty="0">
              <a:solidFill>
                <a:srgbClr val="1F1F1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Caso de estudio I · Los conjuntos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5252333"/>
              </p:ext>
            </p:extLst>
          </p:nvPr>
        </p:nvGraphicFramePr>
        <p:xfrm>
          <a:off x="566928" y="1920240"/>
          <a:ext cx="8010144" cy="2514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953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Conjunto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Cobertura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Uso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Calidad del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aire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(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diario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2019-2025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Isla de calor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Meteorología (diario)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2019-2025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Isla de calor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Masas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arbóreas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por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distrito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2019-2025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Isla de calor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Aforos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de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peatones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y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bicicletas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2019-2024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Movilidad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Estaciones de control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único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Georreferencia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923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Distritos (shapefile)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único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Cartografía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754880"/>
            <a:ext cx="8010144" cy="58477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dirty="0">
                <a:solidFill>
                  <a:srgbClr val="1F1F1F"/>
                </a:solidFill>
                <a:latin typeface="Calibri"/>
              </a:rPr>
              <a:t>• Portal de Datos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Abiertos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del Ayuntamiento de Madrid </a:t>
            </a:r>
            <a:r>
              <a:rPr lang="es-ES" sz="1600" b="0" dirty="0">
                <a:solidFill>
                  <a:srgbClr val="1F1F1F"/>
                </a:solidFill>
                <a:latin typeface="Calibri"/>
              </a:rPr>
              <a:t>-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licencia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CC BY 4.0 </a:t>
            </a:r>
            <a:r>
              <a:rPr lang="es-ES" sz="1600" b="0" dirty="0">
                <a:solidFill>
                  <a:srgbClr val="1F1F1F"/>
                </a:solidFill>
                <a:latin typeface="Calibri"/>
              </a:rPr>
              <a:t>-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272 MB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en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la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capa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bronce</a:t>
            </a:r>
            <a:r>
              <a:rPr lang="es-ES" sz="1600" b="0" dirty="0">
                <a:solidFill>
                  <a:srgbClr val="1F1F1F"/>
                </a:solidFill>
                <a:latin typeface="Calibri"/>
              </a:rPr>
              <a:t> - </a:t>
            </a:r>
            <a:r>
              <a:rPr lang="es-ES" sz="1600" b="0" dirty="0">
                <a:solidFill>
                  <a:srgbClr val="1F1F1F"/>
                </a:solidFill>
                <a:latin typeface="Calibri"/>
                <a:hlinkClick r:id="rId4"/>
              </a:rPr>
              <a:t>https://datos.madrid.es/portal/site/egob</a:t>
            </a:r>
            <a:r>
              <a:rPr lang="es-ES" sz="1600" b="0" dirty="0">
                <a:solidFill>
                  <a:srgbClr val="1F1F1F"/>
                </a:solidFill>
                <a:latin typeface="Calibri"/>
              </a:rPr>
              <a:t> </a:t>
            </a:r>
            <a:endParaRPr sz="1600" b="0" dirty="0">
              <a:solidFill>
                <a:srgbClr val="1F1F1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Caso de estudio II · Aproximaciones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74519"/>
            <a:ext cx="8010144" cy="299056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Cinco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aproximaciones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replicadas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del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trabajo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original</a:t>
            </a:r>
          </a:p>
          <a:p>
            <a:pPr lvl="1">
              <a:spcAft>
                <a:spcPts val="8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 Las siete magnitudes · Temp.+humedad · Temp.+arbolado · NO₂ · NO₂+partículas</a:t>
            </a:r>
            <a:endParaRPr sz="1400" b="0" dirty="0">
              <a:solidFill>
                <a:srgbClr val="5A5A5A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Dos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aproximaciones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propias</a:t>
            </a:r>
            <a:endParaRPr sz="1700" b="1" dirty="0">
              <a:solidFill>
                <a:srgbClr val="1F1F1F"/>
              </a:solidFill>
              <a:latin typeface="Calibri"/>
            </a:endParaRPr>
          </a:p>
          <a:p>
            <a:pPr lvl="1">
              <a:spcAft>
                <a:spcPts val="8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Temperatura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+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altitud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de la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estación</a:t>
            </a:r>
            <a:endParaRPr sz="1400"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8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Temperatura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+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superficie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arbórea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relativa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al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área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del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distrito</a:t>
            </a:r>
            <a:endParaRPr sz="1400" b="0" dirty="0">
              <a:solidFill>
                <a:srgbClr val="5A5A5A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Criterio</a:t>
            </a:r>
            <a:r>
              <a:rPr lang="es-ES" sz="1700" b="1" dirty="0">
                <a:solidFill>
                  <a:srgbClr val="1F1F1F"/>
                </a:solidFill>
                <a:latin typeface="Calibri"/>
              </a:rPr>
              <a:t>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propio</a:t>
            </a:r>
            <a:r>
              <a:rPr lang="es-ES" sz="1700" b="1" dirty="0">
                <a:solidFill>
                  <a:srgbClr val="1F1F1F"/>
                </a:solidFill>
                <a:latin typeface="Calibri"/>
              </a:rPr>
              <a:t>s</a:t>
            </a:r>
            <a:endParaRPr sz="1700" b="1" dirty="0">
              <a:solidFill>
                <a:srgbClr val="1F1F1F"/>
              </a:solidFill>
              <a:latin typeface="Calibri"/>
            </a:endParaRPr>
          </a:p>
          <a:p>
            <a:pPr lvl="1">
              <a:spcAft>
                <a:spcPts val="800"/>
              </a:spcAft>
            </a:pPr>
            <a:r>
              <a:rPr lang="es-ES" sz="1400" dirty="0">
                <a:solidFill>
                  <a:srgbClr val="5A5A5A"/>
                </a:solidFill>
                <a:latin typeface="Calibri"/>
              </a:rPr>
              <a:t>- C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obertura mínima: 300 días válidos por estación y año</a:t>
            </a:r>
          </a:p>
          <a:p>
            <a:pPr lvl="1">
              <a:spcAft>
                <a:spcPts val="8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 Inclusión de distritos sin arbolado</a:t>
            </a:r>
          </a:p>
          <a:p>
            <a:pPr lvl="1">
              <a:spcAft>
                <a:spcPts val="8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 Validación con el coeficiente de silueta</a:t>
            </a:r>
            <a:endParaRPr sz="1400" b="0" dirty="0">
              <a:solidFill>
                <a:srgbClr val="5A5A5A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937F6-CC52-F1EC-3741-B1E2D5D87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CuadroTexto">
            <a:extLst>
              <a:ext uri="{FF2B5EF4-FFF2-40B4-BE49-F238E27FC236}">
                <a16:creationId xmlns:a16="http://schemas.microsoft.com/office/drawing/2014/main" id="{BB90052F-3022-1682-A679-DB88517A734A}"/>
              </a:ext>
            </a:extLst>
          </p:cNvPr>
          <p:cNvSpPr txBox="1"/>
          <p:nvPr/>
        </p:nvSpPr>
        <p:spPr>
          <a:xfrm>
            <a:off x="-180528" y="3429000"/>
            <a:ext cx="9144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Resultados · Datos</a:t>
            </a:r>
          </a:p>
        </p:txBody>
      </p:sp>
      <p:pic>
        <p:nvPicPr>
          <p:cNvPr id="8" name="Picture 7" descr="1789408462696_image.png">
            <a:extLst>
              <a:ext uri="{FF2B5EF4-FFF2-40B4-BE49-F238E27FC236}">
                <a16:creationId xmlns:a16="http://schemas.microsoft.com/office/drawing/2014/main" id="{FF18B798-167F-1997-2A9D-C71CCFDE3E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7" y="6382512"/>
            <a:ext cx="658368" cy="230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71225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Lo que aparece al automatizar siete años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1538600"/>
              </p:ext>
            </p:extLst>
          </p:nvPr>
        </p:nvGraphicFramePr>
        <p:xfrm>
          <a:off x="566928" y="1783080"/>
          <a:ext cx="8010144" cy="295010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611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9776">
                <a:tc>
                  <a:txBody>
                    <a:bodyPr/>
                    <a:lstStyle/>
                    <a:p>
                      <a:pPr algn="l"/>
                      <a:r>
                        <a:rPr sz="13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Problema</a:t>
                      </a:r>
                      <a:endParaRPr sz="13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Manifestación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¿Documentado?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Nomenclatura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Tres nombres para la misma magnitud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Unidades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2019 en m², desde 2020 en m² y ha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Formato numérico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Separador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de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millar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solo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desde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2022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Semántica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Masa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forestal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→ masa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arbórea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Entidades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Distritos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escritos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distinto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en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un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mismo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fichero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Continuidad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Hueco de 14 meses;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diciembre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2024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ausente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Parcial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Cobertura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Estaciones sin todos los sensores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En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comentarios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398" y="2126113"/>
            <a:ext cx="3266411" cy="296491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dirty="0">
                <a:solidFill>
                  <a:srgbClr val="1F1F1F"/>
                </a:solidFill>
                <a:latin typeface="Calibri"/>
              </a:rPr>
              <a:t>• La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caída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de 2021-2022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afecta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solo a la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subred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municipal (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códigos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&gt; 100)</a:t>
            </a:r>
            <a:endParaRPr lang="es-ES" sz="16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sz="16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600" b="0" dirty="0">
                <a:solidFill>
                  <a:srgbClr val="1F1F1F"/>
                </a:solidFill>
                <a:latin typeface="Calibri"/>
              </a:rPr>
              <a:t>• Coincide con el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hueco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de 14 meses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en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los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aforos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: no son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averías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independientes</a:t>
            </a:r>
            <a:endParaRPr lang="es-ES" sz="16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sz="16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600" b="0" dirty="0">
                <a:solidFill>
                  <a:srgbClr val="1F1F1F"/>
                </a:solidFill>
                <a:latin typeface="Calibri"/>
              </a:rPr>
              <a:t>•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Diciembre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de 2024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falta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en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toda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la red · la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estación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104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mide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sin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constar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que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tenga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sensor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B915680A-D794-19C8-B3E4-939E536081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44" y="762050"/>
            <a:ext cx="4629869" cy="5291278"/>
          </a:xfrm>
          <a:prstGeom prst="rect">
            <a:avLst/>
          </a:prstGeom>
        </p:spPr>
      </p:pic>
      <p:sp>
        <p:nvSpPr>
          <p:cNvPr id="10" name="TextBox 3">
            <a:extLst>
              <a:ext uri="{FF2B5EF4-FFF2-40B4-BE49-F238E27FC236}">
                <a16:creationId xmlns:a16="http://schemas.microsoft.com/office/drawing/2014/main" id="{C99FBAF6-25AC-D6CB-87B6-CE520B5F9F88}"/>
              </a:ext>
            </a:extLst>
          </p:cNvPr>
          <p:cNvSpPr txBox="1"/>
          <p:nvPr/>
        </p:nvSpPr>
        <p:spPr>
          <a:xfrm>
            <a:off x="5796136" y="932688"/>
            <a:ext cx="2780936" cy="86177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n-US" sz="2500" b="1" dirty="0">
                <a:solidFill>
                  <a:srgbClr val="C00530"/>
                </a:solidFill>
                <a:latin typeface="Calibri"/>
              </a:rPr>
              <a:t>La red de </a:t>
            </a:r>
            <a:r>
              <a:rPr lang="en-US" sz="2500" b="1" dirty="0" err="1">
                <a:solidFill>
                  <a:srgbClr val="C00530"/>
                </a:solidFill>
                <a:latin typeface="Calibri"/>
              </a:rPr>
              <a:t>sensores</a:t>
            </a:r>
            <a:r>
              <a:rPr lang="en-US" sz="2500" b="1" dirty="0">
                <a:solidFill>
                  <a:srgbClr val="C00530"/>
                </a:solidFill>
                <a:latin typeface="Calibri"/>
              </a:rPr>
              <a:t> se </a:t>
            </a:r>
            <a:r>
              <a:rPr lang="en-US" sz="2500" b="1" dirty="0" err="1">
                <a:solidFill>
                  <a:srgbClr val="C00530"/>
                </a:solidFill>
                <a:latin typeface="Calibri"/>
              </a:rPr>
              <a:t>degradó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F779A-5BA3-8514-B348-178FE26BD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CuadroTexto">
            <a:extLst>
              <a:ext uri="{FF2B5EF4-FFF2-40B4-BE49-F238E27FC236}">
                <a16:creationId xmlns:a16="http://schemas.microsoft.com/office/drawing/2014/main" id="{00167D2E-5E39-E59E-7E11-03487B04BC9C}"/>
              </a:ext>
            </a:extLst>
          </p:cNvPr>
          <p:cNvSpPr txBox="1"/>
          <p:nvPr/>
        </p:nvSpPr>
        <p:spPr>
          <a:xfrm>
            <a:off x="-180528" y="3429000"/>
            <a:ext cx="9144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Resultados · Aprendizaje automático</a:t>
            </a:r>
          </a:p>
        </p:txBody>
      </p:sp>
      <p:pic>
        <p:nvPicPr>
          <p:cNvPr id="8" name="Picture 7" descr="1789408462696_image.png">
            <a:extLst>
              <a:ext uri="{FF2B5EF4-FFF2-40B4-BE49-F238E27FC236}">
                <a16:creationId xmlns:a16="http://schemas.microsoft.com/office/drawing/2014/main" id="{CE633C0C-0B86-2ED9-7587-C030A19433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7" y="6382512"/>
            <a:ext cx="658368" cy="230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7496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Replicar antes de extender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4907006"/>
              </p:ext>
            </p:extLst>
          </p:nvPr>
        </p:nvGraphicFramePr>
        <p:xfrm>
          <a:off x="566928" y="2314255"/>
          <a:ext cx="8010144" cy="277093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953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5847">
                <a:tc>
                  <a:txBody>
                    <a:bodyPr/>
                    <a:lstStyle/>
                    <a:p>
                      <a:pPr algn="l"/>
                      <a:r>
                        <a:rPr sz="14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Aproximación</a:t>
                      </a:r>
                      <a:endParaRPr sz="14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Estaciones comunes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Acuerdo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5847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1. Siete magnitudes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87 %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5847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2. Temperatura y humedad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97 %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5847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3. Temperatura y arbolado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94 %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5847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4. NO₂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80 %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5847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5. NO₂ y partículas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100 %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5849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1F1F1F"/>
                          </a:solidFill>
                          <a:latin typeface="Calibri"/>
                        </a:rPr>
                        <a:t>86 % (404/468)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3536" y="1601021"/>
            <a:ext cx="8010144" cy="58477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dirty="0">
                <a:solidFill>
                  <a:srgbClr val="1F1F1F"/>
                </a:solidFill>
                <a:latin typeface="Calibri"/>
              </a:rPr>
              <a:t>• Para poder comparar adecuadamente, se replicó el trabajo original antes de aplicar las metodologías propias.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9EB9BB8-515B-F146-D903-A235E3C47324}"/>
              </a:ext>
            </a:extLst>
          </p:cNvPr>
          <p:cNvSpPr txBox="1"/>
          <p:nvPr/>
        </p:nvSpPr>
        <p:spPr>
          <a:xfrm>
            <a:off x="755576" y="5430261"/>
            <a:ext cx="698477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800"/>
              </a:spcAft>
            </a:pPr>
            <a:r>
              <a:rPr lang="es-ES" sz="1400" dirty="0">
                <a:solidFill>
                  <a:srgbClr val="5A5A5A"/>
                </a:solidFill>
                <a:latin typeface="Calibri"/>
              </a:rPr>
              <a:t>*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 El acuerdo se calcula sobre el total de pares posibles entre las estaciones comunes. Para cada par se comprueba si ambos trabajos coinciden en agruparlas juntas o en grupos distintos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3284992" cy="86177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 dirty="0">
                <a:solidFill>
                  <a:srgbClr val="C00530"/>
                </a:solidFill>
                <a:latin typeface="Calibri"/>
              </a:rPr>
              <a:t>De un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año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 a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siete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: </a:t>
            </a:r>
            <a:endParaRPr lang="es-ES" sz="2500" b="1" dirty="0">
              <a:solidFill>
                <a:srgbClr val="C00530"/>
              </a:solidFill>
              <a:latin typeface="Calibri"/>
            </a:endParaRPr>
          </a:p>
          <a:p>
            <a:r>
              <a:rPr sz="2500" b="1" dirty="0">
                <a:solidFill>
                  <a:srgbClr val="C00530"/>
                </a:solidFill>
                <a:latin typeface="Calibri"/>
              </a:rPr>
              <a:t>la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relación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 se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sostiene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2132856"/>
            <a:ext cx="2420896" cy="345735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dirty="0">
                <a:solidFill>
                  <a:srgbClr val="1F1F1F"/>
                </a:solidFill>
                <a:latin typeface="Calibri"/>
              </a:rPr>
              <a:t>•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Correlación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media de −0,37,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sostenida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los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siete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años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(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rango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−0,26 a −0,47)</a:t>
            </a:r>
            <a:endParaRPr lang="es-ES" sz="16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sz="16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600" b="0" dirty="0">
                <a:solidFill>
                  <a:srgbClr val="1F1F1F"/>
                </a:solidFill>
                <a:latin typeface="Calibri"/>
              </a:rPr>
              <a:t>• El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trabajo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original la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observó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en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un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único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año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y de forma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cualitativa</a:t>
            </a:r>
            <a:endParaRPr lang="es-ES" sz="16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sz="16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1F1F1F"/>
                </a:solidFill>
                <a:latin typeface="Calibri"/>
              </a:rPr>
              <a:t>• No es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una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particularidad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del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periodo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: es un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patrón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sostenido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, de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intensidad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moderada</a:t>
            </a:r>
            <a:endParaRPr sz="1600" b="1" dirty="0">
              <a:solidFill>
                <a:srgbClr val="1F1F1F"/>
              </a:solidFill>
              <a:latin typeface="Calibri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1179FF1F-C04B-DA55-4A13-28692236E7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4991" y="2039492"/>
            <a:ext cx="5708001" cy="326171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Variables externas: altitud y superficie relativa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09160" y="1874519"/>
            <a:ext cx="3867912" cy="22955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700"/>
              </a:spcAft>
            </a:pPr>
            <a:r>
              <a:rPr sz="1500" b="1" dirty="0">
                <a:solidFill>
                  <a:srgbClr val="1F1F1F"/>
                </a:solidFill>
                <a:latin typeface="Calibri"/>
              </a:rPr>
              <a:t>•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Altitud</a:t>
            </a:r>
            <a:endParaRPr sz="1500" b="1" dirty="0">
              <a:solidFill>
                <a:srgbClr val="1F1F1F"/>
              </a:solidFill>
              <a:latin typeface="Calibri"/>
            </a:endParaRPr>
          </a:p>
          <a:p>
            <a:pPr marL="628650" lvl="1" indent="-171450">
              <a:spcAft>
                <a:spcPts val="700"/>
              </a:spcAft>
              <a:buFontTx/>
              <a:buChar char="-"/>
            </a:pPr>
            <a:r>
              <a:rPr sz="1200" b="0" dirty="0" err="1">
                <a:solidFill>
                  <a:srgbClr val="5A5A5A"/>
                </a:solidFill>
                <a:latin typeface="Calibri"/>
              </a:rPr>
              <a:t>Correlaciones</a:t>
            </a:r>
            <a:r>
              <a:rPr sz="12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5A5A5A"/>
                </a:solidFill>
                <a:latin typeface="Calibri"/>
              </a:rPr>
              <a:t>muy</a:t>
            </a:r>
            <a:r>
              <a:rPr sz="12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5A5A5A"/>
                </a:solidFill>
                <a:latin typeface="Calibri"/>
              </a:rPr>
              <a:t>débiles</a:t>
            </a:r>
            <a:r>
              <a:rPr sz="1200" b="0" dirty="0">
                <a:solidFill>
                  <a:srgbClr val="5A5A5A"/>
                </a:solidFill>
                <a:latin typeface="Calibri"/>
              </a:rPr>
              <a:t> y de </a:t>
            </a:r>
            <a:r>
              <a:rPr sz="1200" b="0" dirty="0" err="1">
                <a:solidFill>
                  <a:srgbClr val="5A5A5A"/>
                </a:solidFill>
                <a:latin typeface="Calibri"/>
              </a:rPr>
              <a:t>signo</a:t>
            </a:r>
            <a:r>
              <a:rPr sz="12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5A5A5A"/>
                </a:solidFill>
                <a:latin typeface="Calibri"/>
              </a:rPr>
              <a:t>cambiante</a:t>
            </a:r>
            <a:r>
              <a:rPr sz="1200" b="0" dirty="0">
                <a:solidFill>
                  <a:srgbClr val="5A5A5A"/>
                </a:solidFill>
                <a:latin typeface="Calibri"/>
              </a:rPr>
              <a:t>: </a:t>
            </a:r>
            <a:r>
              <a:rPr sz="1200" b="0" dirty="0" err="1">
                <a:solidFill>
                  <a:srgbClr val="5A5A5A"/>
                </a:solidFill>
                <a:latin typeface="Calibri"/>
              </a:rPr>
              <a:t>dentro</a:t>
            </a:r>
            <a:r>
              <a:rPr sz="1200" b="0" dirty="0">
                <a:solidFill>
                  <a:srgbClr val="5A5A5A"/>
                </a:solidFill>
                <a:latin typeface="Calibri"/>
              </a:rPr>
              <a:t> del </a:t>
            </a:r>
            <a:r>
              <a:rPr sz="1200" b="0" dirty="0" err="1">
                <a:solidFill>
                  <a:srgbClr val="5A5A5A"/>
                </a:solidFill>
                <a:latin typeface="Calibri"/>
              </a:rPr>
              <a:t>término</a:t>
            </a:r>
            <a:r>
              <a:rPr sz="1200" b="0" dirty="0">
                <a:solidFill>
                  <a:srgbClr val="5A5A5A"/>
                </a:solidFill>
                <a:latin typeface="Calibri"/>
              </a:rPr>
              <a:t> municipal no es un factor </a:t>
            </a:r>
            <a:r>
              <a:rPr sz="1200" b="0" dirty="0" err="1">
                <a:solidFill>
                  <a:srgbClr val="5A5A5A"/>
                </a:solidFill>
                <a:latin typeface="Calibri"/>
              </a:rPr>
              <a:t>determinante</a:t>
            </a:r>
            <a:endParaRPr lang="es-ES" sz="1200"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700"/>
              </a:spcAft>
            </a:pPr>
            <a:endParaRPr sz="1200" b="0" dirty="0">
              <a:solidFill>
                <a:srgbClr val="5A5A5A"/>
              </a:solidFill>
              <a:latin typeface="Calibri"/>
            </a:endParaRPr>
          </a:p>
          <a:p>
            <a:pPr>
              <a:spcAft>
                <a:spcPts val="700"/>
              </a:spcAft>
            </a:pPr>
            <a:r>
              <a:rPr sz="1500" b="1" dirty="0">
                <a:solidFill>
                  <a:srgbClr val="1F1F1F"/>
                </a:solidFill>
                <a:latin typeface="Calibri"/>
              </a:rPr>
              <a:t>•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Superficie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relativa</a:t>
            </a:r>
            <a:endParaRPr sz="1500" b="1" dirty="0">
              <a:solidFill>
                <a:srgbClr val="1F1F1F"/>
              </a:solidFill>
              <a:latin typeface="Calibri"/>
            </a:endParaRPr>
          </a:p>
          <a:p>
            <a:pPr lvl="1">
              <a:spcAft>
                <a:spcPts val="700"/>
              </a:spcAft>
            </a:pPr>
            <a:r>
              <a:rPr lang="es-ES" sz="1200" b="0" dirty="0">
                <a:solidFill>
                  <a:srgbClr val="5A5A5A"/>
                </a:solidFill>
                <a:latin typeface="Calibri"/>
              </a:rPr>
              <a:t>– La correlación lineal se debilita</a:t>
            </a:r>
            <a:endParaRPr sz="1200"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700"/>
              </a:spcAft>
            </a:pPr>
            <a:r>
              <a:rPr lang="es-ES" sz="1200" b="0" dirty="0">
                <a:solidFill>
                  <a:srgbClr val="5A5A5A"/>
                </a:solidFill>
                <a:latin typeface="Calibri"/>
              </a:rPr>
              <a:t>– pero separa mejor los grupos: silueta 0,521 frente a 0,500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212080"/>
            <a:ext cx="8010144" cy="3931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1" dirty="0">
                <a:solidFill>
                  <a:srgbClr val="1F1F1F"/>
                </a:solidFill>
                <a:latin typeface="Calibri"/>
              </a:rPr>
              <a:t>• La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relación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con la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vegetación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existe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,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pero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no es lineal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ni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monótona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: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normalizar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por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el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tamaño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del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distrito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mejora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la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separación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aunque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no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refuerce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la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correlación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.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E9F69406-B5AD-D536-793F-5324C02B67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445" y="1645920"/>
            <a:ext cx="4381555" cy="350524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Calidad de los agrupamientos y robustez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9370746"/>
              </p:ext>
            </p:extLst>
          </p:nvPr>
        </p:nvGraphicFramePr>
        <p:xfrm>
          <a:off x="661252" y="1783080"/>
          <a:ext cx="7821496" cy="2971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6210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Aproximación</a:t>
                      </a:r>
                      <a:endParaRPr sz="13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Variables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Silueta media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NO₂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0,565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Temperatura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+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superficie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relativa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(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propia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0,521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Temperatura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+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arbolado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0,500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Temperatura + humedad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0,498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Temperatura + altitud (propia)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0,458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NO₂ + partículas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0,317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Siete magnitudes meteorológicas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0,146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892040"/>
            <a:ext cx="8010144" cy="87459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700"/>
              </a:spcAft>
            </a:pPr>
            <a:r>
              <a:rPr sz="1500" b="1" dirty="0">
                <a:solidFill>
                  <a:srgbClr val="1F1F1F"/>
                </a:solidFill>
                <a:latin typeface="Calibri"/>
              </a:rPr>
              <a:t>• Más variables </a:t>
            </a:r>
            <a:r>
              <a:rPr lang="es-ES" sz="1500" b="1" dirty="0">
                <a:solidFill>
                  <a:srgbClr val="1F1F1F"/>
                </a:solidFill>
                <a:latin typeface="Calibri"/>
              </a:rPr>
              <a:t>-&gt;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peores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grupos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. Al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subir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la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dimensionalidad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las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distancias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se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igualan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, y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exigir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todos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los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sensores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reduce la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muestra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de 24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estaciones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a 5 o 7</a:t>
            </a:r>
          </a:p>
          <a:p>
            <a:pPr>
              <a:spcAft>
                <a:spcPts val="700"/>
              </a:spcAft>
            </a:pPr>
            <a:r>
              <a:rPr sz="1500" b="1" dirty="0">
                <a:solidFill>
                  <a:srgbClr val="1F1F1F"/>
                </a:solidFill>
                <a:latin typeface="Calibri"/>
              </a:rPr>
              <a:t>• k-means y Ward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coinciden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en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4 de las 5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aproximaciones</a:t>
            </a:r>
            <a:r>
              <a:rPr lang="es-ES" sz="1500" b="1" dirty="0">
                <a:solidFill>
                  <a:srgbClr val="1F1F1F"/>
                </a:solidFill>
                <a:latin typeface="Calibri"/>
              </a:rPr>
              <a:t> -&gt;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la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estructura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está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en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los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datos</a:t>
            </a:r>
            <a:endParaRPr sz="1500" b="1" dirty="0">
              <a:solidFill>
                <a:srgbClr val="1F1F1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E4F27-25B0-FFF6-B61C-9E71C2E86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CuadroTexto">
            <a:extLst>
              <a:ext uri="{FF2B5EF4-FFF2-40B4-BE49-F238E27FC236}">
                <a16:creationId xmlns:a16="http://schemas.microsoft.com/office/drawing/2014/main" id="{2E29C2C4-7969-488D-7F7A-C8F28A2665D5}"/>
              </a:ext>
            </a:extLst>
          </p:cNvPr>
          <p:cNvSpPr txBox="1"/>
          <p:nvPr/>
        </p:nvSpPr>
        <p:spPr>
          <a:xfrm>
            <a:off x="-180528" y="3429000"/>
            <a:ext cx="9144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Resultados · Nube</a:t>
            </a:r>
          </a:p>
        </p:txBody>
      </p:sp>
      <p:pic>
        <p:nvPicPr>
          <p:cNvPr id="8" name="Picture 7" descr="1789408462696_image.png">
            <a:extLst>
              <a:ext uri="{FF2B5EF4-FFF2-40B4-BE49-F238E27FC236}">
                <a16:creationId xmlns:a16="http://schemas.microsoft.com/office/drawing/2014/main" id="{333D29BE-E8A6-EF3D-697F-88B8D696CE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7" y="6382512"/>
            <a:ext cx="658368" cy="230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8282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Reproducibilidad y coste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20240"/>
            <a:ext cx="8010144" cy="87203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2200" b="1" dirty="0" err="1">
                <a:solidFill>
                  <a:srgbClr val="C00530"/>
                </a:solidFill>
                <a:latin typeface="Calibri"/>
              </a:rPr>
              <a:t>Resultados</a:t>
            </a:r>
            <a:r>
              <a:rPr sz="2200" b="1" dirty="0">
                <a:solidFill>
                  <a:srgbClr val="C00530"/>
                </a:solidFill>
                <a:latin typeface="Calibri"/>
              </a:rPr>
              <a:t> </a:t>
            </a:r>
            <a:r>
              <a:rPr sz="2200" b="1" dirty="0" err="1">
                <a:solidFill>
                  <a:srgbClr val="C00530"/>
                </a:solidFill>
                <a:latin typeface="Calibri"/>
              </a:rPr>
              <a:t>idénticos</a:t>
            </a:r>
            <a:r>
              <a:rPr sz="2200" b="1" dirty="0">
                <a:solidFill>
                  <a:srgbClr val="C00530"/>
                </a:solidFill>
                <a:latin typeface="Calibri"/>
              </a:rPr>
              <a:t> </a:t>
            </a:r>
            <a:r>
              <a:rPr sz="2200" b="1" dirty="0" err="1">
                <a:solidFill>
                  <a:srgbClr val="C00530"/>
                </a:solidFill>
                <a:latin typeface="Calibri"/>
              </a:rPr>
              <a:t>en</a:t>
            </a:r>
            <a:r>
              <a:rPr sz="2200" b="1" dirty="0">
                <a:solidFill>
                  <a:srgbClr val="C00530"/>
                </a:solidFill>
                <a:latin typeface="Calibri"/>
              </a:rPr>
              <a:t> local, AWS y GCP</a:t>
            </a:r>
          </a:p>
          <a:p>
            <a:pPr algn="ctr">
              <a:spcAft>
                <a:spcPts val="800"/>
              </a:spcAft>
            </a:pPr>
            <a:r>
              <a:rPr sz="2200" b="1" dirty="0">
                <a:solidFill>
                  <a:srgbClr val="C00530"/>
                </a:solidFill>
                <a:latin typeface="Calibri"/>
              </a:rPr>
              <a:t>Coste bruto 0,93 $ · 15,16 $   →   coste neto 0 $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2373163"/>
              </p:ext>
            </p:extLst>
          </p:nvPr>
        </p:nvGraphicFramePr>
        <p:xfrm>
          <a:off x="566928" y="3066594"/>
          <a:ext cx="8010144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953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Partida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AWS (USD)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GCP (USD)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Almacenamiento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0,021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0,000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Procesamiento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ETL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0,011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0,046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Análisis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interactivo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0,811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14,848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Infraestructura y otros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0,083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0,265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532120"/>
            <a:ext cx="8010144" cy="3931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1" dirty="0">
                <a:solidFill>
                  <a:srgbClr val="1F1F1F"/>
                </a:solidFill>
                <a:latin typeface="Calibri"/>
              </a:rPr>
              <a:t>• El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coste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no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está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en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el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cómputo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: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está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en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mantener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encendido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un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entorno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interactivo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.</a:t>
            </a:r>
          </a:p>
          <a:p>
            <a:r>
              <a:rPr sz="1200">
                <a:solidFill>
                  <a:srgbClr val="5A5A5A"/>
                </a:solidFill>
                <a:latin typeface="Calibri"/>
              </a:rPr>
              <a:t>* Importes de GCP convertidos de euros a dólares para permitir la comparación directa (13,14 € = 15,16 $).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Esfuerzo por etapa y entorno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8568916"/>
              </p:ext>
            </p:extLst>
          </p:nvPr>
        </p:nvGraphicFramePr>
        <p:xfrm>
          <a:off x="566928" y="1965960"/>
          <a:ext cx="8010144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95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Etapa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Local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AWS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GCP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Configuración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5 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8 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2 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Ingesta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10 h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5 h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1 h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Limpieza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20 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6 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10 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Análisis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35 h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5 h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5 h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F1F1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F1F1F"/>
                          </a:solidFill>
                          <a:latin typeface="Calibri"/>
                        </a:rPr>
                        <a:t>70 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F1F1F"/>
                          </a:solidFill>
                          <a:latin typeface="Calibri"/>
                        </a:rPr>
                        <a:t>21 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F1F1F"/>
                          </a:solidFill>
                          <a:latin typeface="Calibri"/>
                        </a:rPr>
                        <a:t>18 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480560"/>
            <a:ext cx="8010144" cy="3931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900"/>
              </a:spcAft>
            </a:pPr>
            <a:r>
              <a:rPr sz="1600" b="1" dirty="0">
                <a:solidFill>
                  <a:srgbClr val="1F1F1F"/>
                </a:solidFill>
                <a:latin typeface="Calibri"/>
              </a:rPr>
              <a:t>• No mide qué plataforma es más eficiente, sino la curva de aprendizaje acumulada.</a:t>
            </a:r>
          </a:p>
          <a:p>
            <a:pPr>
              <a:spcAft>
                <a:spcPts val="900"/>
              </a:spcAft>
            </a:pPr>
            <a:r>
              <a:rPr sz="1600" b="0" dirty="0">
                <a:solidFill>
                  <a:srgbClr val="1F1F1F"/>
                </a:solidFill>
                <a:latin typeface="Calibri"/>
              </a:rPr>
              <a:t>• El entorno local fue el primero y absorbió el trabajo de comprensión de las fuentes</a:t>
            </a:r>
          </a:p>
          <a:p>
            <a:pPr>
              <a:spcAft>
                <a:spcPts val="900"/>
              </a:spcAft>
            </a:pPr>
            <a:r>
              <a:rPr sz="1600" b="0" dirty="0">
                <a:solidFill>
                  <a:srgbClr val="1F1F1F"/>
                </a:solidFill>
                <a:latin typeface="Calibri"/>
              </a:rPr>
              <a:t>• El manual de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usuario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del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capítulo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5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recoge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el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procedimiento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completo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, reproducible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en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los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tres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entornos</a:t>
            </a:r>
            <a:endParaRPr sz="1600" b="0" dirty="0">
              <a:solidFill>
                <a:srgbClr val="1F1F1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Aportación y aplicabilidad práctica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0861461"/>
              </p:ext>
            </p:extLst>
          </p:nvPr>
        </p:nvGraphicFramePr>
        <p:xfrm>
          <a:off x="566928" y="1965960"/>
          <a:ext cx="8010144" cy="2651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66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A </a:t>
                      </a:r>
                      <a:r>
                        <a:rPr sz="14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quién</a:t>
                      </a:r>
                      <a:r>
                        <a:rPr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sz="14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sirve</a:t>
                      </a:r>
                      <a:endParaRPr sz="14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Qué aporta</a:t>
                      </a:r>
                      <a:endParaRPr sz="14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2940">
                <a:tc>
                  <a:txBody>
                    <a:bodyPr/>
                    <a:lstStyle/>
                    <a:p>
                      <a:pPr algn="l"/>
                      <a:r>
                        <a:rPr lang="es-ES" sz="1400" b="0" u="none" dirty="0">
                          <a:solidFill>
                            <a:srgbClr val="1F1F1F"/>
                          </a:solidFill>
                          <a:latin typeface="Calibri"/>
                        </a:rPr>
                        <a:t>I</a:t>
                      </a:r>
                      <a:r>
                        <a:rPr sz="1400" b="0" u="none" dirty="0" err="1">
                          <a:solidFill>
                            <a:srgbClr val="1F1F1F"/>
                          </a:solidFill>
                          <a:latin typeface="Calibri"/>
                        </a:rPr>
                        <a:t>nvestigadores</a:t>
                      </a:r>
                      <a:endParaRPr sz="1400" b="0" u="none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Un pipeline reproducible y </a:t>
                      </a:r>
                      <a:r>
                        <a:rPr lang="en-US"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portable, con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código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y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resultados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públicos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Al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organismo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que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publica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D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iagnóstico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de la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calidad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y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continuidad</a:t>
                      </a:r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de sus conjuntos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2940">
                <a:tc>
                  <a:txBody>
                    <a:bodyPr/>
                    <a:lstStyle/>
                    <a:p>
                      <a:pPr algn="l"/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Al estado de la cuestión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Validación de una metodología con cinco principios y la evidencia de que funcionan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937760"/>
            <a:ext cx="8010144" cy="3931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1" dirty="0">
                <a:solidFill>
                  <a:srgbClr val="1F1F1F"/>
                </a:solidFill>
                <a:latin typeface="Calibri"/>
              </a:rPr>
              <a:t>• Y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una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conclusión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práctica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: la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nube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pública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permite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investigación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de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este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tamaño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a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coste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cero,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si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se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dimensiona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cada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etapa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al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problema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real.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Conclusions</a:t>
            </a: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1B571B82-640A-0ABD-A664-EB273E6BF52D}"/>
              </a:ext>
            </a:extLst>
          </p:cNvPr>
          <p:cNvCxnSpPr/>
          <p:nvPr/>
        </p:nvCxnSpPr>
        <p:spPr>
          <a:xfrm>
            <a:off x="5220072" y="1750331"/>
            <a:ext cx="0" cy="3600400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0419568F-5403-2BAF-EEFA-19CEBD742A1A}"/>
              </a:ext>
            </a:extLst>
          </p:cNvPr>
          <p:cNvSpPr txBox="1"/>
          <p:nvPr/>
        </p:nvSpPr>
        <p:spPr>
          <a:xfrm>
            <a:off x="395536" y="1750331"/>
            <a:ext cx="4608511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1. Technological landscape </a:t>
            </a:r>
            <a:r>
              <a:rPr lang="en-US" b="1" dirty="0" err="1"/>
              <a:t>analysed</a:t>
            </a:r>
            <a:endParaRPr lang="en-US" b="1" dirty="0"/>
          </a:p>
          <a:p>
            <a:r>
              <a:rPr lang="en-US" sz="1600" dirty="0"/>
              <a:t>Identified the gap between published open data and machine-reusable data. </a:t>
            </a:r>
          </a:p>
          <a:p>
            <a:endParaRPr lang="en-US" dirty="0"/>
          </a:p>
          <a:p>
            <a:r>
              <a:rPr lang="en-US" b="1" dirty="0"/>
              <a:t>2. Replicable methodology developed</a:t>
            </a:r>
          </a:p>
          <a:p>
            <a:r>
              <a:rPr lang="en-US" sz="1600" dirty="0"/>
              <a:t>5 domain-independent principles with code portability. </a:t>
            </a:r>
          </a:p>
          <a:p>
            <a:r>
              <a:rPr lang="en-US" sz="1600" dirty="0"/>
              <a:t>Automation as an audit: Uncovered undocumented schema changes &amp; sensor gaps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b="1" dirty="0"/>
              <a:t>3. Applied to real data (1 year extended to 7)</a:t>
            </a:r>
          </a:p>
          <a:p>
            <a:r>
              <a:rPr lang="en-US" sz="1600" dirty="0"/>
              <a:t>Verified sustained heat-island correlation (𝑟=−0.37) and model robustness. </a:t>
            </a:r>
          </a:p>
          <a:p>
            <a:r>
              <a:rPr lang="en-US" sz="1600" dirty="0"/>
              <a:t>Identical results across Local, AWS &amp; GCP at €0 net cost. </a:t>
            </a:r>
          </a:p>
        </p:txBody>
      </p:sp>
      <p:sp>
        <p:nvSpPr>
          <p:cNvPr id="11" name="TextBox 4">
            <a:extLst>
              <a:ext uri="{FF2B5EF4-FFF2-40B4-BE49-F238E27FC236}">
                <a16:creationId xmlns:a16="http://schemas.microsoft.com/office/drawing/2014/main" id="{3F457F96-8822-F386-985D-FA475B7D5EEB}"/>
              </a:ext>
            </a:extLst>
          </p:cNvPr>
          <p:cNvSpPr txBox="1"/>
          <p:nvPr/>
        </p:nvSpPr>
        <p:spPr>
          <a:xfrm>
            <a:off x="5631760" y="2565048"/>
            <a:ext cx="3116704" cy="201593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spcAft>
                <a:spcPts val="800"/>
              </a:spcAft>
            </a:pPr>
            <a:r>
              <a:rPr lang="en-US" sz="2500" b="1" dirty="0">
                <a:solidFill>
                  <a:srgbClr val="C00530"/>
                </a:solidFill>
                <a:latin typeface="Calibri"/>
              </a:rPr>
              <a:t>Cloud AI democratizes research at zero cost, but public data quality remains the real barrier</a:t>
            </a:r>
            <a:endParaRPr lang="en-US" sz="2500" dirty="0">
              <a:solidFill>
                <a:srgbClr val="C0053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Limitations and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74519"/>
            <a:ext cx="8010144" cy="2739211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6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Limitations</a:t>
            </a:r>
          </a:p>
          <a:p>
            <a:pPr lvl="1">
              <a:spcAft>
                <a:spcPts val="6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Series not homogeneous: definition changes and network degradation</a:t>
            </a:r>
          </a:p>
          <a:p>
            <a:pPr lvl="1">
              <a:spcAft>
                <a:spcPts val="6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Mobility analysis left out of scope</a:t>
            </a:r>
          </a:p>
          <a:p>
            <a:pPr lvl="1">
              <a:spcAft>
                <a:spcPts val="6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Two cloud providers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 and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limited set of algorithms</a:t>
            </a:r>
          </a:p>
          <a:p>
            <a:pPr>
              <a:spcAft>
                <a:spcPts val="6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Future work</a:t>
            </a:r>
          </a:p>
          <a:p>
            <a:pPr lvl="1">
              <a:spcAft>
                <a:spcPts val="6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Satellite surface-temperature data</a:t>
            </a:r>
          </a:p>
          <a:p>
            <a:pPr lvl="1">
              <a:spcAft>
                <a:spcPts val="6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European cloud providers</a:t>
            </a:r>
          </a:p>
          <a:p>
            <a:pPr lvl="1">
              <a:spcAft>
                <a:spcPts val="6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Carbon footprint alongside monetary cost</a:t>
            </a:r>
          </a:p>
          <a:p>
            <a:pPr lvl="1">
              <a:spcAft>
                <a:spcPts val="6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Reformulate as regression to apply AutoML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3FE39-CBCE-E478-C0D2-582DCCB48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>
            <a:extLst>
              <a:ext uri="{FF2B5EF4-FFF2-40B4-BE49-F238E27FC236}">
                <a16:creationId xmlns:a16="http://schemas.microsoft.com/office/drawing/2014/main" id="{4438E486-0F43-5A11-C543-15A9020922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81DD3FA-B6E0-21C0-DA35-2A6AE04BD4EA}"/>
              </a:ext>
            </a:extLst>
          </p:cNvPr>
          <p:cNvSpPr txBox="1"/>
          <p:nvPr/>
        </p:nvSpPr>
        <p:spPr>
          <a:xfrm>
            <a:off x="566928" y="764704"/>
            <a:ext cx="8010144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2500" b="1" dirty="0">
                <a:solidFill>
                  <a:srgbClr val="C00530"/>
                </a:solidFill>
                <a:latin typeface="Calibri"/>
              </a:rPr>
              <a:t>Fe de erratas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0A97F7-049C-38E0-479C-4CFBFDB0312A}"/>
              </a:ext>
            </a:extLst>
          </p:cNvPr>
          <p:cNvSpPr txBox="1"/>
          <p:nvPr/>
        </p:nvSpPr>
        <p:spPr>
          <a:xfrm>
            <a:off x="630431" y="1653240"/>
            <a:ext cx="7946641" cy="397031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n-US" sz="1400" dirty="0"/>
              <a:t>* </a:t>
            </a:r>
            <a:r>
              <a:rPr lang="en-US" sz="1400" dirty="0" err="1"/>
              <a:t>Unificar</a:t>
            </a:r>
            <a:r>
              <a:rPr lang="en-US" sz="1400" dirty="0"/>
              <a:t> </a:t>
            </a:r>
            <a:r>
              <a:rPr lang="en-US" sz="1400" dirty="0" err="1"/>
              <a:t>moneda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la </a:t>
            </a:r>
            <a:r>
              <a:rPr lang="en-US" sz="1400" dirty="0" err="1"/>
              <a:t>parte</a:t>
            </a:r>
            <a:r>
              <a:rPr lang="en-US" sz="1400" dirty="0"/>
              <a:t> de </a:t>
            </a:r>
            <a:r>
              <a:rPr lang="en-US" sz="1400" dirty="0" err="1"/>
              <a:t>costes</a:t>
            </a:r>
            <a:r>
              <a:rPr lang="en-US" sz="1400" dirty="0"/>
              <a:t> de </a:t>
            </a:r>
            <a:r>
              <a:rPr lang="en-US" sz="1400" dirty="0" err="1"/>
              <a:t>nube</a:t>
            </a:r>
            <a:endParaRPr lang="en-US" sz="1400" dirty="0"/>
          </a:p>
          <a:p>
            <a:r>
              <a:rPr lang="en-US" sz="1400" dirty="0"/>
              <a:t>* La url del github tiene un typo (</a:t>
            </a:r>
            <a:r>
              <a:rPr lang="en-US" sz="1400" dirty="0">
                <a:hlinkClick r:id="rId4"/>
              </a:rPr>
              <a:t>https://github.com/crismo04/TFM-cloud-soliutions-to-public-data/</a:t>
            </a:r>
            <a:r>
              <a:rPr lang="en-US" sz="1400" dirty="0"/>
              <a:t>)</a:t>
            </a:r>
          </a:p>
          <a:p>
            <a:r>
              <a:rPr lang="en-US" sz="1400" dirty="0"/>
              <a:t>*</a:t>
            </a:r>
            <a:r>
              <a:rPr lang="en-US" sz="1400" dirty="0" err="1"/>
              <a:t>unificar</a:t>
            </a:r>
            <a:r>
              <a:rPr lang="en-US" sz="1400" dirty="0"/>
              <a:t> </a:t>
            </a:r>
            <a:r>
              <a:rPr lang="en-US" sz="1400" dirty="0" err="1"/>
              <a:t>todo</a:t>
            </a:r>
            <a:r>
              <a:rPr lang="en-US" sz="1400" dirty="0"/>
              <a:t> a python o python3 (vertex </a:t>
            </a:r>
            <a:r>
              <a:rPr lang="en-US" sz="1400" dirty="0" err="1"/>
              <a:t>usa</a:t>
            </a:r>
            <a:r>
              <a:rPr lang="en-US" sz="1400" dirty="0"/>
              <a:t> python3) </a:t>
            </a:r>
          </a:p>
          <a:p>
            <a:r>
              <a:rPr lang="en-US" sz="1400" dirty="0"/>
              <a:t>* </a:t>
            </a:r>
            <a:r>
              <a:rPr lang="en-US" sz="1400" dirty="0" err="1"/>
              <a:t>Correcciones</a:t>
            </a:r>
            <a:r>
              <a:rPr lang="en-US" sz="1400" dirty="0"/>
              <a:t> de </a:t>
            </a:r>
            <a:r>
              <a:rPr lang="en-US" sz="1400" dirty="0" err="1"/>
              <a:t>algunos</a:t>
            </a:r>
            <a:r>
              <a:rPr lang="en-US" sz="1400" dirty="0"/>
              <a:t> enlaces </a:t>
            </a:r>
            <a:r>
              <a:rPr lang="en-US" sz="1400" dirty="0" err="1"/>
              <a:t>dañados</a:t>
            </a:r>
            <a:r>
              <a:rPr lang="en-US" sz="1400" dirty="0"/>
              <a:t>.</a:t>
            </a:r>
          </a:p>
          <a:p>
            <a:r>
              <a:rPr lang="en-US" sz="1400" dirty="0"/>
              <a:t>* Los enlaces </a:t>
            </a:r>
            <a:r>
              <a:rPr lang="en-US" sz="1400" dirty="0" err="1"/>
              <a:t>clicables</a:t>
            </a:r>
            <a:r>
              <a:rPr lang="en-US" sz="1400" dirty="0"/>
              <a:t> de la </a:t>
            </a:r>
            <a:r>
              <a:rPr lang="en-US" sz="1400" dirty="0" err="1"/>
              <a:t>introducción</a:t>
            </a:r>
            <a:r>
              <a:rPr lang="en-US" sz="1400" dirty="0"/>
              <a:t>, </a:t>
            </a:r>
            <a:r>
              <a:rPr lang="en-US" sz="1400" dirty="0" err="1"/>
              <a:t>en</a:t>
            </a:r>
            <a:r>
              <a:rPr lang="en-US" sz="1400" dirty="0"/>
              <a:t> </a:t>
            </a:r>
            <a:r>
              <a:rPr lang="en-US" sz="1400" dirty="0" err="1"/>
              <a:t>cursiva</a:t>
            </a:r>
            <a:r>
              <a:rPr lang="en-US" sz="1400" dirty="0"/>
              <a:t>.</a:t>
            </a:r>
          </a:p>
          <a:p>
            <a:r>
              <a:rPr lang="en-US" sz="1400" dirty="0"/>
              <a:t>* Cambio </a:t>
            </a:r>
            <a:r>
              <a:rPr lang="en-US" sz="1400" dirty="0" err="1"/>
              <a:t>en</a:t>
            </a:r>
            <a:r>
              <a:rPr lang="en-US" sz="1400" dirty="0"/>
              <a:t> </a:t>
            </a:r>
            <a:r>
              <a:rPr lang="en-US" sz="1400" dirty="0" err="1"/>
              <a:t>algunos</a:t>
            </a:r>
            <a:r>
              <a:rPr lang="en-US" sz="1400" dirty="0"/>
              <a:t> </a:t>
            </a:r>
            <a:r>
              <a:rPr lang="en-US" sz="1400" dirty="0" err="1"/>
              <a:t>títulos</a:t>
            </a:r>
            <a:r>
              <a:rPr lang="en-US" sz="1400" dirty="0"/>
              <a:t> de </a:t>
            </a:r>
            <a:r>
              <a:rPr lang="en-US" sz="1400" dirty="0" err="1"/>
              <a:t>sección</a:t>
            </a:r>
            <a:r>
              <a:rPr lang="en-US" sz="1400" dirty="0"/>
              <a:t> </a:t>
            </a:r>
            <a:r>
              <a:rPr lang="en-US" sz="1400" dirty="0" err="1"/>
              <a:t>por</a:t>
            </a:r>
            <a:r>
              <a:rPr lang="en-US" sz="1400" dirty="0"/>
              <a:t> </a:t>
            </a:r>
            <a:r>
              <a:rPr lang="en-US" sz="1400" dirty="0" err="1"/>
              <a:t>repetitivos</a:t>
            </a:r>
            <a:r>
              <a:rPr lang="en-US" sz="1400" dirty="0"/>
              <a:t>.</a:t>
            </a:r>
          </a:p>
          <a:p>
            <a:r>
              <a:rPr lang="en-US" sz="1400" dirty="0"/>
              <a:t>* </a:t>
            </a:r>
            <a:r>
              <a:rPr lang="en-US" sz="1400" dirty="0" err="1"/>
              <a:t>Mejoras</a:t>
            </a:r>
            <a:r>
              <a:rPr lang="en-US" sz="1400" dirty="0"/>
              <a:t> de </a:t>
            </a:r>
            <a:r>
              <a:rPr lang="en-US" sz="1400" dirty="0" err="1"/>
              <a:t>redacción</a:t>
            </a:r>
            <a:r>
              <a:rPr lang="en-US" sz="1400" dirty="0"/>
              <a:t> </a:t>
            </a:r>
            <a:r>
              <a:rPr lang="en-US" sz="1400" dirty="0" err="1"/>
              <a:t>propuestas</a:t>
            </a:r>
            <a:r>
              <a:rPr lang="en-US" sz="1400" dirty="0"/>
              <a:t> </a:t>
            </a:r>
            <a:r>
              <a:rPr lang="en-US" sz="1400" dirty="0" err="1"/>
              <a:t>por</a:t>
            </a:r>
            <a:r>
              <a:rPr lang="en-US" sz="1400" dirty="0"/>
              <a:t> </a:t>
            </a:r>
            <a:r>
              <a:rPr lang="en-US" sz="1400" dirty="0" err="1"/>
              <a:t>los</a:t>
            </a:r>
            <a:r>
              <a:rPr lang="en-US" sz="1400" dirty="0"/>
              <a:t> </a:t>
            </a:r>
            <a:r>
              <a:rPr lang="en-US" sz="1400" dirty="0" err="1"/>
              <a:t>tutores</a:t>
            </a:r>
            <a:r>
              <a:rPr lang="en-US" sz="1400" dirty="0"/>
              <a:t>.</a:t>
            </a:r>
          </a:p>
          <a:p>
            <a:r>
              <a:rPr lang="en-US" sz="1400" dirty="0"/>
              <a:t>* </a:t>
            </a:r>
            <a:r>
              <a:rPr lang="en-US" sz="1400" dirty="0" err="1"/>
              <a:t>Correcciones</a:t>
            </a:r>
            <a:r>
              <a:rPr lang="en-US" sz="1400" dirty="0"/>
              <a:t> </a:t>
            </a:r>
            <a:r>
              <a:rPr lang="en-US" sz="1400" dirty="0" err="1"/>
              <a:t>ortográficas</a:t>
            </a:r>
            <a:r>
              <a:rPr lang="en-US" sz="1400" dirty="0"/>
              <a:t> (</a:t>
            </a:r>
            <a:r>
              <a:rPr lang="en-US" sz="1400" dirty="0" err="1"/>
              <a:t>incluido</a:t>
            </a:r>
            <a:r>
              <a:rPr lang="en-US" sz="1400" dirty="0"/>
              <a:t> </a:t>
            </a:r>
            <a:r>
              <a:rPr lang="en-US" sz="1400" dirty="0" err="1"/>
              <a:t>este</a:t>
            </a:r>
            <a:r>
              <a:rPr lang="en-US" sz="1400" dirty="0"/>
              <a:t> changelog).</a:t>
            </a:r>
          </a:p>
          <a:p>
            <a:r>
              <a:rPr lang="en-US" sz="1400" dirty="0"/>
              <a:t>* Se </a:t>
            </a:r>
            <a:r>
              <a:rPr lang="en-US" sz="1400" dirty="0" err="1"/>
              <a:t>redirige</a:t>
            </a:r>
            <a:r>
              <a:rPr lang="en-US" sz="1400" dirty="0"/>
              <a:t> a la </a:t>
            </a:r>
            <a:r>
              <a:rPr lang="en-US" sz="1400" dirty="0" err="1"/>
              <a:t>definición</a:t>
            </a:r>
            <a:r>
              <a:rPr lang="en-US" sz="1400" dirty="0"/>
              <a:t> de </a:t>
            </a:r>
            <a:r>
              <a:rPr lang="en-US" sz="1400" dirty="0" err="1"/>
              <a:t>arquitectura</a:t>
            </a:r>
            <a:r>
              <a:rPr lang="en-US" sz="1400" dirty="0"/>
              <a:t> de </a:t>
            </a:r>
            <a:r>
              <a:rPr lang="en-US" sz="1400" dirty="0" err="1"/>
              <a:t>medalla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el </a:t>
            </a:r>
            <a:r>
              <a:rPr lang="en-US" sz="1400" dirty="0" err="1"/>
              <a:t>capítulo</a:t>
            </a:r>
            <a:r>
              <a:rPr lang="en-US" sz="1400" dirty="0"/>
              <a:t> de </a:t>
            </a:r>
            <a:r>
              <a:rPr lang="en-US" sz="1400" dirty="0" err="1"/>
              <a:t>estado</a:t>
            </a:r>
            <a:r>
              <a:rPr lang="en-US" sz="1400" dirty="0"/>
              <a:t> de la </a:t>
            </a:r>
            <a:r>
              <a:rPr lang="en-US" sz="1400" dirty="0" err="1"/>
              <a:t>cuestión</a:t>
            </a:r>
            <a:r>
              <a:rPr lang="en-US" sz="1400" dirty="0"/>
              <a:t>.</a:t>
            </a:r>
          </a:p>
          <a:p>
            <a:r>
              <a:rPr lang="en-US" sz="1400" dirty="0"/>
              <a:t>* Se </a:t>
            </a:r>
            <a:r>
              <a:rPr lang="en-US" sz="1400" dirty="0" err="1"/>
              <a:t>ajustaron</a:t>
            </a:r>
            <a:r>
              <a:rPr lang="en-US" sz="1400" dirty="0"/>
              <a:t> </a:t>
            </a:r>
            <a:r>
              <a:rPr lang="en-US" sz="1400" dirty="0" err="1"/>
              <a:t>todas</a:t>
            </a:r>
            <a:r>
              <a:rPr lang="en-US" sz="1400" dirty="0"/>
              <a:t> las </a:t>
            </a:r>
            <a:r>
              <a:rPr lang="en-US" sz="1400" dirty="0" err="1"/>
              <a:t>tablas</a:t>
            </a:r>
            <a:r>
              <a:rPr lang="en-US" sz="1400" dirty="0"/>
              <a:t> al </a:t>
            </a:r>
            <a:r>
              <a:rPr lang="en-US" sz="1400" dirty="0" err="1"/>
              <a:t>margen</a:t>
            </a:r>
            <a:r>
              <a:rPr lang="en-US" sz="1400" dirty="0"/>
              <a:t> de la memoria.</a:t>
            </a:r>
          </a:p>
          <a:p>
            <a:r>
              <a:rPr lang="en-US" sz="1400" dirty="0"/>
              <a:t>* Se </a:t>
            </a:r>
            <a:r>
              <a:rPr lang="en-US" sz="1400" dirty="0" err="1"/>
              <a:t>ajustaron</a:t>
            </a:r>
            <a:r>
              <a:rPr lang="en-US" sz="1400" dirty="0"/>
              <a:t> las </a:t>
            </a:r>
            <a:r>
              <a:rPr lang="en-US" sz="1400" dirty="0" err="1"/>
              <a:t>imágenes</a:t>
            </a:r>
            <a:r>
              <a:rPr lang="en-US" sz="1400" dirty="0"/>
              <a:t>.</a:t>
            </a:r>
          </a:p>
          <a:p>
            <a:r>
              <a:rPr lang="en-US" sz="1400" dirty="0"/>
              <a:t>* Se </a:t>
            </a:r>
            <a:r>
              <a:rPr lang="en-US" sz="1400" dirty="0" err="1"/>
              <a:t>enumeraron</a:t>
            </a:r>
            <a:r>
              <a:rPr lang="en-US" sz="1400" dirty="0"/>
              <a:t> también </a:t>
            </a:r>
            <a:r>
              <a:rPr lang="en-US" sz="1400" dirty="0" err="1"/>
              <a:t>los</a:t>
            </a:r>
            <a:r>
              <a:rPr lang="en-US" sz="1400" dirty="0"/>
              <a:t> </a:t>
            </a:r>
            <a:r>
              <a:rPr lang="en-US" sz="1400" dirty="0" err="1"/>
              <a:t>capítulos</a:t>
            </a:r>
            <a:r>
              <a:rPr lang="en-US" sz="1400" dirty="0"/>
              <a:t> de las </a:t>
            </a:r>
            <a:r>
              <a:rPr lang="en-US" sz="1400" dirty="0" err="1"/>
              <a:t>conclusiones</a:t>
            </a:r>
            <a:r>
              <a:rPr lang="en-US" sz="1400" dirty="0"/>
              <a:t> de </a:t>
            </a:r>
            <a:r>
              <a:rPr lang="en-US" sz="1400" dirty="0" err="1"/>
              <a:t>cada</a:t>
            </a:r>
            <a:r>
              <a:rPr lang="en-US" sz="1400" dirty="0"/>
              <a:t> </a:t>
            </a:r>
            <a:r>
              <a:rPr lang="en-US" sz="1400" dirty="0" err="1"/>
              <a:t>capítulo</a:t>
            </a:r>
            <a:r>
              <a:rPr lang="en-US" sz="1400" dirty="0"/>
              <a:t>.</a:t>
            </a:r>
          </a:p>
          <a:p>
            <a:r>
              <a:rPr lang="en-US" sz="1400" dirty="0"/>
              <a:t>* En el manual de </a:t>
            </a:r>
            <a:r>
              <a:rPr lang="en-US" sz="1400" dirty="0" err="1"/>
              <a:t>usuario</a:t>
            </a:r>
            <a:r>
              <a:rPr lang="en-US" sz="1400" dirty="0"/>
              <a:t>, </a:t>
            </a:r>
            <a:r>
              <a:rPr lang="en-US" sz="1400" dirty="0" err="1"/>
              <a:t>los</a:t>
            </a:r>
            <a:r>
              <a:rPr lang="en-US" sz="1400" dirty="0"/>
              <a:t> </a:t>
            </a:r>
            <a:r>
              <a:rPr lang="en-US" sz="1400" dirty="0" err="1"/>
              <a:t>bloques</a:t>
            </a:r>
            <a:r>
              <a:rPr lang="en-US" sz="1400" dirty="0"/>
              <a:t> de </a:t>
            </a:r>
            <a:r>
              <a:rPr lang="en-US" sz="1400" dirty="0" err="1"/>
              <a:t>código</a:t>
            </a:r>
            <a:r>
              <a:rPr lang="en-US" sz="1400" dirty="0"/>
              <a:t> </a:t>
            </a:r>
            <a:r>
              <a:rPr lang="en-US" sz="1400" dirty="0" err="1"/>
              <a:t>estaban</a:t>
            </a:r>
            <a:r>
              <a:rPr lang="en-US" sz="1400" dirty="0"/>
              <a:t> mal </a:t>
            </a:r>
            <a:r>
              <a:rPr lang="en-US" sz="1400" dirty="0" err="1"/>
              <a:t>organizados</a:t>
            </a:r>
            <a:r>
              <a:rPr lang="en-US" sz="1400" dirty="0"/>
              <a:t>, no se </a:t>
            </a:r>
            <a:r>
              <a:rPr lang="en-US" sz="1400" dirty="0" err="1"/>
              <a:t>colocaban</a:t>
            </a:r>
            <a:r>
              <a:rPr lang="en-US" sz="1400" dirty="0"/>
              <a:t> </a:t>
            </a:r>
            <a:r>
              <a:rPr lang="en-US" sz="1400" dirty="0" err="1"/>
              <a:t>después</a:t>
            </a:r>
            <a:r>
              <a:rPr lang="en-US" sz="1400" dirty="0"/>
              <a:t> de </a:t>
            </a:r>
            <a:r>
              <a:rPr lang="en-US" sz="1400" dirty="0" err="1"/>
              <a:t>los</a:t>
            </a:r>
            <a:r>
              <a:rPr lang="en-US" sz="1400" dirty="0"/>
              <a:t> dos puntos. Se ha </a:t>
            </a:r>
            <a:r>
              <a:rPr lang="en-US" sz="1400" dirty="0" err="1"/>
              <a:t>cambiado</a:t>
            </a:r>
            <a:r>
              <a:rPr lang="en-US" sz="1400" dirty="0"/>
              <a:t> la </a:t>
            </a:r>
            <a:r>
              <a:rPr lang="en-US" sz="1400" dirty="0" err="1"/>
              <a:t>manera</a:t>
            </a:r>
            <a:r>
              <a:rPr lang="en-US" sz="1400" dirty="0"/>
              <a:t> de </a:t>
            </a:r>
            <a:r>
              <a:rPr lang="en-US" sz="1400" dirty="0" err="1"/>
              <a:t>introducirlos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</a:t>
            </a:r>
            <a:r>
              <a:rPr lang="en-US" sz="1400" dirty="0" err="1"/>
              <a:t>los</a:t>
            </a:r>
            <a:r>
              <a:rPr lang="en-US" sz="1400" dirty="0"/>
              <a:t> </a:t>
            </a:r>
            <a:r>
              <a:rPr lang="en-US" sz="1400" dirty="0" err="1"/>
              <a:t>párrafos</a:t>
            </a:r>
            <a:r>
              <a:rPr lang="en-US" sz="1400" dirty="0"/>
              <a:t>.</a:t>
            </a:r>
          </a:p>
          <a:p>
            <a:r>
              <a:rPr lang="en-US" sz="1400" dirty="0"/>
              <a:t>* </a:t>
            </a:r>
            <a:r>
              <a:rPr lang="en-US" sz="1400" dirty="0" err="1"/>
              <a:t>Añadido</a:t>
            </a:r>
            <a:r>
              <a:rPr lang="en-US" sz="1400" dirty="0"/>
              <a:t> un </a:t>
            </a:r>
            <a:r>
              <a:rPr lang="en-US" sz="1400" dirty="0" err="1"/>
              <a:t>apartado</a:t>
            </a:r>
            <a:r>
              <a:rPr lang="en-US" sz="1400" dirty="0"/>
              <a:t> de </a:t>
            </a:r>
            <a:r>
              <a:rPr lang="en-US" sz="1400" dirty="0" err="1"/>
              <a:t>conclusiones</a:t>
            </a:r>
            <a:r>
              <a:rPr lang="en-US" sz="1400" dirty="0"/>
              <a:t> del </a:t>
            </a:r>
            <a:r>
              <a:rPr lang="en-US" sz="1400" dirty="0" err="1"/>
              <a:t>capítulo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el manual de </a:t>
            </a:r>
            <a:r>
              <a:rPr lang="en-US" sz="1400" dirty="0" err="1"/>
              <a:t>usuario</a:t>
            </a:r>
            <a:r>
              <a:rPr lang="en-US" sz="1400" dirty="0"/>
              <a:t>.</a:t>
            </a:r>
          </a:p>
          <a:p>
            <a:r>
              <a:rPr lang="en-US" sz="1400" dirty="0"/>
              <a:t>* </a:t>
            </a:r>
            <a:r>
              <a:rPr lang="en-US" sz="1400" dirty="0" err="1"/>
              <a:t>Corregidas</a:t>
            </a:r>
            <a:r>
              <a:rPr lang="en-US" sz="1400" dirty="0"/>
              <a:t> dos medias </a:t>
            </a:r>
            <a:r>
              <a:rPr lang="en-US" sz="1400" dirty="0" err="1"/>
              <a:t>desactualizadas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las </a:t>
            </a:r>
            <a:r>
              <a:rPr lang="en-US" sz="1400" dirty="0" err="1"/>
              <a:t>siluetas</a:t>
            </a:r>
            <a:r>
              <a:rPr lang="en-US" sz="1400" dirty="0"/>
              <a:t> del </a:t>
            </a:r>
            <a:r>
              <a:rPr lang="en-US" sz="1400" dirty="0" err="1"/>
              <a:t>capítulo</a:t>
            </a:r>
            <a:r>
              <a:rPr lang="en-US" sz="1400" dirty="0"/>
              <a:t> 4</a:t>
            </a:r>
          </a:p>
          <a:p>
            <a:r>
              <a:rPr lang="en-US" sz="1400" dirty="0"/>
              <a:t>* </a:t>
            </a:r>
            <a:r>
              <a:rPr lang="en-US" sz="1400" dirty="0" err="1"/>
              <a:t>Añadido</a:t>
            </a:r>
            <a:r>
              <a:rPr lang="en-US" sz="1400" dirty="0"/>
              <a:t> un </a:t>
            </a:r>
            <a:r>
              <a:rPr lang="en-US" sz="1400" dirty="0" err="1"/>
              <a:t>apartado</a:t>
            </a:r>
            <a:r>
              <a:rPr lang="en-US" sz="1400" dirty="0"/>
              <a:t> de </a:t>
            </a:r>
            <a:r>
              <a:rPr lang="en-US" sz="1400" dirty="0" err="1"/>
              <a:t>marco</a:t>
            </a:r>
            <a:r>
              <a:rPr lang="en-US" sz="1400" dirty="0"/>
              <a:t> </a:t>
            </a:r>
            <a:r>
              <a:rPr lang="en-US" sz="1400" dirty="0" err="1"/>
              <a:t>metodológico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la </a:t>
            </a:r>
            <a:r>
              <a:rPr lang="en-US" sz="1400" dirty="0" err="1"/>
              <a:t>sección</a:t>
            </a:r>
            <a:r>
              <a:rPr lang="en-US" sz="1400" dirty="0"/>
              <a:t> 3.2</a:t>
            </a:r>
          </a:p>
          <a:p>
            <a:r>
              <a:rPr lang="en-US" sz="1400" dirty="0"/>
              <a:t>* Actualización de los readme.md del código</a:t>
            </a:r>
          </a:p>
        </p:txBody>
      </p:sp>
    </p:spTree>
    <p:extLst>
      <p:ext uri="{BB962C8B-B14F-4D97-AF65-F5344CB8AC3E}">
        <p14:creationId xmlns:p14="http://schemas.microsoft.com/office/powerpoint/2010/main" val="22113205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Gracias · Preguntas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651760"/>
            <a:ext cx="8010144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3200" b="1">
                <a:solidFill>
                  <a:srgbClr val="C00530"/>
                </a:solidFill>
                <a:latin typeface="Calibri"/>
              </a:rPr>
              <a:t>¿Preguntas?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931920"/>
            <a:ext cx="8010144" cy="3931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github.com/crismo04/TFM-cloud-soliutions-to-public-data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Código bajo licencia MIT · datos bajo CC BY 4.0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745</TotalTime>
  <Words>2529</Words>
  <Application>Microsoft Office PowerPoint</Application>
  <PresentationFormat>Presentación en pantalla (4:3)</PresentationFormat>
  <Paragraphs>428</Paragraphs>
  <Slides>33</Slides>
  <Notes>28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33</vt:i4>
      </vt:variant>
    </vt:vector>
  </HeadingPairs>
  <TitlesOfParts>
    <vt:vector size="37" baseType="lpstr">
      <vt:lpstr>Aptos</vt:lpstr>
      <vt:lpstr>Arial</vt:lpstr>
      <vt:lpstr>Calibri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Juan Carlos</dc:creator>
  <cp:lastModifiedBy>CRISTIAN MOLINA MUÑOZ</cp:lastModifiedBy>
  <cp:revision>30</cp:revision>
  <dcterms:created xsi:type="dcterms:W3CDTF">2016-10-17T15:47:14Z</dcterms:created>
  <dcterms:modified xsi:type="dcterms:W3CDTF">2026-09-15T19:18:13Z</dcterms:modified>
</cp:coreProperties>
</file>