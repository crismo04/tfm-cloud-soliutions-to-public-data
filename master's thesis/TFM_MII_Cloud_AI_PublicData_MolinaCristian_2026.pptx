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2" r:id="rId2"/>
    <p:sldId id="275" r:id="rId3"/>
    <p:sldId id="273" r:id="rId4"/>
    <p:sldId id="274" r:id="rId5"/>
    <p:sldId id="310" r:id="rId6"/>
    <p:sldId id="277" r:id="rId7"/>
    <p:sldId id="279" r:id="rId8"/>
    <p:sldId id="282" r:id="rId9"/>
    <p:sldId id="304" r:id="rId10"/>
    <p:sldId id="283" r:id="rId11"/>
    <p:sldId id="284" r:id="rId12"/>
    <p:sldId id="285" r:id="rId13"/>
    <p:sldId id="286" r:id="rId14"/>
    <p:sldId id="287" r:id="rId15"/>
    <p:sldId id="305" r:id="rId16"/>
    <p:sldId id="289" r:id="rId17"/>
    <p:sldId id="290" r:id="rId18"/>
    <p:sldId id="306" r:id="rId19"/>
    <p:sldId id="292" r:id="rId20"/>
    <p:sldId id="293" r:id="rId21"/>
    <p:sldId id="296" r:id="rId22"/>
    <p:sldId id="295" r:id="rId23"/>
    <p:sldId id="307" r:id="rId24"/>
    <p:sldId id="298" r:id="rId25"/>
    <p:sldId id="309" r:id="rId26"/>
    <p:sldId id="301" r:id="rId27"/>
    <p:sldId id="302" r:id="rId28"/>
    <p:sldId id="303" r:id="rId29"/>
    <p:sldId id="308" r:id="rId3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530"/>
    <a:srgbClr val="FAF0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90445" autoAdjust="0"/>
  </p:normalViewPr>
  <p:slideViewPr>
    <p:cSldViewPr>
      <p:cViewPr varScale="1">
        <p:scale>
          <a:sx n="74" d="100"/>
          <a:sy n="74" d="100"/>
        </p:scale>
        <p:origin x="1747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FF152-CFF9-43C9-9D88-2225BF08944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B3E8A-3694-4418-B446-8CF08433E65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7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Fuente: </a:t>
            </a:r>
            <a:r>
              <a:rPr lang="en-US" dirty="0" err="1"/>
              <a:t>Diagrama</a:t>
            </a:r>
            <a:r>
              <a:rPr lang="en-US" dirty="0"/>
              <a:t> conceptual de </a:t>
            </a:r>
            <a:r>
              <a:rPr lang="en-US" dirty="0" err="1"/>
              <a:t>arquitectura</a:t>
            </a:r>
            <a:r>
              <a:rPr lang="en-US" dirty="0"/>
              <a:t> Medallion (Google Cloud Documentation) </a:t>
            </a:r>
          </a:p>
          <a:p>
            <a:r>
              <a:rPr lang="en-US" dirty="0"/>
              <a:t>https://cloud.google.com/discover/what-is-medallion-architecture?hl=es&amp;authuser=3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Imagen: </a:t>
            </a:r>
            <a:r>
              <a:rPr lang="es-ES" sz="1200" dirty="0">
                <a:solidFill>
                  <a:srgbClr val="5A5A5A"/>
                </a:solidFill>
                <a:latin typeface="Calibri"/>
              </a:rPr>
              <a:t>Correlación arbolado–temperatura por distrito, 2019-2025, en las dos configuraciones del análisis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Mas diapositivas??? </a:t>
            </a:r>
          </a:p>
          <a:p>
            <a:endParaRPr lang="es-ES" dirty="0"/>
          </a:p>
          <a:p>
            <a:r>
              <a:rPr lang="es-ES" dirty="0" err="1"/>
              <a:t>dendrograma</a:t>
            </a:r>
            <a:r>
              <a:rPr lang="es-ES" dirty="0"/>
              <a:t> de 2021 · diagrama del codo · tabla completa de siluetas por año · las tres capas de gobernanza OECD · los siete principios éticos del RIA · por qué se descartaron Cloud Run Jobs y Cloud </a:t>
            </a:r>
            <a:r>
              <a:rPr lang="es-ES" dirty="0" err="1"/>
              <a:t>Functions</a:t>
            </a:r>
            <a:r>
              <a:rPr lang="es-ES" dirty="0"/>
              <a:t> · tabla de ventanas de contexto de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C239-664E-F5E7-D81D-D0FD270E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5C194-0566-5D62-A2A6-35618B144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E3DC2-15F8-4D50-7E02-01986B0187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2F91-13FB-6AA2-D4B0-1511E753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590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datos.madrid.es/portal/site/egob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2391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Facultad de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Máster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  <p:pic>
        <p:nvPicPr>
          <p:cNvPr id="8" name="Picture 7" descr="1789408462696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8010144" cy="363176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000" dirty="0">
                <a:solidFill>
                  <a:srgbClr val="1F1F1F"/>
                </a:solidFill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</a:rPr>
              <a:t>Introducción</a:t>
            </a:r>
            <a:r>
              <a:rPr lang="en-US" sz="2000" b="1" dirty="0">
                <a:solidFill>
                  <a:srgbClr val="1F1F1F"/>
                </a:solidFill>
              </a:rPr>
              <a:t> 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Estado de la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cuestión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inteligencia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artificial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  <a:latin typeface="Calibri"/>
              </a:rPr>
              <a:t>Metodología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lang="es-ES" sz="2000" b="0" dirty="0">
                <a:solidFill>
                  <a:srgbClr val="1F1F1F"/>
                </a:solidFill>
                <a:latin typeface="Calibri"/>
              </a:rPr>
              <a:t>, arquitectura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solución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implementada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Resultados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automático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Aportación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aplicabilidad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práctica</a:t>
            </a:r>
            <a:endParaRPr sz="20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Conclusiones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futuro</a:t>
            </a:r>
            <a:r>
              <a:rPr lang="es-ES"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2000" b="1" dirty="0">
                <a:solidFill>
                  <a:srgbClr val="1F1F1F"/>
                </a:solidFill>
              </a:rPr>
              <a:t>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endParaRPr sz="20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The Context: Data, Cloud, and AI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1549" y="1619827"/>
            <a:ext cx="8280920" cy="152862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000" b="1" dirty="0">
                <a:solidFill>
                  <a:srgbClr val="C00530"/>
                </a:solidFill>
                <a:latin typeface="Calibri"/>
              </a:rPr>
              <a:t>PUBLIC DATA: 181 ZB </a:t>
            </a:r>
            <a:r>
              <a:rPr lang="en-US" sz="2000" dirty="0">
                <a:solidFill>
                  <a:srgbClr val="C00530"/>
                </a:solidFill>
                <a:latin typeface="Calibri"/>
              </a:rPr>
              <a:t>created worldwide (2025)</a:t>
            </a:r>
          </a:p>
          <a:p>
            <a:pPr>
              <a:spcAft>
                <a:spcPts val="800"/>
              </a:spcAft>
            </a:pPr>
            <a:r>
              <a:rPr lang="en-US" sz="2000" b="1" dirty="0">
                <a:solidFill>
                  <a:srgbClr val="C00530"/>
                </a:solidFill>
                <a:latin typeface="Calibri"/>
              </a:rPr>
              <a:t>CLOUD COMPUTING: 44.3% </a:t>
            </a:r>
            <a:r>
              <a:rPr lang="en-US" sz="2000" dirty="0">
                <a:solidFill>
                  <a:srgbClr val="C00530"/>
                </a:solidFill>
                <a:latin typeface="Calibri"/>
              </a:rPr>
              <a:t>of Spanish firms pay for cloud</a:t>
            </a:r>
          </a:p>
          <a:p>
            <a:pPr>
              <a:spcAft>
                <a:spcPts val="800"/>
              </a:spcAft>
            </a:pPr>
            <a:r>
              <a:rPr lang="en-US" sz="2000" b="1" dirty="0">
                <a:solidFill>
                  <a:srgbClr val="C00530"/>
                </a:solidFill>
                <a:latin typeface="Calibri"/>
              </a:rPr>
              <a:t>ARTIFICIAL INTELLIGENCE: 21.1% </a:t>
            </a:r>
            <a:r>
              <a:rPr lang="en-US" sz="2000" dirty="0">
                <a:solidFill>
                  <a:srgbClr val="C00530"/>
                </a:solidFill>
                <a:latin typeface="Calibri"/>
              </a:rPr>
              <a:t>of Spanish firms use AI (2025) 			         		(</a:t>
            </a:r>
            <a:r>
              <a:rPr lang="en-US" sz="2000" b="1" dirty="0">
                <a:solidFill>
                  <a:srgbClr val="C00530"/>
                </a:solidFill>
                <a:latin typeface="Calibri"/>
              </a:rPr>
              <a:t>61%</a:t>
            </a:r>
            <a:r>
              <a:rPr lang="en-US" sz="2000" dirty="0">
                <a:solidFill>
                  <a:srgbClr val="C00530"/>
                </a:solidFill>
                <a:latin typeface="Calibri"/>
              </a:rPr>
              <a:t> in 2026 - reported at the AWS Summit)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528" y="3605745"/>
            <a:ext cx="4104456" cy="19902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lang="en-US" b="1" dirty="0"/>
              <a:t>And yet: only 48% of high-value datasets are actually available as open data (OECD).</a:t>
            </a:r>
          </a:p>
          <a:p>
            <a:pPr lvl="1">
              <a:spcAft>
                <a:spcPts val="1400"/>
              </a:spcAft>
            </a:pPr>
            <a:r>
              <a:rPr lang="es-ES" sz="160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Published is not the same as machine-readable</a:t>
            </a:r>
          </a:p>
          <a:p>
            <a:pPr lvl="1">
              <a:spcAft>
                <a:spcPts val="14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Can an automated process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use </a:t>
            </a:r>
            <a:r>
              <a:rPr lang="es-ES" sz="1600" b="1" dirty="0" err="1">
                <a:solidFill>
                  <a:srgbClr val="1F1F1F"/>
                </a:solidFill>
                <a:latin typeface="Calibri"/>
              </a:rPr>
              <a:t>public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data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with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1" dirty="0" err="1">
                <a:solidFill>
                  <a:srgbClr val="1F1F1F"/>
                </a:solidFill>
                <a:latin typeface="Calibri"/>
              </a:rPr>
              <a:t>minimal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human intervention?</a:t>
            </a:r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A1A2087E-E471-EDC0-8AB1-E25C578780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947260"/>
              </p:ext>
            </p:extLst>
          </p:nvPr>
        </p:nvGraphicFramePr>
        <p:xfrm>
          <a:off x="4499992" y="3881439"/>
          <a:ext cx="4536504" cy="17388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88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Items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included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in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this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Bibliographic references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  Web resources and technical documentation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Articles and theses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Books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Technical definitions (Appendix A)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FF8BEB1D-69DD-6CD3-256F-BE0E4BAE457B}"/>
              </a:ext>
            </a:extLst>
          </p:cNvPr>
          <p:cNvSpPr txBox="1"/>
          <p:nvPr/>
        </p:nvSpPr>
        <p:spPr>
          <a:xfrm>
            <a:off x="4860032" y="3499309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C00530"/>
                </a:solidFill>
                <a:latin typeface="Calibri"/>
              </a:rPr>
              <a:t>M</a:t>
            </a:r>
            <a:r>
              <a:rPr lang="en-US" sz="2000" b="1" dirty="0" err="1">
                <a:solidFill>
                  <a:srgbClr val="C00530"/>
                </a:solidFill>
                <a:latin typeface="Calibri"/>
              </a:rPr>
              <a:t>illions</a:t>
            </a:r>
            <a:r>
              <a:rPr lang="en-US" sz="2000" b="1" dirty="0">
                <a:solidFill>
                  <a:srgbClr val="C00530"/>
                </a:solidFill>
                <a:latin typeface="Calibri"/>
              </a:rPr>
              <a:t> of articles: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Objectives and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337260"/>
              </p:ext>
            </p:extLst>
          </p:nvPr>
        </p:nvGraphicFramePr>
        <p:xfrm>
          <a:off x="566928" y="1645920"/>
          <a:ext cx="8010144" cy="1927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Analyse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the landscape of cloud, AI and public data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Develop a replicable methodology, source to value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Apply it to real </a:t>
                      </a:r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European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data and evaluate configurations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4 and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69239"/>
            <a:ext cx="8010144" cy="12695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Scope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in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the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evaluation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: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Madrid City Council open data, 2019–2025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providers: AWS and Google Cloud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Unsupervised learning: clustering and correlation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5DE3-8F8E-8977-9101-3583FDCF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09ACDDC-820B-9C2D-CC3D-0F4ACDE4AB83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Estado de la cuestión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D1731F6-D7DE-465C-1A88-7C3DC84FA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Datos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Qué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es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dato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abierto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480075"/>
            <a:ext cx="8270878" cy="243912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1700" b="1" dirty="0">
                <a:solidFill>
                  <a:srgbClr val="1F1F1F"/>
                </a:solidFill>
                <a:latin typeface="Calibri"/>
              </a:rPr>
              <a:t>Portal Europeo de Datos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que cualquier persona o entidad pueda </a:t>
            </a:r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acceder, usar, modificar, combinar y redistribuir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la información libremente para cualquier finalidad</a:t>
            </a:r>
            <a:endParaRPr sz="1600" dirty="0">
              <a:solidFill>
                <a:schemeClr val="tx1">
                  <a:lumMod val="75000"/>
                  <a:lumOff val="25000"/>
                </a:schemeClr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Marco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RGPD (2016)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protección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personales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Ley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Gobernanza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Datos (2022)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reutilización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intercambio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Reglamento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IA (2024)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son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admisibles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bajo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garantías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Datos de alto valor</a:t>
            </a:r>
            <a:r>
              <a:rPr lang="es-ES" sz="1700" b="1" dirty="0">
                <a:solidFill>
                  <a:srgbClr val="1F1F1F"/>
                </a:solidFill>
              </a:rPr>
              <a:t>: </a:t>
            </a:r>
            <a:r>
              <a:rPr lang="es-ES" sz="1400" dirty="0">
                <a:solidFill>
                  <a:srgbClr val="5A5A5A"/>
                </a:solidFill>
              </a:rPr>
              <a:t>Beneficios sociales, medioambientales o económicos significativos e innovadores.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19047402-CDA0-030C-C1B3-ABE4258F16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200907"/>
              </p:ext>
            </p:extLst>
          </p:nvPr>
        </p:nvGraphicFramePr>
        <p:xfrm>
          <a:off x="899592" y="4408491"/>
          <a:ext cx="6768752" cy="14969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6457471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624906023"/>
                    </a:ext>
                  </a:extLst>
                </a:gridCol>
                <a:gridCol w="3168352">
                  <a:extLst>
                    <a:ext uri="{9D8B030D-6E8A-4147-A177-3AD203B41FA5}">
                      <a16:colId xmlns:a16="http://schemas.microsoft.com/office/drawing/2014/main" val="1113711532"/>
                    </a:ext>
                  </a:extLst>
                </a:gridCol>
              </a:tblGrid>
              <a:tr h="303473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de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Año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Aportación al trabajo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014198"/>
                  </a:ext>
                </a:extLst>
              </a:tr>
              <a:tr h="516816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Meneses y García
«Madrid, isla de calor»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2022- 2023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Cinco aproximaciones de agrupamiento</a:t>
                      </a:r>
                    </a:p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(replicado y extendido)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8073256"/>
                  </a:ext>
                </a:extLst>
              </a:tr>
              <a:tr h="648492">
                <a:tc>
                  <a:txBody>
                    <a:bodyPr/>
                    <a:lstStyle/>
                    <a:p>
                      <a:pPr algn="l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Saiz Santos
«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+mn-lt"/>
                        </a:rPr>
                        <a:t>Análisis de datos de la ciudad de Madrid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»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Datos de movilidad
(procesados, no analizados)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259171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9AFFC2BC-3D55-85F6-4F93-AEF4D5430140}"/>
              </a:ext>
            </a:extLst>
          </p:cNvPr>
          <p:cNvSpPr txBox="1"/>
          <p:nvPr/>
        </p:nvSpPr>
        <p:spPr>
          <a:xfrm>
            <a:off x="885943" y="4039159"/>
            <a:ext cx="3816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C00530"/>
                </a:solidFill>
                <a:latin typeface="Calibri"/>
              </a:rPr>
              <a:t>Los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trabajos</a:t>
            </a:r>
            <a:r>
              <a:rPr lang="en-US" sz="16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replicados</a:t>
            </a:r>
            <a:endParaRPr lang="en-US" sz="1600" dirty="0"/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58B007C-0C11-6BD1-9802-220A5C317B7D}"/>
              </a:ext>
            </a:extLst>
          </p:cNvPr>
          <p:cNvCxnSpPr>
            <a:cxnSpLocks/>
          </p:cNvCxnSpPr>
          <p:nvPr/>
        </p:nvCxnSpPr>
        <p:spPr>
          <a:xfrm>
            <a:off x="899592" y="3949190"/>
            <a:ext cx="7586039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Nube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Capas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gratuitas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449947"/>
              </p:ext>
            </p:extLst>
          </p:nvPr>
        </p:nvGraphicFramePr>
        <p:xfrm>
          <a:off x="566928" y="1526746"/>
          <a:ext cx="8010145" cy="2478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60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8849">
                  <a:extLst>
                    <a:ext uri="{9D8B030D-6E8A-4147-A177-3AD203B41FA5}">
                      <a16:colId xmlns:a16="http://schemas.microsoft.com/office/drawing/2014/main" val="2118817019"/>
                    </a:ext>
                  </a:extLst>
                </a:gridCol>
              </a:tblGrid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Proveedor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Oferta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gratuita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¿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Usado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Base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Amazon Web Services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200 $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6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Google Cloud Platform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300 $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90 días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Microsoft Azure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12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Descartado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OVHcloud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200 €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· 1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mes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Europa (Francia)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Kaggle /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Colab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GPU con cuota semanal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Canonical MicroCloud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premise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Propia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387459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7664F1D9-CDEB-19D8-5171-C75B0D5B9498}"/>
              </a:ext>
            </a:extLst>
          </p:cNvPr>
          <p:cNvSpPr txBox="1"/>
          <p:nvPr/>
        </p:nvSpPr>
        <p:spPr>
          <a:xfrm>
            <a:off x="584604" y="4170276"/>
            <a:ext cx="8010143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US" sz="1600" b="1" dirty="0">
                <a:solidFill>
                  <a:srgbClr val="1F1F1F"/>
                </a:solidFill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Se evaluaron alternativas europeas antes de recurrir a las nubes americanas</a:t>
            </a:r>
          </a:p>
          <a:p>
            <a:pPr marL="742950" lvl="1" indent="-285750">
              <a:spcAft>
                <a:spcPts val="900"/>
              </a:spcAft>
              <a:buFontTx/>
              <a:buChar char="-"/>
            </a:pP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OVHcloud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OpenNebula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(plataforma IaaS de código abierto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),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NubeSARA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 y BDTI (Comisión Europea, descontinuada en 2025</a:t>
            </a: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Las capas gratuitas bastan para investigación de tamaño moderado</a:t>
            </a:r>
            <a:endParaRPr lang="es-ES" sz="140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Decisión adoptada: AWS y GCP, configurados para operar en regiones de la UE (eu-west-1 y europe-west1)</a:t>
            </a:r>
          </a:p>
          <a:p>
            <a:pPr>
              <a:spcAft>
                <a:spcPts val="900"/>
              </a:spcAft>
            </a:pPr>
            <a:endParaRPr lang="es-E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· Selección de algoritmos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tecnologías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ML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7391" y="2148109"/>
            <a:ext cx="3096344" cy="31598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AutoML (Vertex AI AutoML, SageMaker Autopilot)</a:t>
            </a: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Automatizan selección de modelo e </a:t>
            </a:r>
            <a:r>
              <a:rPr lang="es-ES" sz="1400" dirty="0" err="1">
                <a:solidFill>
                  <a:srgbClr val="5A5A5A"/>
                </a:solidFill>
              </a:rPr>
              <a:t>hiperparámetros</a:t>
            </a:r>
            <a:r>
              <a:rPr lang="es-ES" sz="140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</a:rPr>
              <a:t>- </a:t>
            </a:r>
            <a:r>
              <a:rPr lang="es-ES" sz="1700" b="1" dirty="0" err="1">
                <a:solidFill>
                  <a:srgbClr val="1F1F1F"/>
                </a:solidFill>
              </a:rPr>
              <a:t>MLOps</a:t>
            </a:r>
            <a:endParaRPr lang="es-ES" sz="1700" b="1" dirty="0">
              <a:solidFill>
                <a:srgbClr val="1F1F1F"/>
              </a:solidFill>
            </a:endParaRP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versionado de código y datos, registro de ejecuciones, </a:t>
            </a:r>
            <a:r>
              <a:rPr lang="es-ES" sz="1400" dirty="0" err="1">
                <a:solidFill>
                  <a:srgbClr val="5A5A5A"/>
                </a:solidFill>
              </a:rPr>
              <a:t>IaC</a:t>
            </a:r>
            <a:r>
              <a:rPr lang="es-ES" sz="1400" dirty="0">
                <a:solidFill>
                  <a:srgbClr val="5A5A5A"/>
                </a:solidFill>
              </a:rPr>
              <a:t>…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LLM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ventanas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actuales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admiten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miles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filas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siempre pueden cometer alucinaciones.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26C89-8A94-8E82-D3ED-98F3634A0ADA}"/>
              </a:ext>
            </a:extLst>
          </p:cNvPr>
          <p:cNvSpPr txBox="1"/>
          <p:nvPr/>
        </p:nvSpPr>
        <p:spPr>
          <a:xfrm>
            <a:off x="467544" y="1405635"/>
            <a:ext cx="37170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Modelos ML – (Machine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learning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)</a:t>
            </a:r>
            <a:endParaRPr lang="es-ES" sz="1700" b="1" dirty="0">
              <a:solidFill>
                <a:srgbClr val="1F1F1F"/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0A8A0D2-3D56-B7A9-99D0-EC2772537289}"/>
              </a:ext>
            </a:extLst>
          </p:cNvPr>
          <p:cNvCxnSpPr/>
          <p:nvPr/>
        </p:nvCxnSpPr>
        <p:spPr>
          <a:xfrm>
            <a:off x="5076056" y="2012597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9">
            <a:extLst>
              <a:ext uri="{FF2B5EF4-FFF2-40B4-BE49-F238E27FC236}">
                <a16:creationId xmlns:a16="http://schemas.microsoft.com/office/drawing/2014/main" id="{D6754C58-53F2-FACB-B9B7-7E881C73ADB0}"/>
              </a:ext>
            </a:extLst>
          </p:cNvPr>
          <p:cNvSpPr txBox="1"/>
          <p:nvPr/>
        </p:nvSpPr>
        <p:spPr>
          <a:xfrm>
            <a:off x="616392" y="1835221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6A6A6A"/>
                </a:solidFill>
                <a:latin typeface="Calibri"/>
              </a:rPr>
              <a:t>PASO 1 · ¿Hay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que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predecir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algo?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A631C3B-7A27-B338-8B56-8FB21C0F784A}"/>
              </a:ext>
            </a:extLst>
          </p:cNvPr>
          <p:cNvSpPr/>
          <p:nvPr/>
        </p:nvSpPr>
        <p:spPr>
          <a:xfrm>
            <a:off x="616392" y="2091253"/>
            <a:ext cx="1874519" cy="347472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1F1F1F"/>
                </a:solidFill>
                <a:latin typeface="Calibri"/>
              </a:rPr>
              <a:t>SÍ </a:t>
            </a:r>
            <a:r>
              <a:rPr lang="es-ES" sz="12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F1F1F"/>
                </a:solidFill>
                <a:latin typeface="Calibri"/>
              </a:rPr>
              <a:t>Supervisado</a:t>
            </a:r>
            <a:endParaRPr sz="12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698069D-A25E-0823-FA9E-ADD1B942EFD3}"/>
              </a:ext>
            </a:extLst>
          </p:cNvPr>
          <p:cNvSpPr/>
          <p:nvPr/>
        </p:nvSpPr>
        <p:spPr>
          <a:xfrm>
            <a:off x="2637216" y="2091253"/>
            <a:ext cx="1874519" cy="347472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No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supervisado</a:t>
            </a:r>
            <a:endParaRPr sz="1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56863296-3A58-2D55-3E01-B43673E17B88}"/>
              </a:ext>
            </a:extLst>
          </p:cNvPr>
          <p:cNvSpPr/>
          <p:nvPr/>
        </p:nvSpPr>
        <p:spPr>
          <a:xfrm>
            <a:off x="1553652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1D1BDC30-4348-6E2C-6490-BA0FAD3FB403}"/>
              </a:ext>
            </a:extLst>
          </p:cNvPr>
          <p:cNvSpPr/>
          <p:nvPr/>
        </p:nvSpPr>
        <p:spPr>
          <a:xfrm>
            <a:off x="3574476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0ABB9686-390B-A270-C0A5-6196ECE7A493}"/>
              </a:ext>
            </a:extLst>
          </p:cNvPr>
          <p:cNvSpPr/>
          <p:nvPr/>
        </p:nvSpPr>
        <p:spPr>
          <a:xfrm>
            <a:off x="616392" y="2566741"/>
            <a:ext cx="1874519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>
                <a:solidFill>
                  <a:srgbClr val="6A6A6A"/>
                </a:solidFill>
                <a:latin typeface="Calibri"/>
              </a:rPr>
              <a:t>Clasificación · Regresión
Series temporales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961E08F9-D27F-910C-09AE-06A709D16698}"/>
              </a:ext>
            </a:extLst>
          </p:cNvPr>
          <p:cNvSpPr/>
          <p:nvPr/>
        </p:nvSpPr>
        <p:spPr>
          <a:xfrm>
            <a:off x="2637216" y="2566741"/>
            <a:ext cx="1874519" cy="493776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 err="1">
                <a:solidFill>
                  <a:schemeClr val="bg1"/>
                </a:solidFill>
                <a:latin typeface="Calibri"/>
              </a:rPr>
              <a:t>Agrupamiento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
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Detección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 de 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anomalías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E9A33DDB-05A5-CA23-B2D6-0FC5D861532D}"/>
              </a:ext>
            </a:extLst>
          </p:cNvPr>
          <p:cNvSpPr txBox="1"/>
          <p:nvPr/>
        </p:nvSpPr>
        <p:spPr>
          <a:xfrm>
            <a:off x="616392" y="3261685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A6A6A"/>
                </a:solidFill>
                <a:latin typeface="Calibri"/>
              </a:rPr>
              <a:t>PASO 2 · ¿Qué complejidad tienen los datos?</a:t>
            </a: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4EE2F852-B7B2-DF30-A7D2-778AAD171D1D}"/>
              </a:ext>
            </a:extLst>
          </p:cNvPr>
          <p:cNvSpPr/>
          <p:nvPr/>
        </p:nvSpPr>
        <p:spPr>
          <a:xfrm>
            <a:off x="616392" y="3517717"/>
            <a:ext cx="3895344" cy="420624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Simples (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estructurados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)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Árboles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· KNN · k-means</a:t>
            </a: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FED24BCC-33B5-DD59-0E28-373BACDA4EF6}"/>
              </a:ext>
            </a:extLst>
          </p:cNvPr>
          <p:cNvSpPr/>
          <p:nvPr/>
        </p:nvSpPr>
        <p:spPr>
          <a:xfrm>
            <a:off x="616392" y="3993205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Intermedios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200" dirty="0">
                <a:solidFill>
                  <a:srgbClr val="1F1F1F"/>
                </a:solidFill>
              </a:rPr>
              <a:t>(mas características)</a:t>
            </a:r>
            <a:r>
              <a:rPr lang="es-ES" sz="1200" dirty="0">
                <a:solidFill>
                  <a:srgbClr val="1F1F1F"/>
                </a:solidFill>
                <a:latin typeface="Calibri"/>
              </a:rPr>
              <a:t>-&gt;</a:t>
            </a:r>
          </a:p>
          <a:p>
            <a:pPr algn="ctr"/>
            <a:r>
              <a:rPr sz="1200" b="0" dirty="0">
                <a:solidFill>
                  <a:srgbClr val="1F1F1F"/>
                </a:solidFill>
                <a:latin typeface="Calibri"/>
              </a:rPr>
              <a:t>Random Forest ·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XGBoost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DBSCAN</a:t>
            </a:r>
          </a:p>
        </p:txBody>
      </p:sp>
      <p:sp>
        <p:nvSpPr>
          <p:cNvPr id="29" name="Rounded Rectangle 19">
            <a:extLst>
              <a:ext uri="{FF2B5EF4-FFF2-40B4-BE49-F238E27FC236}">
                <a16:creationId xmlns:a16="http://schemas.microsoft.com/office/drawing/2014/main" id="{46D59DEE-01BE-5735-4723-A4E8563F1EA7}"/>
              </a:ext>
            </a:extLst>
          </p:cNvPr>
          <p:cNvSpPr/>
          <p:nvPr/>
        </p:nvSpPr>
        <p:spPr>
          <a:xfrm>
            <a:off x="616392" y="4468693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Complejos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texto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/imagen) </a:t>
            </a:r>
            <a:r>
              <a:rPr lang="es-ES" sz="1200" b="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Redes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neuronales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LLM</a:t>
            </a: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5B2BF73A-1615-C5BC-884A-6D86FF0366AB}"/>
              </a:ext>
            </a:extLst>
          </p:cNvPr>
          <p:cNvSpPr txBox="1"/>
          <p:nvPr/>
        </p:nvSpPr>
        <p:spPr>
          <a:xfrm>
            <a:off x="2051720" y="4944181"/>
            <a:ext cx="389534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dirty="0">
                <a:solidFill>
                  <a:srgbClr val="6A6A6A"/>
                </a:solidFill>
                <a:latin typeface="Calibri"/>
              </a:rPr>
              <a:t>En rojo, el camino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seguido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en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este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trabajo</a:t>
            </a:r>
            <a:endParaRPr sz="1100" b="0" dirty="0">
              <a:solidFill>
                <a:srgbClr val="6A6A6A"/>
              </a:solidFill>
              <a:latin typeface="Calibri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EB4FE9CB-3E43-6B09-E92A-530E95FBE289}"/>
              </a:ext>
            </a:extLst>
          </p:cNvPr>
          <p:cNvSpPr txBox="1"/>
          <p:nvPr/>
        </p:nvSpPr>
        <p:spPr>
          <a:xfrm>
            <a:off x="462840" y="542858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latin typeface="Calibri"/>
              </a:rPr>
              <a:t>Selección -&gt; no supervisado + datos estructurados</a:t>
            </a:r>
          </a:p>
          <a:p>
            <a:r>
              <a:rPr lang="es-ES" sz="1400" b="1" dirty="0">
                <a:latin typeface="Calibri"/>
              </a:rPr>
              <a:t>	k-</a:t>
            </a:r>
            <a:r>
              <a:rPr lang="es-ES" sz="1400" b="1" dirty="0" err="1">
                <a:latin typeface="Calibri"/>
              </a:rPr>
              <a:t>means</a:t>
            </a:r>
            <a:r>
              <a:rPr lang="es-ES" sz="1400" b="1" dirty="0">
                <a:latin typeface="Calibri"/>
              </a:rPr>
              <a:t> y agrupamiento de Ward</a:t>
            </a:r>
            <a:endParaRPr lang="es-ES" sz="14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D20-B77C-A8DD-0867-6B30FED9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89672C26-C910-3FBC-1D09-00FDF84A50AD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METODOLOGÍA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834993D-68EE-BCFD-2C7A-0F41BD58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97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Marco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metodológico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Bases en m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arcos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consolidados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arquitectura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medalla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gobernanza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tres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capas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(OECD)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·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buenas prácticas 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de AWS y GCP ·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marco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2834640"/>
            <a:ext cx="8010144" cy="18800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independientes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dominio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y la etapa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1.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Portabilida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d y abstracción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2.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Configuración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declarativ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patrón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fichero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3.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Replicar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antes de extender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4. Ingesta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auditoría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5. Coste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nulo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restricción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diseño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13176"/>
            <a:ext cx="8010144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Aplicados a los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caso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s.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Arquitectura de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5696" y="5085184"/>
            <a:ext cx="6885392" cy="6155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700" dirty="0">
                <a:solidFill>
                  <a:srgbClr val="1F1F1F"/>
                </a:solidFill>
                <a:latin typeface="Calibri"/>
              </a:rPr>
              <a:t>4 ficheros para tratar datos, públicos en </a:t>
            </a:r>
            <a:r>
              <a:rPr lang="es-ES" sz="1700" dirty="0" err="1">
                <a:solidFill>
                  <a:srgbClr val="1F1F1F"/>
                </a:solidFill>
                <a:latin typeface="Calibri"/>
              </a:rPr>
              <a:t>Github</a:t>
            </a:r>
            <a:r>
              <a:rPr lang="es-ES" sz="1700" dirty="0">
                <a:solidFill>
                  <a:srgbClr val="1F1F1F"/>
                </a:solidFill>
                <a:latin typeface="Calibri"/>
              </a:rPr>
              <a:t>, configurados desde un único archivo y con todos los datos y resultados también publicados. </a:t>
            </a:r>
            <a:endParaRPr sz="17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172C16D-A533-EB68-DA75-54FD14ADF9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87" y="1584698"/>
            <a:ext cx="1329941" cy="4337720"/>
          </a:xfrm>
          <a:prstGeom prst="rect">
            <a:avLst/>
          </a:prstGeom>
        </p:spPr>
      </p:pic>
      <p:pic>
        <p:nvPicPr>
          <p:cNvPr id="9" name="Imagen 8" descr="tres capas de arquitectura de medallones ">
            <a:extLst>
              <a:ext uri="{FF2B5EF4-FFF2-40B4-BE49-F238E27FC236}">
                <a16:creationId xmlns:a16="http://schemas.microsoft.com/office/drawing/2014/main" id="{EDD290BF-72A4-4DF2-4A75-2C89A2465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7744" y="1584698"/>
            <a:ext cx="6027397" cy="32844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El pipeline: cuatro ficheros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339348"/>
              </p:ext>
            </p:extLst>
          </p:nvPr>
        </p:nvGraphicFramePr>
        <p:xfrm>
          <a:off x="566928" y="1668780"/>
          <a:ext cx="8010144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3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Fichero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config.py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Parametrización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01_descarga.py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Ingesta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vía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API CKAN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Capa bronce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02_limpieza.py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Normalización y 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Capa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plata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03_analisis_isla_calor.py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 y modelado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53775"/>
            <a:ext cx="8010144" cy="20774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dirty="0">
                <a:solidFill>
                  <a:srgbClr val="1F1F1F"/>
                </a:solidFill>
              </a:rPr>
              <a:t>Incorporar una fuente nueva que encaje solo implica añadir una entrada más.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700" dirty="0">
                <a:solidFill>
                  <a:srgbClr val="1F1F1F"/>
                </a:solidFill>
              </a:rPr>
              <a:t>Los siete conjuntos se reducen a </a:t>
            </a:r>
            <a:r>
              <a:rPr lang="es-ES" sz="1700" b="1" dirty="0">
                <a:solidFill>
                  <a:srgbClr val="1F1F1F"/>
                </a:solidFill>
              </a:rPr>
              <a:t>cuatro patrones </a:t>
            </a:r>
            <a:r>
              <a:rPr lang="es-ES" sz="1700" dirty="0">
                <a:solidFill>
                  <a:srgbClr val="1F1F1F"/>
                </a:solidFill>
              </a:rPr>
              <a:t>de limpieza, declarados en `config.py`: </a:t>
            </a:r>
          </a:p>
          <a:p>
            <a:pPr lvl="1">
              <a:spcAft>
                <a:spcPts val="1000"/>
              </a:spcAft>
            </a:pPr>
            <a:r>
              <a:rPr lang="en-US" sz="1700" dirty="0">
                <a:solidFill>
                  <a:srgbClr val="1F1F1F"/>
                </a:solidFill>
              </a:rPr>
              <a:t>-</a:t>
            </a:r>
            <a:r>
              <a:rPr lang="en-US" dirty="0"/>
              <a:t>series </a:t>
            </a:r>
            <a:r>
              <a:rPr lang="en-US" dirty="0" err="1"/>
              <a:t>mensuales</a:t>
            </a:r>
            <a:r>
              <a:rPr lang="en-US" dirty="0"/>
              <a:t> con columnas de </a:t>
            </a:r>
            <a:r>
              <a:rPr lang="en-US" dirty="0" err="1"/>
              <a:t>validación</a:t>
            </a:r>
            <a:r>
              <a:rPr lang="en-US" dirty="0"/>
              <a:t>, </a:t>
            </a:r>
            <a:r>
              <a:rPr lang="en-US" dirty="0" err="1"/>
              <a:t>aforos</a:t>
            </a:r>
            <a:r>
              <a:rPr lang="en-US" dirty="0"/>
              <a:t> </a:t>
            </a:r>
            <a:r>
              <a:rPr lang="en-US" dirty="0" err="1"/>
              <a:t>horarios</a:t>
            </a:r>
            <a:r>
              <a:rPr lang="en-US" dirty="0"/>
              <a:t>, </a:t>
            </a:r>
            <a:r>
              <a:rPr lang="en-US" dirty="0" err="1"/>
              <a:t>tablas</a:t>
            </a:r>
            <a:r>
              <a:rPr lang="en-US" dirty="0"/>
              <a:t> </a:t>
            </a:r>
            <a:r>
              <a:rPr lang="en-US" dirty="0" err="1"/>
              <a:t>anuales</a:t>
            </a:r>
            <a:r>
              <a:rPr lang="en-US" dirty="0"/>
              <a:t> y </a:t>
            </a:r>
            <a:r>
              <a:rPr lang="en-US" dirty="0" err="1"/>
              <a:t>ficheros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únicos</a:t>
            </a:r>
            <a:endParaRPr lang="es-ES" sz="1700" dirty="0">
              <a:solidFill>
                <a:srgbClr val="1F1F1F"/>
              </a:solidFill>
            </a:endParaRPr>
          </a:p>
          <a:p>
            <a:pPr>
              <a:spcAft>
                <a:spcPts val="1000"/>
              </a:spcAft>
            </a:pPr>
            <a:r>
              <a:rPr lang="es-ES" sz="1700" b="0" dirty="0">
                <a:solidFill>
                  <a:srgbClr val="1F1F1F"/>
                </a:solidFill>
                <a:latin typeface="Calibri"/>
              </a:rPr>
              <a:t>• El proceso es idempotente y registra metadatos con la procedencia, licencia y fecha de cada fichero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 · Los conjuntos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30618"/>
              </p:ext>
            </p:extLst>
          </p:nvPr>
        </p:nvGraphicFramePr>
        <p:xfrm>
          <a:off x="566928" y="1544895"/>
          <a:ext cx="8010144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Calidad del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aire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diario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Meteorología (diario)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Masas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Aforos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peatones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bicicletas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Estaciones de control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Georreferencia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Distritos (shapefile)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Cartografía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75" y="4313397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Portal de Datos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Abiertos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Ayuntamiento de Madrid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CC BY 4.0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272 MB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bronce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</a:t>
            </a:r>
            <a:r>
              <a:rPr lang="es-ES" sz="1600" b="0" dirty="0">
                <a:solidFill>
                  <a:srgbClr val="1F1F1F"/>
                </a:solidFill>
                <a:latin typeface="Calibri"/>
                <a:hlinkClick r:id="rId4"/>
              </a:rPr>
              <a:t>https://datos.madrid.es/portal/site/egob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2EED9E0-1AD6-2714-184E-9A17BC44B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6" y="5152074"/>
            <a:ext cx="6444208" cy="1157286"/>
          </a:xfrm>
          <a:prstGeom prst="rect">
            <a:avLst/>
          </a:prstGeom>
          <a:effectLst>
            <a:softEdge rad="25400"/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II · Aproximaciones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33547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“Madrid, isla de calor”:</a:t>
            </a: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replicadas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original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Las siete magnitudes · Temp.+humedad · Temp.+arbolado · NO₂ · NO₂+partículas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Dos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altitud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estación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superficie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arbórea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relativa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área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distrito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Criterio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- C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obertura mínima: 300 días válidos por estación y año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Inclusión de distritos sin arbolado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Validación con el coeficiente de silueta (a parte de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l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método del codo)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37F6-CC52-F1EC-3741-B1E2D5D8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BB90052F-3022-1682-A679-DB88517A734A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Datos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FF18B798-167F-1997-2A9D-C71CCFDE3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22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Lo que aparece al automatizar siete años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384195"/>
              </p:ext>
            </p:extLst>
          </p:nvPr>
        </p:nvGraphicFramePr>
        <p:xfrm>
          <a:off x="566928" y="1783080"/>
          <a:ext cx="8010144" cy="2950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776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Manifestación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¿Documentado?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Nomenclatura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nombres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diferentes 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para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el mismo campo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Unidades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2019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m²,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2020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 y ha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Formato numérico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Separador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millar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(español)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Semántica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forestal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-&gt;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escritos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distinto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un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mismo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fichero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Hueco de 14 meses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en aforos*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;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diciembre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2024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ausente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Estaciones sin todos los sensores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En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comentarios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72" y="1794462"/>
            <a:ext cx="3672408" cy="386772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caída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2021-2022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afecta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principalmente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a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subred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municipal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códigos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&gt; 100)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Coincide con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hueco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14 meses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aforos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de peatones (</a:t>
            </a:r>
            <a:r>
              <a:rPr lang="en-US" sz="1600" dirty="0" err="1"/>
              <a:t>julio</a:t>
            </a:r>
            <a:r>
              <a:rPr lang="en-US" sz="1600" dirty="0"/>
              <a:t> 2021 a </a:t>
            </a:r>
            <a:r>
              <a:rPr lang="en-US" sz="1600" dirty="0" err="1"/>
              <a:t>agosto</a:t>
            </a:r>
            <a:r>
              <a:rPr lang="en-US" sz="1600" dirty="0"/>
              <a:t> 2022)</a:t>
            </a: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Diciembre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falta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toda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re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d</a:t>
            </a:r>
          </a:p>
          <a:p>
            <a:pPr>
              <a:spcAft>
                <a:spcPts val="800"/>
              </a:spcAft>
            </a:pPr>
            <a:endParaRPr lang="es-ES" sz="8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</a:t>
            </a:r>
            <a:r>
              <a:rPr lang="en-US" sz="1600" dirty="0" err="1">
                <a:solidFill>
                  <a:srgbClr val="1F1F1F"/>
                </a:solidFill>
              </a:rPr>
              <a:t>Estaciones</a:t>
            </a:r>
            <a:r>
              <a:rPr lang="en-US" sz="1600" dirty="0">
                <a:solidFill>
                  <a:srgbClr val="1F1F1F"/>
                </a:solidFill>
              </a:rPr>
              <a:t> 16 y 39 </a:t>
            </a:r>
            <a:r>
              <a:rPr lang="en-US" sz="1600" dirty="0" err="1">
                <a:solidFill>
                  <a:srgbClr val="1F1F1F"/>
                </a:solidFill>
              </a:rPr>
              <a:t>comenzaron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2022</a:t>
            </a:r>
          </a:p>
          <a:p>
            <a:pPr>
              <a:spcAft>
                <a:spcPts val="800"/>
              </a:spcAft>
            </a:pPr>
            <a:endParaRPr lang="en-US" sz="800" dirty="0">
              <a:solidFill>
                <a:srgbClr val="1F1F1F"/>
              </a:solidFill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La 104 </a:t>
            </a:r>
            <a:r>
              <a:rPr lang="en-US" sz="1600" dirty="0" err="1">
                <a:solidFill>
                  <a:srgbClr val="1F1F1F"/>
                </a:solidFill>
              </a:rPr>
              <a:t>mide</a:t>
            </a:r>
            <a:r>
              <a:rPr lang="en-US" sz="1600" dirty="0">
                <a:solidFill>
                  <a:srgbClr val="1F1F1F"/>
                </a:solidFill>
              </a:rPr>
              <a:t> temperature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2019 sin sensor.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915680A-D794-19C8-B3E4-939E53608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91" y="783361"/>
            <a:ext cx="4629869" cy="5291278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99FBAF6-25AC-D6CB-87B6-CE520B5F9F88}"/>
              </a:ext>
            </a:extLst>
          </p:cNvPr>
          <p:cNvSpPr txBox="1"/>
          <p:nvPr/>
        </p:nvSpPr>
        <p:spPr>
          <a:xfrm>
            <a:off x="5364088" y="766761"/>
            <a:ext cx="321298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degradación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 de la red de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sensores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779A-5BA3-8514-B348-178FE26BD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00167D2E-5E39-E59E-7E11-03487B04BC9C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Aprendizaje automático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CE633C0C-0B86-2ED9-7587-C030A1943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9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Replicar antes de extender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748415"/>
              </p:ext>
            </p:extLst>
          </p:nvPr>
        </p:nvGraphicFramePr>
        <p:xfrm>
          <a:off x="566928" y="2314255"/>
          <a:ext cx="8010144" cy="27709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Estaciones comunes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Acuerdo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1.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Las s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iete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magnitudes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 Temperatura y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3. Temperatura y arbolado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4. NO₂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 NO₂ y partículas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F1F1F"/>
                          </a:solidFill>
                          <a:latin typeface="Calibri"/>
                        </a:rPr>
                        <a:t>86 % (404/468)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3536" y="1601021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Para poder comparar adecuadamente, se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replicó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en Python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el trabajo original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(en R)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antes de aplicar las metodologías propias.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EB9BB8-515B-F146-D903-A235E3C47324}"/>
              </a:ext>
            </a:extLst>
          </p:cNvPr>
          <p:cNvSpPr txBox="1"/>
          <p:nvPr/>
        </p:nvSpPr>
        <p:spPr>
          <a:xfrm>
            <a:off x="755576" y="5430261"/>
            <a:ext cx="6984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*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El acuerdo se calcula sobre el total de pares posibles entre las estaciones comunes. Para cada par se comprueba si ambos trabajos coinciden en agruparlas juntas o en grupos distintos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688539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De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año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siete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relación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se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sostiene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825" y="1619954"/>
            <a:ext cx="2564912" cy="34573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media de −0,37,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sostenida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siete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rango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−0,26 a −0,47)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original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observó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único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y de forma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cualitativa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es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particularidad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periodo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es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patrón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sostenido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intensidad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moderada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79FF1F-C04B-DA55-4A13-28692236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949" y="2492896"/>
            <a:ext cx="5708001" cy="326171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DCA303E-180A-28DA-0E64-5A14B2431E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4034" y="879300"/>
            <a:ext cx="1296144" cy="1481309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649DE35-FCC4-004C-816C-919EA71F53E6}"/>
              </a:ext>
            </a:extLst>
          </p:cNvPr>
          <p:cNvSpPr txBox="1"/>
          <p:nvPr/>
        </p:nvSpPr>
        <p:spPr>
          <a:xfrm>
            <a:off x="3942950" y="215434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oeficiente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orrelación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earson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Calidad de los agrupamientos y robustez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716496"/>
              </p:ext>
            </p:extLst>
          </p:nvPr>
        </p:nvGraphicFramePr>
        <p:xfrm>
          <a:off x="566928" y="1484784"/>
          <a:ext cx="7821496" cy="297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1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Silueta media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superficie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relativa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0,521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arbolado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humedad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altitud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partículas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0,317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Siete magnitudes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meteorológicas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0,146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4537528"/>
            <a:ext cx="7639760" cy="151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dirty="0">
                <a:solidFill>
                  <a:srgbClr val="1F1F1F"/>
                </a:solidFill>
                <a:latin typeface="Calibri"/>
              </a:rPr>
              <a:t>• Más variables </a:t>
            </a:r>
            <a:r>
              <a:rPr lang="es-ES" sz="150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peores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grupos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. Al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subir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dimensionalidad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las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distancias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igualan</a:t>
            </a:r>
            <a:r>
              <a:rPr sz="1500" dirty="0">
                <a:solidFill>
                  <a:srgbClr val="1F1F1F"/>
                </a:solidFill>
                <a:latin typeface="Calibri"/>
              </a:rPr>
              <a:t>, y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exigir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todos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sensores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reduce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muestra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de 24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estaciones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a 5 o 7</a:t>
            </a:r>
            <a:endParaRPr lang="es-ES"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endParaRPr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k-means y Ward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coinciden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4 de 5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 originales (</a:t>
            </a:r>
            <a:r>
              <a:rPr lang="es-ES" sz="1500" b="1" dirty="0">
                <a:solidFill>
                  <a:srgbClr val="1F1F1F"/>
                </a:solidFill>
              </a:rPr>
              <a:t>96,6% total (797 de 825 pares))</a:t>
            </a:r>
          </a:p>
          <a:p>
            <a:pPr lvl="1">
              <a:spcAft>
                <a:spcPts val="700"/>
              </a:spcAft>
            </a:pPr>
            <a:r>
              <a:rPr lang="es-ES" sz="15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estructura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, no en el algoritmo.</a:t>
            </a:r>
            <a:endParaRPr sz="15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Variables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externas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altitud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superficie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relativa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7944" y="1704415"/>
            <a:ext cx="4320480" cy="1926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Altitud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marL="628650" lvl="1" indent="-171450">
              <a:spcAft>
                <a:spcPts val="700"/>
              </a:spcAft>
              <a:buFontTx/>
              <a:buChar char="-"/>
            </a:pPr>
            <a:r>
              <a:rPr sz="1200" b="0" dirty="0" err="1">
                <a:solidFill>
                  <a:srgbClr val="5A5A5A"/>
                </a:solidFill>
                <a:latin typeface="Calibri"/>
              </a:rPr>
              <a:t>Correlaciones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muy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débiles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y de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signo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cambiante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: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dentro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término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municipal no es un factor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determinante</a:t>
            </a:r>
            <a:endParaRPr lang="es-ES"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endParaRPr sz="12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Superficie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relativa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La correlación lineal se debilita</a:t>
            </a:r>
            <a:endParaRPr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pero separa mejor los grupos: silueta 0,521 frente a 0,500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6096" y="4581128"/>
            <a:ext cx="2837539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Los resultados, para todos los años, se encuentran en el repositorio público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9F69406-B5AD-D536-793F-5324C02B6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445" y="1645920"/>
            <a:ext cx="3157419" cy="252593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80E28B5-C37E-FFC9-ADCF-0F9A17C286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536" y="4311853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4F27-25B0-FFF6-B61C-9E71C2E8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E29C2C4-7969-488D-7F7A-C8F28A2665D5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Nube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333D29BE-E8A6-EF3D-697F-88B8D696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8282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 err="1">
                <a:solidFill>
                  <a:srgbClr val="C00530"/>
                </a:solidFill>
                <a:latin typeface="Calibri"/>
              </a:rPr>
              <a:t>Reproducibilidad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,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coste</a:t>
            </a:r>
            <a:r>
              <a:rPr lang="es-ES" sz="2500" b="1" dirty="0">
                <a:solidFill>
                  <a:srgbClr val="C00530"/>
                </a:solidFill>
              </a:rPr>
              <a:t> y esfuerzo por etapa y entorno</a:t>
            </a:r>
          </a:p>
          <a:p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68144" y="1784140"/>
            <a:ext cx="2952328" cy="13029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b="1" dirty="0" err="1">
                <a:solidFill>
                  <a:srgbClr val="C00530"/>
                </a:solidFill>
                <a:latin typeface="Calibri"/>
              </a:rPr>
              <a:t>Resultados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idénticos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en</a:t>
            </a:r>
            <a:r>
              <a:rPr b="1" dirty="0">
                <a:solidFill>
                  <a:srgbClr val="C00530"/>
                </a:solidFill>
                <a:latin typeface="Calibri"/>
              </a:rPr>
              <a:t> local, AWS y GCP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b="1" dirty="0">
                <a:solidFill>
                  <a:srgbClr val="C00530"/>
                </a:solidFill>
                <a:latin typeface="Calibri"/>
              </a:rPr>
              <a:t>Coste bruto 0,93 $ · 15,16 $   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-&gt;</a:t>
            </a:r>
            <a:r>
              <a:rPr b="1" dirty="0">
                <a:solidFill>
                  <a:srgbClr val="C00530"/>
                </a:solidFill>
                <a:latin typeface="Calibri"/>
              </a:rPr>
              <a:t>   coste neto 0 $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806603"/>
              </p:ext>
            </p:extLst>
          </p:nvPr>
        </p:nvGraphicFramePr>
        <p:xfrm>
          <a:off x="504335" y="1678334"/>
          <a:ext cx="5120410" cy="15145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2907">
                <a:tc>
                  <a:txBody>
                    <a:bodyPr/>
                    <a:lstStyle/>
                    <a:p>
                      <a:pPr algn="l"/>
                      <a:r>
                        <a:rPr lang="es-E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Apartado en la nube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AWS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GCP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Almacenamiento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0,021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0,000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ETL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0,046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interactivo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0,811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14,848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Infraestructura y otros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0,083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0,265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989B0A7-DF22-15A0-DE0C-371E70320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043386"/>
              </p:ext>
            </p:extLst>
          </p:nvPr>
        </p:nvGraphicFramePr>
        <p:xfrm>
          <a:off x="504335" y="3650441"/>
          <a:ext cx="4355698" cy="1794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786">
                  <a:extLst>
                    <a:ext uri="{9D8B030D-6E8A-4147-A177-3AD203B41FA5}">
                      <a16:colId xmlns:a16="http://schemas.microsoft.com/office/drawing/2014/main" val="1909150866"/>
                    </a:ext>
                  </a:extLst>
                </a:gridCol>
                <a:gridCol w="1037954">
                  <a:extLst>
                    <a:ext uri="{9D8B030D-6E8A-4147-A177-3AD203B41FA5}">
                      <a16:colId xmlns:a16="http://schemas.microsoft.com/office/drawing/2014/main" val="4199601216"/>
                    </a:ext>
                  </a:extLst>
                </a:gridCol>
                <a:gridCol w="843338">
                  <a:extLst>
                    <a:ext uri="{9D8B030D-6E8A-4147-A177-3AD203B41FA5}">
                      <a16:colId xmlns:a16="http://schemas.microsoft.com/office/drawing/2014/main" val="2333872961"/>
                    </a:ext>
                  </a:extLst>
                </a:gridCol>
                <a:gridCol w="950620">
                  <a:extLst>
                    <a:ext uri="{9D8B030D-6E8A-4147-A177-3AD203B41FA5}">
                      <a16:colId xmlns:a16="http://schemas.microsoft.com/office/drawing/2014/main" val="2111500480"/>
                    </a:ext>
                  </a:extLst>
                </a:gridCol>
              </a:tblGrid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GCP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66361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Configuración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41517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Ingesta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920285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6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1517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30179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70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21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Calibri"/>
                        </a:rPr>
                        <a:t>18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654600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23CC5798-8A1B-F0B7-C4EA-BD6C268FC3D0}"/>
              </a:ext>
            </a:extLst>
          </p:cNvPr>
          <p:cNvSpPr txBox="1"/>
          <p:nvPr/>
        </p:nvSpPr>
        <p:spPr>
          <a:xfrm>
            <a:off x="5245271" y="3534808"/>
            <a:ext cx="3240360" cy="2685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Mide la curva de aprendizaje acumulada de las plataformas.</a:t>
            </a:r>
          </a:p>
          <a:p>
            <a:pPr>
              <a:spcAft>
                <a:spcPts val="900"/>
              </a:spcAft>
            </a:pPr>
            <a:r>
              <a:rPr lang="es-ES"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400" b="0" dirty="0">
                <a:solidFill>
                  <a:srgbClr val="1F1F1F"/>
                </a:solidFill>
                <a:latin typeface="Calibri"/>
              </a:rPr>
              <a:t>El entorno local fue el primero y absorbió el trabajo de comprensión de las fuentes</a:t>
            </a:r>
          </a:p>
          <a:p>
            <a:pPr>
              <a:spcAft>
                <a:spcPts val="900"/>
              </a:spcAft>
            </a:pPr>
            <a:r>
              <a:rPr lang="es-ES" sz="1400" b="0" dirty="0">
                <a:solidFill>
                  <a:srgbClr val="1F1F1F"/>
                </a:solidFill>
                <a:latin typeface="Calibri"/>
              </a:rPr>
              <a:t>• El manual de usuario del capítulo 5 recoge el procedimiento completo, reproducible en los tres entornos</a:t>
            </a:r>
          </a:p>
          <a:p>
            <a:pPr>
              <a:spcAft>
                <a:spcPts val="900"/>
              </a:spcAft>
            </a:pPr>
            <a:r>
              <a:rPr lang="es-ES" sz="1400" dirty="0">
                <a:solidFill>
                  <a:srgbClr val="1F1F1F"/>
                </a:solidFill>
              </a:rPr>
              <a:t>• El tiempo de ejecución fue similar en todos los entornos.</a:t>
            </a:r>
            <a:endParaRPr lang="en-US" sz="1400" dirty="0"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072C9DC4-8FFD-D885-8BD9-BEE6AE698156}"/>
              </a:ext>
            </a:extLst>
          </p:cNvPr>
          <p:cNvCxnSpPr/>
          <p:nvPr/>
        </p:nvCxnSpPr>
        <p:spPr>
          <a:xfrm>
            <a:off x="504335" y="3429000"/>
            <a:ext cx="7812081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CEDE5-05EA-5DB1-AFC9-2A03D4F7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EC09B3B8-AE62-EB4F-66DC-0764AA395750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/>
              <a:t>Conclusions</a:t>
            </a:r>
            <a:r>
              <a:rPr lang="es-ES" sz="3200" b="1" dirty="0"/>
              <a:t> and future </a:t>
            </a:r>
            <a:r>
              <a:rPr lang="es-ES" sz="3200" b="1" dirty="0" err="1"/>
              <a:t>work</a:t>
            </a:r>
            <a:endParaRPr lang="es-ES" sz="3200" b="1" dirty="0"/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A8AC93E5-DE6B-D825-4DE6-12570F08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648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19125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Conclusions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B571B82-640A-0ABD-A664-EB273E6BF52D}"/>
              </a:ext>
            </a:extLst>
          </p:cNvPr>
          <p:cNvCxnSpPr/>
          <p:nvPr/>
        </p:nvCxnSpPr>
        <p:spPr>
          <a:xfrm>
            <a:off x="5940152" y="1750330"/>
            <a:ext cx="0" cy="360040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419568F-5403-2BAF-EEFA-19CEBD742A1A}"/>
              </a:ext>
            </a:extLst>
          </p:cNvPr>
          <p:cNvSpPr txBox="1"/>
          <p:nvPr/>
        </p:nvSpPr>
        <p:spPr>
          <a:xfrm>
            <a:off x="284800" y="1451168"/>
            <a:ext cx="5570435" cy="467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Technological landscape </a:t>
            </a:r>
            <a:r>
              <a:rPr lang="en-US" b="1" dirty="0" err="1"/>
              <a:t>analysed</a:t>
            </a:r>
            <a:endParaRPr lang="en-US" b="1" dirty="0"/>
          </a:p>
          <a:p>
            <a:r>
              <a:rPr lang="en-US" sz="1600" dirty="0"/>
              <a:t>Identified the gap between published open data and machine-reusable data. </a:t>
            </a:r>
          </a:p>
          <a:p>
            <a:endParaRPr lang="en-US" sz="1000" dirty="0"/>
          </a:p>
          <a:p>
            <a:r>
              <a:rPr lang="en-US" b="1" dirty="0"/>
              <a:t>2. Replicable methodology developed</a:t>
            </a:r>
          </a:p>
          <a:p>
            <a:r>
              <a:rPr lang="en-US" sz="1600" dirty="0"/>
              <a:t>Five domain-independent principles with code portability.</a:t>
            </a:r>
          </a:p>
          <a:p>
            <a:r>
              <a:rPr lang="en-US" sz="1600" dirty="0"/>
              <a:t>Moreover, undocumented schema changes and sensor gaps were uncovered , using automation as an audit</a:t>
            </a:r>
          </a:p>
          <a:p>
            <a:pPr lvl="1"/>
            <a:r>
              <a:rPr lang="en-US" dirty="0"/>
              <a:t> </a:t>
            </a:r>
            <a:r>
              <a:rPr lang="en-US" sz="1400" i="1" dirty="0"/>
              <a:t>-&gt;For the publishing body: a diagnosis of the quality and continuity of its datasets.</a:t>
            </a:r>
          </a:p>
          <a:p>
            <a:endParaRPr lang="en-US" sz="1000" dirty="0"/>
          </a:p>
          <a:p>
            <a:r>
              <a:rPr lang="en-US" b="1" dirty="0"/>
              <a:t>3. Applied to real data (1 year extended to 7)</a:t>
            </a:r>
          </a:p>
          <a:p>
            <a:r>
              <a:rPr lang="en-US" sz="1600" dirty="0"/>
              <a:t>Verified sustained heat-island correlation (𝑟=−0.37) and model robustness. </a:t>
            </a:r>
          </a:p>
          <a:p>
            <a:r>
              <a:rPr lang="en-US" sz="1600" dirty="0"/>
              <a:t>Identical results across Local, AWS and GCP at zero net cost. </a:t>
            </a:r>
          </a:p>
          <a:p>
            <a:pPr lvl="1"/>
            <a:r>
              <a:rPr lang="en-US" sz="1400" dirty="0"/>
              <a:t> </a:t>
            </a:r>
            <a:r>
              <a:rPr lang="en-US" sz="1400" i="1" dirty="0"/>
              <a:t>-&gt; For researchers: a reproducible, portable pipeline with public code and results</a:t>
            </a:r>
          </a:p>
          <a:p>
            <a:pPr lvl="1"/>
            <a:r>
              <a:rPr lang="en-US" sz="1400" i="1" dirty="0"/>
              <a:t>-&gt; For future work: a validated methodology, and the evidence that it works.</a:t>
            </a:r>
            <a:endParaRPr lang="en-US" sz="1400" dirty="0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F457F96-8822-F386-985D-FA475B7D5EEB}"/>
              </a:ext>
            </a:extLst>
          </p:cNvPr>
          <p:cNvSpPr txBox="1"/>
          <p:nvPr/>
        </p:nvSpPr>
        <p:spPr>
          <a:xfrm>
            <a:off x="6109987" y="2350202"/>
            <a:ext cx="2736304" cy="24006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and AI democratize research at zero cost, but public data quality remains as a real barrier</a:t>
            </a:r>
            <a:endParaRPr lang="en-US" sz="25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8010144" cy="420115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Limitations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Series not homogeneous: definition changes and network degradation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Mobility analysis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processed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but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left out of scope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Two cloud providers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and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limited set of algorithms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Future work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Address the limitations: mobility study, more sources, more providers, more models.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Massive datasets from other sources, to test scalability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Imputation and synthetic data for low-coverage years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Feedback loop with the administration, for social impact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Full serverless deployment with an interactive dashboard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AutoML on cloud platforms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LLMs for dataset documentation and cluster interpretation</a:t>
            </a:r>
          </a:p>
          <a:p>
            <a:pPr lvl="1">
              <a:spcAft>
                <a:spcPts val="600"/>
              </a:spcAft>
            </a:pPr>
            <a:endParaRPr lang="en-U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Muchas Gracias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3186626"/>
            <a:ext cx="8010144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 dirty="0">
                <a:solidFill>
                  <a:srgbClr val="C00530"/>
                </a:solidFill>
                <a:latin typeface="Calibri"/>
              </a:rPr>
              <a:t>¿</a:t>
            </a:r>
            <a:r>
              <a:rPr sz="3200" b="1" dirty="0" err="1">
                <a:solidFill>
                  <a:srgbClr val="C00530"/>
                </a:solidFill>
                <a:latin typeface="Calibri"/>
              </a:rPr>
              <a:t>Preguntas</a:t>
            </a:r>
            <a:r>
              <a:rPr sz="3200" b="1" dirty="0">
                <a:solidFill>
                  <a:srgbClr val="C00530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855" y="5873457"/>
            <a:ext cx="8010144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500" b="0" dirty="0">
                <a:solidFill>
                  <a:srgbClr val="1F1F1F"/>
                </a:solidFill>
                <a:latin typeface="Calibri"/>
                <a:hlinkClick r:id="rId4"/>
              </a:rPr>
              <a:t>https://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github.com/crismo04/TFM-cloud-</a:t>
            </a:r>
            <a:r>
              <a:rPr sz="1500" b="0" dirty="0" err="1">
                <a:solidFill>
                  <a:srgbClr val="1F1F1F"/>
                </a:solidFill>
                <a:latin typeface="Calibri"/>
                <a:hlinkClick r:id="rId4"/>
              </a:rPr>
              <a:t>soliutions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-to-public-data</a:t>
            </a:r>
            <a:r>
              <a:rPr lang="es-ES" sz="1500" b="0" dirty="0">
                <a:solidFill>
                  <a:srgbClr val="1F1F1F"/>
                </a:solidFill>
                <a:latin typeface="Calibri"/>
              </a:rPr>
              <a:t>  </a:t>
            </a:r>
            <a:endParaRPr sz="15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FE39-CBCE-E478-C0D2-582DCCB4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>
            <a:extLst>
              <a:ext uri="{FF2B5EF4-FFF2-40B4-BE49-F238E27FC236}">
                <a16:creationId xmlns:a16="http://schemas.microsoft.com/office/drawing/2014/main" id="{4438E486-0F43-5A11-C543-15A902092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DD3FA-B6E0-21C0-DA35-2A6AE04BD4EA}"/>
              </a:ext>
            </a:extLst>
          </p:cNvPr>
          <p:cNvSpPr txBox="1"/>
          <p:nvPr/>
        </p:nvSpPr>
        <p:spPr>
          <a:xfrm>
            <a:off x="566928" y="764704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Fe de erratas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A97F7-049C-38E0-479C-4CFBFDB0312A}"/>
              </a:ext>
            </a:extLst>
          </p:cNvPr>
          <p:cNvSpPr txBox="1"/>
          <p:nvPr/>
        </p:nvSpPr>
        <p:spPr>
          <a:xfrm>
            <a:off x="630431" y="1414174"/>
            <a:ext cx="7946641" cy="48320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* La url del github tiene un typo (</a:t>
            </a:r>
            <a:r>
              <a:rPr lang="en-US" sz="1400" dirty="0">
                <a:hlinkClick r:id="rId4"/>
              </a:rPr>
              <a:t>https://github.com/crismo04/TFM-cloud-soliutions-to-public-data/</a:t>
            </a:r>
            <a:r>
              <a:rPr lang="en-US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todo</a:t>
            </a:r>
            <a:r>
              <a:rPr lang="en-US" sz="1400" dirty="0"/>
              <a:t> a python o python3 (vertex </a:t>
            </a:r>
            <a:r>
              <a:rPr lang="en-US" sz="1400" dirty="0" err="1"/>
              <a:t>usa</a:t>
            </a:r>
            <a:r>
              <a:rPr lang="en-US" sz="1400" dirty="0"/>
              <a:t> python3)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Los enlaces clickables de la </a:t>
            </a:r>
            <a:r>
              <a:rPr lang="en-US" sz="1400" dirty="0" err="1"/>
              <a:t>introducción</a:t>
            </a:r>
            <a:r>
              <a:rPr lang="en-US" sz="1400" dirty="0"/>
              <a:t>,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cursiva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Cambio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algunos</a:t>
            </a:r>
            <a:r>
              <a:rPr lang="en-US" sz="1400" dirty="0"/>
              <a:t> </a:t>
            </a:r>
            <a:r>
              <a:rPr lang="en-US" sz="1400" dirty="0" err="1"/>
              <a:t>títulos</a:t>
            </a:r>
            <a:r>
              <a:rPr lang="en-US" sz="1400" dirty="0"/>
              <a:t> de </a:t>
            </a:r>
            <a:r>
              <a:rPr lang="en-US" sz="1400" dirty="0" err="1"/>
              <a:t>sección</a:t>
            </a:r>
            <a:r>
              <a:rPr lang="en-US" sz="1400" dirty="0"/>
              <a:t> para </a:t>
            </a:r>
            <a:r>
              <a:rPr lang="en-US" sz="1400" dirty="0" err="1"/>
              <a:t>evitar</a:t>
            </a:r>
            <a:r>
              <a:rPr lang="en-US" sz="1400" dirty="0"/>
              <a:t> </a:t>
            </a:r>
            <a:r>
              <a:rPr lang="en-US" sz="1400" dirty="0" err="1"/>
              <a:t>repetición</a:t>
            </a:r>
            <a:r>
              <a:rPr lang="en-US" sz="1400" dirty="0"/>
              <a:t>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redirige</a:t>
            </a:r>
            <a:r>
              <a:rPr lang="en-US" sz="1400" dirty="0"/>
              <a:t> a la </a:t>
            </a:r>
            <a:r>
              <a:rPr lang="en-US" sz="1400" dirty="0" err="1"/>
              <a:t>definición</a:t>
            </a:r>
            <a:r>
              <a:rPr lang="en-US" sz="1400" dirty="0"/>
              <a:t> de </a:t>
            </a:r>
            <a:r>
              <a:rPr lang="en-US" sz="1400" dirty="0" err="1"/>
              <a:t>arquitectura</a:t>
            </a:r>
            <a:r>
              <a:rPr lang="en-US" sz="1400" dirty="0"/>
              <a:t> de </a:t>
            </a:r>
            <a:r>
              <a:rPr lang="en-US" sz="1400" dirty="0" err="1"/>
              <a:t>medalla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</a:t>
            </a:r>
            <a:r>
              <a:rPr lang="en-US" sz="1400" dirty="0" err="1"/>
              <a:t>capítulo</a:t>
            </a:r>
            <a:r>
              <a:rPr lang="en-US" sz="1400" dirty="0"/>
              <a:t> de </a:t>
            </a:r>
            <a:r>
              <a:rPr lang="en-US" sz="1400" dirty="0" err="1"/>
              <a:t>estado</a:t>
            </a:r>
            <a:r>
              <a:rPr lang="en-US" sz="1400" dirty="0"/>
              <a:t> de la </a:t>
            </a:r>
            <a:r>
              <a:rPr lang="en-US" sz="1400" dirty="0" err="1"/>
              <a:t>cuestión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</a:t>
            </a:r>
            <a:r>
              <a:rPr lang="en-US" sz="1400" dirty="0" err="1"/>
              <a:t>todas</a:t>
            </a:r>
            <a:r>
              <a:rPr lang="en-US" sz="1400" dirty="0"/>
              <a:t> las </a:t>
            </a:r>
            <a:r>
              <a:rPr lang="en-US" sz="1400" dirty="0" err="1"/>
              <a:t>tablas</a:t>
            </a:r>
            <a:r>
              <a:rPr lang="en-US" sz="1400" dirty="0"/>
              <a:t> al </a:t>
            </a:r>
            <a:r>
              <a:rPr lang="en-US" sz="1400" dirty="0" err="1"/>
              <a:t>margen</a:t>
            </a:r>
            <a:r>
              <a:rPr lang="en-US" sz="1400" dirty="0"/>
              <a:t> de la memoria.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las </a:t>
            </a:r>
            <a:r>
              <a:rPr lang="en-US" sz="1400" dirty="0" err="1"/>
              <a:t>imágenes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enumeraron</a:t>
            </a:r>
            <a:r>
              <a:rPr lang="en-US" sz="1400" dirty="0"/>
              <a:t> también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capítulos</a:t>
            </a:r>
            <a:r>
              <a:rPr lang="en-US" sz="1400" dirty="0"/>
              <a:t> de las </a:t>
            </a:r>
            <a:r>
              <a:rPr lang="en-US" sz="1400" dirty="0" err="1"/>
              <a:t>conclusiones</a:t>
            </a:r>
            <a:r>
              <a:rPr lang="en-US" sz="1400" dirty="0"/>
              <a:t> de </a:t>
            </a:r>
            <a:r>
              <a:rPr lang="en-US" sz="1400" dirty="0" err="1"/>
              <a:t>cada</a:t>
            </a:r>
            <a:r>
              <a:rPr lang="en-US" sz="1400" dirty="0"/>
              <a:t> </a:t>
            </a:r>
            <a:r>
              <a:rPr lang="en-US" sz="1400" dirty="0" err="1"/>
              <a:t>capítulo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En el manual de </a:t>
            </a:r>
            <a:r>
              <a:rPr lang="en-US" sz="1400" dirty="0" err="1"/>
              <a:t>usuario</a:t>
            </a:r>
            <a:r>
              <a:rPr lang="en-US" sz="1400" dirty="0"/>
              <a:t>,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bloques</a:t>
            </a:r>
            <a:r>
              <a:rPr lang="en-US" sz="1400" dirty="0"/>
              <a:t> de </a:t>
            </a:r>
            <a:r>
              <a:rPr lang="en-US" sz="1400" dirty="0" err="1"/>
              <a:t>código</a:t>
            </a:r>
            <a:r>
              <a:rPr lang="en-US" sz="1400" dirty="0"/>
              <a:t> </a:t>
            </a:r>
            <a:r>
              <a:rPr lang="en-US" sz="1400" dirty="0" err="1"/>
              <a:t>ya</a:t>
            </a:r>
            <a:r>
              <a:rPr lang="en-US" sz="1400" dirty="0"/>
              <a:t> no se </a:t>
            </a:r>
            <a:r>
              <a:rPr lang="en-US" sz="1400" dirty="0" err="1"/>
              <a:t>introducen</a:t>
            </a:r>
            <a:r>
              <a:rPr lang="en-US" sz="1400" dirty="0"/>
              <a:t> con dos puntos (:)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conclusiones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manual de </a:t>
            </a:r>
            <a:r>
              <a:rPr lang="en-US" sz="1400" dirty="0" err="1"/>
              <a:t>usuario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Corregidas</a:t>
            </a:r>
            <a:r>
              <a:rPr lang="en-US" sz="1400" dirty="0"/>
              <a:t> dos medias </a:t>
            </a:r>
            <a:r>
              <a:rPr lang="en-US" sz="1400" dirty="0" err="1"/>
              <a:t>desactualizadas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siluetas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4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marco</a:t>
            </a:r>
            <a:r>
              <a:rPr lang="en-US" sz="1400" dirty="0"/>
              <a:t> </a:t>
            </a:r>
            <a:r>
              <a:rPr lang="en-US" sz="1400" dirty="0" err="1"/>
              <a:t>metodológico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sección</a:t>
            </a:r>
            <a:r>
              <a:rPr lang="en-US" sz="1400" dirty="0"/>
              <a:t> 3.2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moneda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parte</a:t>
            </a:r>
            <a:r>
              <a:rPr lang="en-US" sz="1400" dirty="0"/>
              <a:t> de </a:t>
            </a:r>
            <a:r>
              <a:rPr lang="en-US" sz="1400" dirty="0" err="1"/>
              <a:t>costes</a:t>
            </a:r>
            <a:r>
              <a:rPr lang="en-US" sz="1400" dirty="0"/>
              <a:t> de </a:t>
            </a:r>
            <a:r>
              <a:rPr lang="en-US" sz="1400" dirty="0" err="1"/>
              <a:t>nube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s-ES" sz="1400" dirty="0"/>
              <a:t>* La robustez entre </a:t>
            </a:r>
            <a:r>
              <a:rPr lang="es-ES" sz="1400" dirty="0" err="1"/>
              <a:t>ward</a:t>
            </a:r>
            <a:r>
              <a:rPr lang="es-ES" sz="1400" dirty="0"/>
              <a:t> y k-</a:t>
            </a:r>
            <a:r>
              <a:rPr lang="es-ES" sz="1400" dirty="0" err="1"/>
              <a:t>means</a:t>
            </a:r>
            <a:r>
              <a:rPr lang="es-ES" sz="1400" dirty="0"/>
              <a:t> actualizadas a las aproximaciones propias.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13205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2417</Words>
  <Application>Microsoft Office PowerPoint</Application>
  <PresentationFormat>Presentación en pantalla (4:3)</PresentationFormat>
  <Paragraphs>417</Paragraphs>
  <Slides>29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3" baseType="lpstr">
      <vt:lpstr>Aptos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41</cp:revision>
  <dcterms:created xsi:type="dcterms:W3CDTF">2016-10-17T15:47:14Z</dcterms:created>
  <dcterms:modified xsi:type="dcterms:W3CDTF">2026-09-17T18:19:11Z</dcterms:modified>
</cp:coreProperties>
</file>